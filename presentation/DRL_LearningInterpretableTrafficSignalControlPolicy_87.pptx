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charts/chart3.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25"/>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30" y="5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lineChart>
        <c:grouping val="standard"/>
        <c:varyColors val="0"/>
        <c:ser>
          <c:idx val="0"/>
          <c:order val="0"/>
          <c:tx>
            <c:v>DQN</c:v>
          </c:tx>
          <c:spPr>
            <a:ln w="28575">
              <a:solidFill>
                <a:srgbClr val="4072B8"/>
              </a:solidFill>
              <a:prstDash val="solid"/>
            </a:ln>
          </c:spPr>
          <c:marker>
            <c:symbol val="none"/>
          </c:marker>
          <c:cat>
            <c:numRef>
              <c:f>'Chart Data'!$A$2:$A$26</c:f>
              <c:numCache>
                <c:formatCode>General</c:formatCode>
                <c:ptCount val="25"/>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numCache>
            </c:numRef>
          </c:cat>
          <c:val>
            <c:numRef>
              <c:f>'Chart Data'!$B$2:$B$26</c:f>
              <c:numCache>
                <c:formatCode>General</c:formatCode>
                <c:ptCount val="25"/>
                <c:pt idx="0">
                  <c:v>64.021781000000004</c:v>
                </c:pt>
                <c:pt idx="1">
                  <c:v>18.803353999999999</c:v>
                </c:pt>
                <c:pt idx="2">
                  <c:v>13.499312</c:v>
                </c:pt>
                <c:pt idx="3">
                  <c:v>11.386259000000001</c:v>
                </c:pt>
                <c:pt idx="4">
                  <c:v>11.760168999999999</c:v>
                </c:pt>
                <c:pt idx="5">
                  <c:v>11.891944000000001</c:v>
                </c:pt>
                <c:pt idx="6">
                  <c:v>10.391678000000001</c:v>
                </c:pt>
                <c:pt idx="7">
                  <c:v>11.40532</c:v>
                </c:pt>
                <c:pt idx="8">
                  <c:v>10.386334</c:v>
                </c:pt>
                <c:pt idx="9">
                  <c:v>10.756786</c:v>
                </c:pt>
                <c:pt idx="10">
                  <c:v>10.434208999999999</c:v>
                </c:pt>
                <c:pt idx="11">
                  <c:v>10.694986999999999</c:v>
                </c:pt>
                <c:pt idx="12">
                  <c:v>10.692777</c:v>
                </c:pt>
                <c:pt idx="13">
                  <c:v>9.5247910000000005</c:v>
                </c:pt>
                <c:pt idx="14">
                  <c:v>9.6547300000000007</c:v>
                </c:pt>
                <c:pt idx="15">
                  <c:v>10.094884</c:v>
                </c:pt>
                <c:pt idx="16">
                  <c:v>9.7702729999999995</c:v>
                </c:pt>
                <c:pt idx="17">
                  <c:v>9.7346900000000005</c:v>
                </c:pt>
                <c:pt idx="18">
                  <c:v>9.5592159999999993</c:v>
                </c:pt>
                <c:pt idx="19">
                  <c:v>9.181711</c:v>
                </c:pt>
                <c:pt idx="20">
                  <c:v>8.7590339999999998</c:v>
                </c:pt>
                <c:pt idx="21">
                  <c:v>8.1751349999999992</c:v>
                </c:pt>
                <c:pt idx="22">
                  <c:v>8.8314900000000005</c:v>
                </c:pt>
                <c:pt idx="23">
                  <c:v>8.738156</c:v>
                </c:pt>
                <c:pt idx="24">
                  <c:v>8.5740549999999995</c:v>
                </c:pt>
              </c:numCache>
            </c:numRef>
          </c:val>
          <c:smooth val="0"/>
          <c:extLst>
            <c:ext xmlns:c16="http://schemas.microsoft.com/office/drawing/2014/chart" uri="{C3380CC4-5D6E-409C-BE32-E72D297353CC}">
              <c16:uniqueId val="{00000000-883C-44FD-8F7F-738280195884}"/>
            </c:ext>
          </c:extLst>
        </c:ser>
        <c:ser>
          <c:idx val="1"/>
          <c:order val="1"/>
          <c:tx>
            <c:v>DRSQ</c:v>
          </c:tx>
          <c:spPr>
            <a:ln w="28575">
              <a:solidFill>
                <a:srgbClr val="B67925"/>
              </a:solidFill>
              <a:prstDash val="solid"/>
            </a:ln>
          </c:spPr>
          <c:marker>
            <c:symbol val="none"/>
          </c:marker>
          <c:cat>
            <c:numRef>
              <c:f>'Chart Data'!$C$2:$C$26</c:f>
              <c:numCache>
                <c:formatCode>General</c:formatCode>
                <c:ptCount val="25"/>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numCache>
            </c:numRef>
          </c:cat>
          <c:val>
            <c:numRef>
              <c:f>'Chart Data'!$D$2:$D$26</c:f>
              <c:numCache>
                <c:formatCode>General</c:formatCode>
                <c:ptCount val="25"/>
                <c:pt idx="0">
                  <c:v>13.673988</c:v>
                </c:pt>
                <c:pt idx="1">
                  <c:v>40.229711999999999</c:v>
                </c:pt>
                <c:pt idx="2">
                  <c:v>11.274222</c:v>
                </c:pt>
                <c:pt idx="3">
                  <c:v>11.339003</c:v>
                </c:pt>
                <c:pt idx="4">
                  <c:v>10.867070999999999</c:v>
                </c:pt>
                <c:pt idx="5">
                  <c:v>10.760235</c:v>
                </c:pt>
                <c:pt idx="6">
                  <c:v>10.811757</c:v>
                </c:pt>
                <c:pt idx="7">
                  <c:v>11.198454</c:v>
                </c:pt>
                <c:pt idx="8">
                  <c:v>9.8108730000000008</c:v>
                </c:pt>
                <c:pt idx="9">
                  <c:v>9.9429809999999996</c:v>
                </c:pt>
                <c:pt idx="10">
                  <c:v>10.517956</c:v>
                </c:pt>
                <c:pt idx="11">
                  <c:v>10.792674</c:v>
                </c:pt>
                <c:pt idx="12">
                  <c:v>9.6272800000000007</c:v>
                </c:pt>
                <c:pt idx="13">
                  <c:v>9.3254509999999993</c:v>
                </c:pt>
                <c:pt idx="14">
                  <c:v>9.5507430000000006</c:v>
                </c:pt>
                <c:pt idx="15">
                  <c:v>9.968318</c:v>
                </c:pt>
                <c:pt idx="16">
                  <c:v>9.9029070000000008</c:v>
                </c:pt>
                <c:pt idx="17">
                  <c:v>8.9246820000000007</c:v>
                </c:pt>
                <c:pt idx="18">
                  <c:v>9.6811120000000006</c:v>
                </c:pt>
                <c:pt idx="19">
                  <c:v>9.6015359999999994</c:v>
                </c:pt>
                <c:pt idx="20">
                  <c:v>8.792173</c:v>
                </c:pt>
                <c:pt idx="21">
                  <c:v>9.1923739999999992</c:v>
                </c:pt>
                <c:pt idx="22">
                  <c:v>8.8305220000000002</c:v>
                </c:pt>
                <c:pt idx="23">
                  <c:v>8.6964939999999995</c:v>
                </c:pt>
                <c:pt idx="24">
                  <c:v>8.6636330000000008</c:v>
                </c:pt>
              </c:numCache>
            </c:numRef>
          </c:val>
          <c:smooth val="0"/>
          <c:extLst>
            <c:ext xmlns:c16="http://schemas.microsoft.com/office/drawing/2014/chart" uri="{C3380CC4-5D6E-409C-BE32-E72D297353CC}">
              <c16:uniqueId val="{00000001-883C-44FD-8F7F-738280195884}"/>
            </c:ext>
          </c:extLst>
        </c:ser>
        <c:ser>
          <c:idx val="2"/>
          <c:order val="2"/>
          <c:tx>
            <c:v>DRHQ</c:v>
          </c:tx>
          <c:spPr>
            <a:ln w="28575">
              <a:solidFill>
                <a:srgbClr val="107C41"/>
              </a:solidFill>
              <a:prstDash val="solid"/>
            </a:ln>
          </c:spPr>
          <c:marker>
            <c:symbol val="none"/>
          </c:marker>
          <c:cat>
            <c:numRef>
              <c:f>'Chart Data'!$E$2:$E$26</c:f>
              <c:numCache>
                <c:formatCode>General</c:formatCode>
                <c:ptCount val="25"/>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numCache>
            </c:numRef>
          </c:cat>
          <c:val>
            <c:numRef>
              <c:f>'Chart Data'!$F$2:$F$26</c:f>
              <c:numCache>
                <c:formatCode>General</c:formatCode>
                <c:ptCount val="25"/>
                <c:pt idx="0">
                  <c:v>14.069789</c:v>
                </c:pt>
                <c:pt idx="1">
                  <c:v>45.495840000000001</c:v>
                </c:pt>
                <c:pt idx="2">
                  <c:v>12.977869</c:v>
                </c:pt>
                <c:pt idx="3">
                  <c:v>11.421716</c:v>
                </c:pt>
                <c:pt idx="4">
                  <c:v>11.383577000000001</c:v>
                </c:pt>
                <c:pt idx="5">
                  <c:v>11.25159</c:v>
                </c:pt>
                <c:pt idx="6">
                  <c:v>10.674224000000001</c:v>
                </c:pt>
                <c:pt idx="7">
                  <c:v>11.651396999999999</c:v>
                </c:pt>
                <c:pt idx="8">
                  <c:v>9.7002240000000004</c:v>
                </c:pt>
                <c:pt idx="9">
                  <c:v>10.267661</c:v>
                </c:pt>
                <c:pt idx="10">
                  <c:v>10.60277</c:v>
                </c:pt>
                <c:pt idx="11">
                  <c:v>10.788010999999999</c:v>
                </c:pt>
                <c:pt idx="12">
                  <c:v>10.160256</c:v>
                </c:pt>
                <c:pt idx="13">
                  <c:v>9.3526299999999996</c:v>
                </c:pt>
                <c:pt idx="14">
                  <c:v>9.6790070000000004</c:v>
                </c:pt>
                <c:pt idx="15">
                  <c:v>10.338221000000001</c:v>
                </c:pt>
                <c:pt idx="16">
                  <c:v>10.047656999999999</c:v>
                </c:pt>
                <c:pt idx="17">
                  <c:v>9.2695299999999996</c:v>
                </c:pt>
                <c:pt idx="18">
                  <c:v>9.8355820000000005</c:v>
                </c:pt>
                <c:pt idx="19">
                  <c:v>9.4433000000000007</c:v>
                </c:pt>
                <c:pt idx="20">
                  <c:v>8.7567620000000002</c:v>
                </c:pt>
                <c:pt idx="21">
                  <c:v>9.1106200000000008</c:v>
                </c:pt>
                <c:pt idx="22">
                  <c:v>8.8601460000000003</c:v>
                </c:pt>
                <c:pt idx="23">
                  <c:v>8.8352050000000002</c:v>
                </c:pt>
                <c:pt idx="24">
                  <c:v>8.3803590000000003</c:v>
                </c:pt>
              </c:numCache>
            </c:numRef>
          </c:val>
          <c:smooth val="0"/>
          <c:extLst>
            <c:ext xmlns:c16="http://schemas.microsoft.com/office/drawing/2014/chart" uri="{C3380CC4-5D6E-409C-BE32-E72D297353CC}">
              <c16:uniqueId val="{00000002-883C-44FD-8F7F-738280195884}"/>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C3D8CC"/>
            </a:solidFill>
          </a:ln>
        </c:spPr>
        <c:txPr>
          <a:bodyPr anchorCtr="1"/>
          <a:lstStyle/>
          <a:p>
            <a:pPr>
              <a:defRPr sz="1350">
                <a:solidFill>
                  <a:srgbClr val="7F8C8D"/>
                </a:solidFill>
                <a:latin typeface="Calibri"/>
                <a:ea typeface="Calibri"/>
                <a:cs typeface="Calibri"/>
              </a:defRPr>
            </a:pPr>
            <a:endParaRPr lang="en-US"/>
          </a:p>
        </c:txPr>
        <c:crossAx val="48672768"/>
        <c:crosses val="autoZero"/>
        <c:auto val="1"/>
        <c:lblAlgn val="ctr"/>
        <c:lblOffset val="100"/>
        <c:noMultiLvlLbl val="1"/>
      </c:catAx>
      <c:valAx>
        <c:axId val="48672768"/>
        <c:scaling>
          <c:orientation val="minMax"/>
          <c:min val="0"/>
        </c:scaling>
        <c:delete val="0"/>
        <c:axPos val="l"/>
        <c:majorGridlines>
          <c:spPr>
            <a:ln w="9525">
              <a:solidFill>
                <a:srgbClr val="C3D8CC"/>
              </a:solidFill>
            </a:ln>
          </c:spPr>
        </c:majorGridlines>
        <c:title>
          <c:tx>
            <c:rich>
              <a:bodyPr/>
              <a:lstStyle/>
              <a:p>
                <a:r>
                  <a:rPr lang="en-US">
                    <a:latin typeface="Calibri"/>
                    <a:ea typeface="Calibri"/>
                    <a:cs typeface="Calibri"/>
                  </a:rPr>
                  <a:t>Queue delay / arrival (s)</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350">
                <a:solidFill>
                  <a:srgbClr val="7F8C8D"/>
                </a:solidFill>
                <a:latin typeface="Calibri"/>
                <a:ea typeface="Calibri"/>
                <a:cs typeface="Calibri"/>
              </a:defRPr>
            </a:pPr>
            <a:endParaRPr lang="en-US"/>
          </a:p>
        </c:txPr>
        <c:crossAx val="48650112"/>
        <c:crosses val="autoZero"/>
        <c:crossBetween val="between"/>
      </c:valAx>
      <c:spPr>
        <a:solidFill>
          <a:srgbClr val="F4F6F6"/>
        </a:solidFill>
      </c:spPr>
    </c:plotArea>
    <c:legend>
      <c:legendPos val="b"/>
      <c:overlay val="0"/>
      <c:txPr>
        <a:bodyPr anchorCtr="1"/>
        <a:lstStyle/>
        <a:p>
          <a:pPr>
            <a:defRPr sz="1350">
              <a:solidFill>
                <a:srgbClr val="192A30"/>
              </a:solidFill>
              <a:latin typeface="Calibri"/>
              <a:ea typeface="Calibri"/>
              <a:cs typeface="Calibri"/>
            </a:defRPr>
          </a:pPr>
          <a:endParaRPr lang="en-US"/>
        </a:p>
      </c:txPr>
    </c:legend>
    <c:plotVisOnly val="1"/>
    <c:dispBlanksAs val="zero"/>
    <c:showDLblsOverMax val="1"/>
  </c:chart>
  <c:spPr>
    <a:solidFill>
      <a:srgbClr val="F4F6F6"/>
    </a:solidFill>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Delay (s)</c:v>
          </c:tx>
          <c:spPr>
            <a:solidFill>
              <a:srgbClr val="107C41"/>
            </a:solidFill>
          </c:spPr>
          <c:invertIfNegative val="1"/>
          <c:dLbls>
            <c:numFmt formatCode="0.00" sourceLinked="0"/>
            <c:spPr>
              <a:noFill/>
              <a:ln>
                <a:noFill/>
              </a:ln>
              <a:effectLst/>
            </c:spPr>
            <c:txPr>
              <a:bodyPr anchorCtr="1"/>
              <a:lstStyle/>
              <a:p>
                <a:pPr>
                  <a:defRPr sz="1350">
                    <a:solidFill>
                      <a:srgbClr val="192A30"/>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Data'!$A$2:$A$7</c:f>
              <c:strCache>
                <c:ptCount val="6"/>
                <c:pt idx="0">
                  <c:v>Fixed</c:v>
                </c:pt>
                <c:pt idx="1">
                  <c:v>Actuated</c:v>
                </c:pt>
                <c:pt idx="2">
                  <c:v>QueueGreedy</c:v>
                </c:pt>
                <c:pt idx="3">
                  <c:v>DQN</c:v>
                </c:pt>
                <c:pt idx="4">
                  <c:v>DRSQ</c:v>
                </c:pt>
                <c:pt idx="5">
                  <c:v>DRHQ</c:v>
                </c:pt>
              </c:strCache>
            </c:strRef>
          </c:cat>
          <c:val>
            <c:numRef>
              <c:f>'Chart Data'!$B$2:$B$7</c:f>
              <c:numCache>
                <c:formatCode>General</c:formatCode>
                <c:ptCount val="6"/>
                <c:pt idx="0">
                  <c:v>13.919556999999999</c:v>
                </c:pt>
                <c:pt idx="1">
                  <c:v>11.688477000000001</c:v>
                </c:pt>
                <c:pt idx="2">
                  <c:v>10.629008000000001</c:v>
                </c:pt>
                <c:pt idx="3">
                  <c:v>10.149429</c:v>
                </c:pt>
                <c:pt idx="4">
                  <c:v>9.8782359999999994</c:v>
                </c:pt>
                <c:pt idx="5">
                  <c:v>9.8282520000000009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217E-48CB-856C-159A67DFDBA6}"/>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3D8CC"/>
            </a:solidFill>
          </a:ln>
        </c:spPr>
        <c:txPr>
          <a:bodyPr anchorCtr="1"/>
          <a:lstStyle/>
          <a:p>
            <a:pPr>
              <a:defRPr sz="1350">
                <a:solidFill>
                  <a:srgbClr val="7F8C8D"/>
                </a:solidFill>
                <a:latin typeface="Calibri"/>
                <a:ea typeface="Calibri"/>
                <a:cs typeface="Calibri"/>
              </a:defRPr>
            </a:pPr>
            <a:endParaRPr lang="en-US"/>
          </a:p>
        </c:txPr>
        <c:crossAx val="48672768"/>
        <c:crosses val="autoZero"/>
        <c:auto val="1"/>
        <c:lblAlgn val="ctr"/>
        <c:lblOffset val="100"/>
        <c:noMultiLvlLbl val="1"/>
      </c:catAx>
      <c:valAx>
        <c:axId val="48672768"/>
        <c:scaling>
          <c:orientation val="minMax"/>
          <c:min val="0"/>
        </c:scaling>
        <c:delete val="0"/>
        <c:axPos val="l"/>
        <c:majorGridlines>
          <c:spPr>
            <a:ln w="9525">
              <a:solidFill>
                <a:srgbClr val="C3D8CC"/>
              </a:solidFill>
            </a:ln>
          </c:spPr>
        </c:majorGridlines>
        <c:title>
          <c:tx>
            <c:rich>
              <a:bodyPr/>
              <a:lstStyle/>
              <a:p>
                <a:r>
                  <a:rPr lang="en-US">
                    <a:latin typeface="Calibri"/>
                    <a:ea typeface="Calibri"/>
                    <a:cs typeface="Calibri"/>
                  </a:rPr>
                  <a:t>Queue delay / arrival (s)</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350">
                <a:solidFill>
                  <a:srgbClr val="7F8C8D"/>
                </a:solidFill>
                <a:latin typeface="Calibri"/>
                <a:ea typeface="Calibri"/>
                <a:cs typeface="Calibri"/>
              </a:defRPr>
            </a:pPr>
            <a:endParaRPr lang="en-US"/>
          </a:p>
        </c:txPr>
        <c:crossAx val="48650112"/>
        <c:crosses val="autoZero"/>
        <c:crossBetween val="between"/>
      </c:valAx>
      <c:spPr>
        <a:solidFill>
          <a:srgbClr val="F4F6F6"/>
        </a:solidFill>
      </c:spPr>
    </c:plotArea>
    <c:plotVisOnly val="1"/>
    <c:dispBlanksAs val="zero"/>
    <c:showDLblsOverMax val="1"/>
  </c:chart>
  <c:spPr>
    <a:solidFill>
      <a:srgbClr val="F4F6F6"/>
    </a:solidFill>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lineChart>
        <c:grouping val="standard"/>
        <c:varyColors val="0"/>
        <c:ser>
          <c:idx val="0"/>
          <c:order val="0"/>
          <c:tx>
            <c:v>Actuated</c:v>
          </c:tx>
          <c:spPr>
            <a:ln w="23813">
              <a:solidFill>
                <a:srgbClr val="B67925"/>
              </a:solidFill>
              <a:prstDash val="solid"/>
            </a:ln>
          </c:spPr>
          <c:marker>
            <c:symbol val="none"/>
          </c:marker>
          <c:cat>
            <c:numRef>
              <c:f>'Chart Data'!$A$2:$A$61</c:f>
              <c:numCache>
                <c:formatCode>General</c:formatCode>
                <c:ptCount val="60"/>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pt idx="51">
                  <c:v>1020</c:v>
                </c:pt>
                <c:pt idx="52">
                  <c:v>1040</c:v>
                </c:pt>
                <c:pt idx="53">
                  <c:v>1060</c:v>
                </c:pt>
                <c:pt idx="54">
                  <c:v>1080</c:v>
                </c:pt>
                <c:pt idx="55">
                  <c:v>1100</c:v>
                </c:pt>
                <c:pt idx="56">
                  <c:v>1120</c:v>
                </c:pt>
                <c:pt idx="57">
                  <c:v>1140</c:v>
                </c:pt>
                <c:pt idx="58">
                  <c:v>1160</c:v>
                </c:pt>
                <c:pt idx="59">
                  <c:v>1180</c:v>
                </c:pt>
              </c:numCache>
            </c:numRef>
          </c:cat>
          <c:val>
            <c:numRef>
              <c:f>'Chart Data'!$B$2:$B$61</c:f>
              <c:numCache>
                <c:formatCode>General</c:formatCode>
                <c:ptCount val="60"/>
                <c:pt idx="0">
                  <c:v>1</c:v>
                </c:pt>
                <c:pt idx="1">
                  <c:v>12</c:v>
                </c:pt>
                <c:pt idx="2">
                  <c:v>7</c:v>
                </c:pt>
                <c:pt idx="3">
                  <c:v>15</c:v>
                </c:pt>
                <c:pt idx="4">
                  <c:v>10</c:v>
                </c:pt>
                <c:pt idx="5">
                  <c:v>12</c:v>
                </c:pt>
                <c:pt idx="6">
                  <c:v>6</c:v>
                </c:pt>
                <c:pt idx="7">
                  <c:v>11</c:v>
                </c:pt>
                <c:pt idx="8">
                  <c:v>12</c:v>
                </c:pt>
                <c:pt idx="9">
                  <c:v>25</c:v>
                </c:pt>
                <c:pt idx="10">
                  <c:v>11</c:v>
                </c:pt>
                <c:pt idx="11">
                  <c:v>13</c:v>
                </c:pt>
                <c:pt idx="12">
                  <c:v>16</c:v>
                </c:pt>
                <c:pt idx="13">
                  <c:v>12</c:v>
                </c:pt>
                <c:pt idx="14">
                  <c:v>13</c:v>
                </c:pt>
                <c:pt idx="15">
                  <c:v>36</c:v>
                </c:pt>
                <c:pt idx="16">
                  <c:v>28</c:v>
                </c:pt>
                <c:pt idx="17">
                  <c:v>23</c:v>
                </c:pt>
                <c:pt idx="18">
                  <c:v>26</c:v>
                </c:pt>
                <c:pt idx="19">
                  <c:v>27</c:v>
                </c:pt>
                <c:pt idx="20">
                  <c:v>23</c:v>
                </c:pt>
                <c:pt idx="21">
                  <c:v>17</c:v>
                </c:pt>
                <c:pt idx="22">
                  <c:v>18</c:v>
                </c:pt>
                <c:pt idx="23">
                  <c:v>10</c:v>
                </c:pt>
                <c:pt idx="24">
                  <c:v>5</c:v>
                </c:pt>
                <c:pt idx="25">
                  <c:v>22</c:v>
                </c:pt>
                <c:pt idx="26">
                  <c:v>14</c:v>
                </c:pt>
                <c:pt idx="27">
                  <c:v>12</c:v>
                </c:pt>
                <c:pt idx="28">
                  <c:v>28</c:v>
                </c:pt>
                <c:pt idx="29">
                  <c:v>29</c:v>
                </c:pt>
                <c:pt idx="30">
                  <c:v>20</c:v>
                </c:pt>
                <c:pt idx="31">
                  <c:v>27</c:v>
                </c:pt>
                <c:pt idx="32">
                  <c:v>23</c:v>
                </c:pt>
                <c:pt idx="33">
                  <c:v>12</c:v>
                </c:pt>
                <c:pt idx="34">
                  <c:v>13</c:v>
                </c:pt>
                <c:pt idx="35">
                  <c:v>19</c:v>
                </c:pt>
                <c:pt idx="36">
                  <c:v>17</c:v>
                </c:pt>
                <c:pt idx="37">
                  <c:v>19</c:v>
                </c:pt>
                <c:pt idx="38">
                  <c:v>21</c:v>
                </c:pt>
                <c:pt idx="39">
                  <c:v>14</c:v>
                </c:pt>
                <c:pt idx="40">
                  <c:v>22</c:v>
                </c:pt>
                <c:pt idx="41">
                  <c:v>16</c:v>
                </c:pt>
                <c:pt idx="42">
                  <c:v>18</c:v>
                </c:pt>
                <c:pt idx="43">
                  <c:v>9</c:v>
                </c:pt>
                <c:pt idx="44">
                  <c:v>14</c:v>
                </c:pt>
                <c:pt idx="45">
                  <c:v>12</c:v>
                </c:pt>
                <c:pt idx="46">
                  <c:v>13</c:v>
                </c:pt>
                <c:pt idx="47">
                  <c:v>15</c:v>
                </c:pt>
                <c:pt idx="48">
                  <c:v>11</c:v>
                </c:pt>
                <c:pt idx="49">
                  <c:v>13</c:v>
                </c:pt>
                <c:pt idx="50">
                  <c:v>11</c:v>
                </c:pt>
                <c:pt idx="51">
                  <c:v>8</c:v>
                </c:pt>
                <c:pt idx="52">
                  <c:v>15</c:v>
                </c:pt>
                <c:pt idx="53">
                  <c:v>17</c:v>
                </c:pt>
                <c:pt idx="54">
                  <c:v>25</c:v>
                </c:pt>
                <c:pt idx="55">
                  <c:v>19</c:v>
                </c:pt>
                <c:pt idx="56">
                  <c:v>12</c:v>
                </c:pt>
                <c:pt idx="57">
                  <c:v>8</c:v>
                </c:pt>
                <c:pt idx="58">
                  <c:v>10</c:v>
                </c:pt>
                <c:pt idx="59">
                  <c:v>9</c:v>
                </c:pt>
              </c:numCache>
            </c:numRef>
          </c:val>
          <c:smooth val="0"/>
          <c:extLst>
            <c:ext xmlns:c16="http://schemas.microsoft.com/office/drawing/2014/chart" uri="{C3380CC4-5D6E-409C-BE32-E72D297353CC}">
              <c16:uniqueId val="{00000000-94B8-4F49-8227-A55D614F7EEB}"/>
            </c:ext>
          </c:extLst>
        </c:ser>
        <c:ser>
          <c:idx val="1"/>
          <c:order val="1"/>
          <c:tx>
            <c:v>DRHQ</c:v>
          </c:tx>
          <c:spPr>
            <a:ln w="23813">
              <a:solidFill>
                <a:srgbClr val="107C41"/>
              </a:solidFill>
              <a:prstDash val="solid"/>
            </a:ln>
          </c:spPr>
          <c:marker>
            <c:symbol val="none"/>
          </c:marker>
          <c:cat>
            <c:numRef>
              <c:f>'Chart Data'!$C$2:$C$61</c:f>
              <c:numCache>
                <c:formatCode>General</c:formatCode>
                <c:ptCount val="60"/>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pt idx="51">
                  <c:v>1020</c:v>
                </c:pt>
                <c:pt idx="52">
                  <c:v>1040</c:v>
                </c:pt>
                <c:pt idx="53">
                  <c:v>1060</c:v>
                </c:pt>
                <c:pt idx="54">
                  <c:v>1080</c:v>
                </c:pt>
                <c:pt idx="55">
                  <c:v>1100</c:v>
                </c:pt>
                <c:pt idx="56">
                  <c:v>1120</c:v>
                </c:pt>
                <c:pt idx="57">
                  <c:v>1140</c:v>
                </c:pt>
                <c:pt idx="58">
                  <c:v>1160</c:v>
                </c:pt>
                <c:pt idx="59">
                  <c:v>1180</c:v>
                </c:pt>
              </c:numCache>
            </c:numRef>
          </c:cat>
          <c:val>
            <c:numRef>
              <c:f>'Chart Data'!$D$2:$D$61</c:f>
              <c:numCache>
                <c:formatCode>General</c:formatCode>
                <c:ptCount val="60"/>
                <c:pt idx="0">
                  <c:v>1</c:v>
                </c:pt>
                <c:pt idx="1">
                  <c:v>7</c:v>
                </c:pt>
                <c:pt idx="2">
                  <c:v>6</c:v>
                </c:pt>
                <c:pt idx="3">
                  <c:v>15</c:v>
                </c:pt>
                <c:pt idx="4">
                  <c:v>10</c:v>
                </c:pt>
                <c:pt idx="5">
                  <c:v>12</c:v>
                </c:pt>
                <c:pt idx="6">
                  <c:v>8</c:v>
                </c:pt>
                <c:pt idx="7">
                  <c:v>11</c:v>
                </c:pt>
                <c:pt idx="8">
                  <c:v>13</c:v>
                </c:pt>
                <c:pt idx="9">
                  <c:v>10</c:v>
                </c:pt>
                <c:pt idx="10">
                  <c:v>17</c:v>
                </c:pt>
                <c:pt idx="11">
                  <c:v>15</c:v>
                </c:pt>
                <c:pt idx="12">
                  <c:v>9</c:v>
                </c:pt>
                <c:pt idx="13">
                  <c:v>14</c:v>
                </c:pt>
                <c:pt idx="14">
                  <c:v>9</c:v>
                </c:pt>
                <c:pt idx="15">
                  <c:v>13</c:v>
                </c:pt>
                <c:pt idx="16">
                  <c:v>16</c:v>
                </c:pt>
                <c:pt idx="17">
                  <c:v>13</c:v>
                </c:pt>
                <c:pt idx="18">
                  <c:v>6</c:v>
                </c:pt>
                <c:pt idx="19">
                  <c:v>11</c:v>
                </c:pt>
                <c:pt idx="20">
                  <c:v>13</c:v>
                </c:pt>
                <c:pt idx="21">
                  <c:v>12</c:v>
                </c:pt>
                <c:pt idx="22">
                  <c:v>13</c:v>
                </c:pt>
                <c:pt idx="23">
                  <c:v>6</c:v>
                </c:pt>
                <c:pt idx="24">
                  <c:v>5</c:v>
                </c:pt>
                <c:pt idx="25">
                  <c:v>8</c:v>
                </c:pt>
                <c:pt idx="26">
                  <c:v>10</c:v>
                </c:pt>
                <c:pt idx="27">
                  <c:v>6</c:v>
                </c:pt>
                <c:pt idx="28">
                  <c:v>17</c:v>
                </c:pt>
                <c:pt idx="29">
                  <c:v>20</c:v>
                </c:pt>
                <c:pt idx="30">
                  <c:v>22</c:v>
                </c:pt>
                <c:pt idx="31">
                  <c:v>21</c:v>
                </c:pt>
                <c:pt idx="32">
                  <c:v>17</c:v>
                </c:pt>
                <c:pt idx="33">
                  <c:v>12</c:v>
                </c:pt>
                <c:pt idx="34">
                  <c:v>9</c:v>
                </c:pt>
                <c:pt idx="35">
                  <c:v>6</c:v>
                </c:pt>
                <c:pt idx="36">
                  <c:v>15</c:v>
                </c:pt>
                <c:pt idx="37">
                  <c:v>17</c:v>
                </c:pt>
                <c:pt idx="38">
                  <c:v>14</c:v>
                </c:pt>
                <c:pt idx="39">
                  <c:v>15</c:v>
                </c:pt>
                <c:pt idx="40">
                  <c:v>20</c:v>
                </c:pt>
                <c:pt idx="41">
                  <c:v>12</c:v>
                </c:pt>
                <c:pt idx="42">
                  <c:v>6</c:v>
                </c:pt>
                <c:pt idx="43">
                  <c:v>7</c:v>
                </c:pt>
                <c:pt idx="44">
                  <c:v>7</c:v>
                </c:pt>
                <c:pt idx="45">
                  <c:v>17</c:v>
                </c:pt>
                <c:pt idx="46">
                  <c:v>10</c:v>
                </c:pt>
                <c:pt idx="47">
                  <c:v>15</c:v>
                </c:pt>
                <c:pt idx="48">
                  <c:v>16</c:v>
                </c:pt>
                <c:pt idx="49">
                  <c:v>12</c:v>
                </c:pt>
                <c:pt idx="50">
                  <c:v>7</c:v>
                </c:pt>
                <c:pt idx="51">
                  <c:v>12</c:v>
                </c:pt>
                <c:pt idx="52">
                  <c:v>14</c:v>
                </c:pt>
                <c:pt idx="53">
                  <c:v>11</c:v>
                </c:pt>
                <c:pt idx="54">
                  <c:v>13</c:v>
                </c:pt>
                <c:pt idx="55">
                  <c:v>15</c:v>
                </c:pt>
                <c:pt idx="56">
                  <c:v>10</c:v>
                </c:pt>
                <c:pt idx="57">
                  <c:v>3</c:v>
                </c:pt>
                <c:pt idx="58">
                  <c:v>2</c:v>
                </c:pt>
                <c:pt idx="59">
                  <c:v>8</c:v>
                </c:pt>
              </c:numCache>
            </c:numRef>
          </c:val>
          <c:smooth val="0"/>
          <c:extLst>
            <c:ext xmlns:c16="http://schemas.microsoft.com/office/drawing/2014/chart" uri="{C3380CC4-5D6E-409C-BE32-E72D297353CC}">
              <c16:uniqueId val="{00000001-94B8-4F49-8227-A55D614F7EEB}"/>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C3D8CC"/>
            </a:solidFill>
          </a:ln>
        </c:spPr>
        <c:txPr>
          <a:bodyPr anchorCtr="1"/>
          <a:lstStyle/>
          <a:p>
            <a:pPr>
              <a:defRPr sz="1350">
                <a:solidFill>
                  <a:srgbClr val="7F8C8D"/>
                </a:solidFill>
                <a:latin typeface="Calibri"/>
                <a:ea typeface="Calibri"/>
                <a:cs typeface="Calibri"/>
              </a:defRPr>
            </a:pPr>
            <a:endParaRPr lang="en-US"/>
          </a:p>
        </c:txPr>
        <c:crossAx val="48672768"/>
        <c:crosses val="autoZero"/>
        <c:auto val="1"/>
        <c:lblAlgn val="ctr"/>
        <c:lblOffset val="100"/>
        <c:noMultiLvlLbl val="1"/>
      </c:catAx>
      <c:valAx>
        <c:axId val="48672768"/>
        <c:scaling>
          <c:orientation val="minMax"/>
          <c:min val="0"/>
        </c:scaling>
        <c:delete val="0"/>
        <c:axPos val="l"/>
        <c:majorGridlines>
          <c:spPr>
            <a:ln w="9525">
              <a:solidFill>
                <a:srgbClr val="C3D8CC"/>
              </a:solidFill>
            </a:ln>
          </c:spPr>
        </c:majorGridlines>
        <c:title>
          <c:tx>
            <c:rich>
              <a:bodyPr/>
              <a:lstStyle/>
              <a:p>
                <a:r>
                  <a:rPr lang="en-US">
                    <a:latin typeface="Calibri"/>
                    <a:ea typeface="Calibri"/>
                    <a:cs typeface="Calibri"/>
                  </a:rPr>
                  <a:t>Total queued vehicles</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350">
                <a:solidFill>
                  <a:srgbClr val="7F8C8D"/>
                </a:solidFill>
                <a:latin typeface="Calibri"/>
                <a:ea typeface="Calibri"/>
                <a:cs typeface="Calibri"/>
              </a:defRPr>
            </a:pPr>
            <a:endParaRPr lang="en-US"/>
          </a:p>
        </c:txPr>
        <c:crossAx val="48650112"/>
        <c:crosses val="autoZero"/>
        <c:crossBetween val="between"/>
      </c:valAx>
      <c:spPr>
        <a:solidFill>
          <a:srgbClr val="F4F6F6"/>
        </a:solidFill>
      </c:spPr>
    </c:plotArea>
    <c:legend>
      <c:legendPos val="b"/>
      <c:overlay val="0"/>
      <c:txPr>
        <a:bodyPr anchorCtr="1"/>
        <a:lstStyle/>
        <a:p>
          <a:pPr>
            <a:defRPr sz="1350">
              <a:solidFill>
                <a:srgbClr val="192A30"/>
              </a:solidFill>
              <a:latin typeface="Calibri"/>
              <a:ea typeface="Calibri"/>
              <a:cs typeface="Calibri"/>
            </a:defRPr>
          </a:pPr>
          <a:endParaRPr lang="en-US"/>
        </a:p>
      </c:txPr>
    </c:legend>
    <c:plotVisOnly val="1"/>
    <c:dispBlanksAs val="zero"/>
    <c:showDLblsOverMax val="1"/>
  </c:chart>
  <c:spPr>
    <a:solidFill>
      <a:srgbClr val="F4F6F6"/>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16"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17"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18"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19"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20"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3E3E010E-223A-44BF-AA4E-6BB9B3CD5EF2}"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 name="PlaceHolder 1"/>
          <p:cNvSpPr>
            <a:spLocks noGrp="1" noRot="1" noChangeAspect="1"/>
          </p:cNvSpPr>
          <p:nvPr>
            <p:ph type="sldImg"/>
          </p:nvPr>
        </p:nvSpPr>
        <p:spPr>
          <a:xfrm>
            <a:off x="0" y="0"/>
            <a:ext cx="0" cy="0"/>
          </a:xfrm>
          <a:prstGeom prst="rect">
            <a:avLst/>
          </a:prstGeom>
          <a:ln w="0">
            <a:noFill/>
          </a:ln>
        </p:spPr>
      </p:sp>
      <p:sp>
        <p:nvSpPr>
          <p:cNvPr id="37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Budhdi. Target 10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We are Group 87. This presentation reviews the paper and then shows an executed, inspectable implementation of its learning approach.</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Ault, Hanna and Sharon, AAMAS 2020. https://arxiv.org/abs/1912.11023. Original supplied paper-review slides.</a:t>
            </a:r>
            <a:endParaRPr lang="en-US" sz="2000" b="0" u="none" strike="noStrike">
              <a:solidFill>
                <a:srgbClr val="000000"/>
              </a:solidFill>
              <a:effectLst/>
              <a:uFillTx/>
              <a:latin typeface="Arial"/>
            </a:endParaRPr>
          </a:p>
        </p:txBody>
      </p:sp>
      <p:sp>
        <p:nvSpPr>
          <p:cNvPr id="375"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PlaceHolder 1"/>
          <p:cNvSpPr>
            <a:spLocks noGrp="1" noRot="1" noChangeAspect="1"/>
          </p:cNvSpPr>
          <p:nvPr>
            <p:ph type="sldImg"/>
          </p:nvPr>
        </p:nvSpPr>
        <p:spPr>
          <a:xfrm>
            <a:off x="0" y="0"/>
            <a:ext cx="0" cy="0"/>
          </a:xfrm>
          <a:prstGeom prst="rect">
            <a:avLst/>
          </a:prstGeom>
          <a:ln w="0">
            <a:noFill/>
          </a:ln>
        </p:spPr>
      </p:sp>
      <p:sp>
        <p:nvSpPr>
          <p:cNvPr id="37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Budhdi. Target 17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The aim is to reduce traffic delay while keeping signal changes understandable. Traffic engineers need to see why an action wins and how to adjust it. A black-box neural actuator makes that difficult.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Ault, Hanna and Sharon, AAMAS 2020. https://arxiv.org/abs/1912.11023. Original supplied paper-review slides.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Paper Section 1: motivation and contributions https://arxiv.org/abs/1912.11023</a:t>
            </a:r>
            <a:endParaRPr lang="en-US" sz="2000" b="0" u="none" strike="noStrike">
              <a:solidFill>
                <a:srgbClr val="000000"/>
              </a:solidFill>
              <a:effectLst/>
              <a:uFillTx/>
              <a:latin typeface="Arial"/>
            </a:endParaRPr>
          </a:p>
        </p:txBody>
      </p:sp>
      <p:sp>
        <p:nvSpPr>
          <p:cNvPr id="378"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 name="PlaceHolder 1"/>
          <p:cNvSpPr>
            <a:spLocks noGrp="1" noRot="1" noChangeAspect="1"/>
          </p:cNvSpPr>
          <p:nvPr>
            <p:ph type="sldImg"/>
          </p:nvPr>
        </p:nvSpPr>
        <p:spPr>
          <a:xfrm>
            <a:off x="0" y="0"/>
            <a:ext cx="0" cy="0"/>
          </a:xfrm>
          <a:prstGeom prst="rect">
            <a:avLst/>
          </a:prstGeom>
          <a:ln w="0">
            <a:noFill/>
          </a:ln>
        </p:spPr>
      </p:sp>
      <p:sp>
        <p:nvSpPr>
          <p:cNvPr id="38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Budhdi. Target 17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The state describes traffic and current signals. An action selects a valid phase combination. The environment advances traffic and enforces clearance. Reward reflects delay. Learning seeks higher discounted return within those movement constraints.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Ault, Hanna and Sharon, AAMAS 2020. https://arxiv.org/abs/1912.11023. Original supplied paper-review slides.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Paper Section 3: state, valid actions, transition constraints and reward https://arxiv.org/abs/1912.11023</a:t>
            </a:r>
            <a:endParaRPr lang="en-US" sz="2000" b="0" u="none" strike="noStrike">
              <a:solidFill>
                <a:srgbClr val="000000"/>
              </a:solidFill>
              <a:effectLst/>
              <a:uFillTx/>
              <a:latin typeface="Arial"/>
            </a:endParaRPr>
          </a:p>
        </p:txBody>
      </p:sp>
      <p:sp>
        <p:nvSpPr>
          <p:cNvPr id="381" name="PlaceHolder 3"/>
          <p:cNvSpPr>
            <a:spLocks noGrp="1"/>
          </p:cNvSpPr>
          <p:nvPr>
            <p:ph type="sldNum" idx="6"/>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noRot="1" noChangeAspect="1"/>
          </p:cNvSpPr>
          <p:nvPr>
            <p:ph type="sldImg"/>
          </p:nvPr>
        </p:nvSpPr>
        <p:spPr>
          <a:xfrm>
            <a:off x="0" y="0"/>
            <a:ext cx="0" cy="0"/>
          </a:xfrm>
          <a:prstGeom prst="rect">
            <a:avLst/>
          </a:prstGeom>
          <a:ln w="0">
            <a:noFill/>
          </a:ln>
        </p:spPr>
      </p:sp>
      <p:sp>
        <p:nvSpPr>
          <p:cNvPr id="38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Budhdi. Target 17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The environment enforces yellow and all-red clearance. The flags also let G account for switching cost. A learned score cannot bypass the transition rules.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Sources: Ault, Hanna and Sharon (AAMAS 2020), https://arxiv.org/abs/1912.11023; project/results CSV/JSON evidence and traffic_control code. Local results are a synthetic demonstration. Insert your own Colab evidence.</a:t>
            </a:r>
            <a:endParaRPr lang="en-US" sz="2000" b="0" u="none" strike="noStrike">
              <a:solidFill>
                <a:srgbClr val="000000"/>
              </a:solidFill>
              <a:effectLst/>
              <a:uFillTx/>
              <a:latin typeface="Arial"/>
            </a:endParaRPr>
          </a:p>
        </p:txBody>
      </p:sp>
      <p:sp>
        <p:nvSpPr>
          <p:cNvPr id="384"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noRot="1" noChangeAspect="1"/>
          </p:cNvSpPr>
          <p:nvPr>
            <p:ph type="sldImg"/>
          </p:nvPr>
        </p:nvSpPr>
        <p:spPr>
          <a:xfrm>
            <a:off x="0" y="0"/>
            <a:ext cx="0" cy="0"/>
          </a:xfrm>
          <a:prstGeom prst="rect">
            <a:avLst/>
          </a:prstGeom>
          <a:ln w="0">
            <a:noFill/>
          </a:ln>
        </p:spPr>
      </p:sp>
      <p:sp>
        <p:nvSpPr>
          <p:cNvPr id="38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Budhdi. Target 16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Each action has a precedence score. The largest score wins. At a fixed checkpoint, each input has a consistent direction of influence. This supports inspection without proving every outcome safe or optimal.</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Ault, Hanna and Sharon, AAMAS 2020. https://arxiv.org/abs/1912.11023. Original supplied paper-review slides.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Paper Section 4, Definition 1: regulatable precedence function https://arxiv.org/abs/1912.11023</a:t>
            </a:r>
            <a:endParaRPr lang="en-US" sz="2000" b="0" u="none" strike="noStrike">
              <a:solidFill>
                <a:srgbClr val="000000"/>
              </a:solidFill>
              <a:effectLst/>
              <a:uFillTx/>
              <a:latin typeface="Arial"/>
            </a:endParaRPr>
          </a:p>
        </p:txBody>
      </p:sp>
      <p:sp>
        <p:nvSpPr>
          <p:cNvPr id="387"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noRot="1" noChangeAspect="1"/>
          </p:cNvSpPr>
          <p:nvPr>
            <p:ph type="sldImg"/>
          </p:nvPr>
        </p:nvSpPr>
        <p:spPr>
          <a:xfrm>
            <a:off x="0" y="0"/>
            <a:ext cx="0" cy="0"/>
          </a:xfrm>
          <a:prstGeom prst="rect">
            <a:avLst/>
          </a:prstGeom>
          <a:ln w="0">
            <a:noFill/>
          </a:ln>
        </p:spPr>
      </p:sp>
      <p:sp>
        <p:nvSpPr>
          <p:cNvPr id="38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Budhdi. Target 22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Equation 1 is the paper function. Our adaptation puts signed weights outside powers. Input normalization is fixed; positive clearance factors are learned. At a saved checkpoint the derivative sign follows the weight.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Sources: Ault, Hanna and Sharon (AAMAS 2020), https://arxiv.org/abs/1912.11023; project/results CSV/JSON evidence and traffic_control code. Local results are a synthetic demonstration. Insert your own Colab evidence.</a:t>
            </a:r>
            <a:endParaRPr lang="en-US" sz="2000" b="0" u="none" strike="noStrike">
              <a:solidFill>
                <a:srgbClr val="000000"/>
              </a:solidFill>
              <a:effectLst/>
              <a:uFillTx/>
              <a:latin typeface="Arial"/>
            </a:endParaRPr>
          </a:p>
        </p:txBody>
      </p:sp>
      <p:sp>
        <p:nvSpPr>
          <p:cNvPr id="390"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 name="PlaceHolder 1"/>
          <p:cNvSpPr>
            <a:spLocks noGrp="1" noRot="1" noChangeAspect="1"/>
          </p:cNvSpPr>
          <p:nvPr>
            <p:ph type="sldImg"/>
          </p:nvPr>
        </p:nvSpPr>
        <p:spPr>
          <a:xfrm>
            <a:off x="0" y="0"/>
            <a:ext cx="0" cy="0"/>
          </a:xfrm>
          <a:prstGeom prst="rect">
            <a:avLst/>
          </a:prstGeom>
          <a:ln w="0">
            <a:noFill/>
          </a:ln>
        </p:spPr>
      </p:sp>
      <p:sp>
        <p:nvSpPr>
          <p:cNvPr id="39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Budhdi. Target 18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Figure 2 gives 22.53 for westbound through and left terms combined, versus 19.31 eastbound. Westbound wins. The earlier wording incorrectly called 22.53 the left-turn score alone. These are paper values, separate from our measured examples.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Ault, Hanna and Sharon, AAMAS 2020. https://arxiv.org/abs/1912.11023. Original supplied paper-review slides.</a:t>
            </a:r>
            <a:endParaRPr lang="en-US" sz="2000" b="0" u="none" strike="noStrike">
              <a:solidFill>
                <a:srgbClr val="000000"/>
              </a:solidFill>
              <a:effectLst/>
              <a:uFillTx/>
              <a:latin typeface="Arial"/>
            </a:endParaRPr>
          </a:p>
        </p:txBody>
      </p:sp>
      <p:sp>
        <p:nvSpPr>
          <p:cNvPr id="393"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 name="PlaceHolder 1"/>
          <p:cNvSpPr>
            <a:spLocks noGrp="1" noRot="1" noChangeAspect="1"/>
          </p:cNvSpPr>
          <p:nvPr>
            <p:ph type="sldImg"/>
          </p:nvPr>
        </p:nvSpPr>
        <p:spPr>
          <a:xfrm>
            <a:off x="0" y="0"/>
            <a:ext cx="0" cy="0"/>
          </a:xfrm>
          <a:prstGeom prst="rect">
            <a:avLst/>
          </a:prstGeom>
          <a:ln w="0">
            <a:noFill/>
          </a:ln>
        </p:spPr>
      </p:sp>
      <p:sp>
        <p:nvSpPr>
          <p:cNvPr id="39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Budhdi. Target 19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G acts from the start, apart from exploration. A DQN teacher learns off-policy from those transitions and supplies targets for G. This separates the learner from the actuator and keeps the deployed decision inspectable during training.</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Ault, Hanna and Sharon, AAMAS 2020. https://arxiv.org/abs/1912.11023. Original supplied paper-review slides.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Paper Algorithm 1, Section 5: G acts while Q learns off-policy and teaches G https://arxiv.org/abs/1912.11023</a:t>
            </a:r>
            <a:endParaRPr lang="en-US" sz="2000" b="0" u="none" strike="noStrike">
              <a:solidFill>
                <a:srgbClr val="000000"/>
              </a:solidFill>
              <a:effectLst/>
              <a:uFillTx/>
              <a:latin typeface="Arial"/>
            </a:endParaRPr>
          </a:p>
        </p:txBody>
      </p:sp>
      <p:sp>
        <p:nvSpPr>
          <p:cNvPr id="396"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noRot="1" noChangeAspect="1"/>
          </p:cNvSpPr>
          <p:nvPr>
            <p:ph type="sldImg"/>
          </p:nvPr>
        </p:nvSpPr>
        <p:spPr>
          <a:xfrm>
            <a:off x="0" y="0"/>
            <a:ext cx="0" cy="0"/>
          </a:xfrm>
          <a:prstGeom prst="rect">
            <a:avLst/>
          </a:prstGeom>
          <a:ln w="0">
            <a:noFill/>
          </a:ln>
        </p:spPr>
      </p:sp>
      <p:sp>
        <p:nvSpPr>
          <p:cNvPr id="39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Budhdi. Target 21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Our reward is minus added queue waiting divided by 100. Forty vehicle-seconds gives minus 0.40. With gamma 0.95 and next value minus 2, the target is minus 2.30, or minus 0.40 at termination. The scaling affects learning, while displayed delay remains seconds per arrival. DRHQ teaches G the winner from Q.</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Sources: Ault, Hanna and Sharon (AAMAS 2020), https://arxiv.org/abs/1912.11023; project/results CSV/JSON evidence and traffic_control code. Local results are a synthetic demonstration. Insert your own Colab evidence.</a:t>
            </a:r>
            <a:endParaRPr lang="en-US" sz="2000" b="0" u="none" strike="noStrike">
              <a:solidFill>
                <a:srgbClr val="000000"/>
              </a:solidFill>
              <a:effectLst/>
              <a:uFillTx/>
              <a:latin typeface="Arial"/>
            </a:endParaRPr>
          </a:p>
        </p:txBody>
      </p:sp>
      <p:sp>
        <p:nvSpPr>
          <p:cNvPr id="399" name="PlaceHolder 3"/>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PlaceHolder 1"/>
          <p:cNvSpPr>
            <a:spLocks noGrp="1" noRot="1" noChangeAspect="1"/>
          </p:cNvSpPr>
          <p:nvPr>
            <p:ph type="sldImg"/>
          </p:nvPr>
        </p:nvSpPr>
        <p:spPr>
          <a:xfrm>
            <a:off x="0" y="0"/>
            <a:ext cx="0" cy="0"/>
          </a:xfrm>
          <a:prstGeom prst="rect">
            <a:avLst/>
          </a:prstGeom>
          <a:ln w="0">
            <a:noFill/>
          </a:ln>
        </p:spPr>
      </p:sp>
      <p:sp>
        <p:nvSpPr>
          <p:cNvPr id="40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Budhdi. Target 18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DRQ fits numerical action values. DRSQ fits soft preferences. DRHQ fits only the best action. Matching the winner asks less of the restricted score function. We compare all three and retain the unsuccessful outcomes.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Ault, Hanna and Sharon, AAMAS 2020. https://arxiv.org/abs/1912.11023. Original supplied paper-review slides.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Paper Algorithm 1, Sections 5.1–5.3: DRQ, DRSQ and DRHQ losses https://arxiv.org/abs/1912.11023</a:t>
            </a:r>
            <a:endParaRPr lang="en-US" sz="2000" b="0" u="none" strike="noStrike">
              <a:solidFill>
                <a:srgbClr val="000000"/>
              </a:solidFill>
              <a:effectLst/>
              <a:uFillTx/>
              <a:latin typeface="Arial"/>
            </a:endParaRPr>
          </a:p>
        </p:txBody>
      </p:sp>
      <p:sp>
        <p:nvSpPr>
          <p:cNvPr id="402" name="PlaceHolder 3"/>
          <p:cNvSpPr>
            <a:spLocks noGrp="1"/>
          </p:cNvSpPr>
          <p:nvPr>
            <p:ph type="sldNum" idx="13"/>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noRot="1" noChangeAspect="1"/>
          </p:cNvSpPr>
          <p:nvPr>
            <p:ph type="sldImg"/>
          </p:nvPr>
        </p:nvSpPr>
        <p:spPr>
          <a:xfrm>
            <a:off x="0" y="0"/>
            <a:ext cx="0" cy="0"/>
          </a:xfrm>
          <a:prstGeom prst="rect">
            <a:avLst/>
          </a:prstGeom>
          <a:ln w="0">
            <a:noFill/>
          </a:ln>
        </p:spPr>
      </p:sp>
      <p:sp>
        <p:nvSpPr>
          <p:cNvPr id="40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Budhdi. Target 14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CMA-ES can tune a strong policy but needs many full episodes. PPO converges more slowly. These are paper comparisons. Our code executes DQN and its three regulatable variants.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Ault, Hanna and Sharon, AAMAS 2020. https://arxiv.org/abs/1912.11023. Original supplied paper-review slides.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Paper Sections 6.2–6.4, Figures 4–5: optimizer comparisons https://arxiv.org/abs/1912.11023</a:t>
            </a:r>
            <a:endParaRPr lang="en-US" sz="2000" b="0" u="none" strike="noStrike">
              <a:solidFill>
                <a:srgbClr val="000000"/>
              </a:solidFill>
              <a:effectLst/>
              <a:uFillTx/>
              <a:latin typeface="Arial"/>
            </a:endParaRPr>
          </a:p>
        </p:txBody>
      </p:sp>
      <p:sp>
        <p:nvSpPr>
          <p:cNvPr id="405"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 name="PlaceHolder 1"/>
          <p:cNvSpPr>
            <a:spLocks noGrp="1" noRot="1" noChangeAspect="1"/>
          </p:cNvSpPr>
          <p:nvPr>
            <p:ph type="sldImg"/>
          </p:nvPr>
        </p:nvSpPr>
        <p:spPr>
          <a:xfrm>
            <a:off x="0" y="0"/>
            <a:ext cx="0" cy="0"/>
          </a:xfrm>
          <a:prstGeom prst="rect">
            <a:avLst/>
          </a:prstGeom>
          <a:ln w="0">
            <a:noFill/>
          </a:ln>
        </p:spPr>
      </p:sp>
      <p:sp>
        <p:nvSpPr>
          <p:cNvPr id="40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Sumeet. Target 15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The paper uses observed Utah demand in SUMO, eleven valid phase pairs and three demand profiles. Its actuated baseline matters. Changing the simulator or baseline changes what an improvement percentage means.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Ault, Hanna and Sharon, AAMAS 2020. https://arxiv.org/abs/1912.11023. Original supplied paper-review slides.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Paper Section 6.1, Table 1: demand, hyperparameters and SUMO baseline https://arxiv.org/abs/1912.11023</a:t>
            </a:r>
            <a:endParaRPr lang="en-US" sz="2000" b="0" u="none" strike="noStrike">
              <a:solidFill>
                <a:srgbClr val="000000"/>
              </a:solidFill>
              <a:effectLst/>
              <a:uFillTx/>
              <a:latin typeface="Arial"/>
            </a:endParaRPr>
          </a:p>
        </p:txBody>
      </p:sp>
      <p:sp>
        <p:nvSpPr>
          <p:cNvPr id="408"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noRot="1" noChangeAspect="1"/>
          </p:cNvSpPr>
          <p:nvPr>
            <p:ph type="sldImg"/>
          </p:nvPr>
        </p:nvSpPr>
        <p:spPr>
          <a:xfrm>
            <a:off x="0" y="0"/>
            <a:ext cx="0" cy="0"/>
          </a:xfrm>
          <a:prstGeom prst="rect">
            <a:avLst/>
          </a:prstGeom>
          <a:ln w="0">
            <a:noFill/>
          </a:ln>
        </p:spPr>
      </p:sp>
      <p:sp>
        <p:nvSpPr>
          <p:cNvPr id="41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Sumeet. Target 21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The paper reports up to 19.4 percent lower delay for DRHQ against actuated control. DQN performs better but uses a neural actuator. Figure 4 covers thirty seeded trials. Low and medium demand improve after one episode. High demand takes about twenty.</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Ault, Hanna and Sharon, AAMAS 2020. https://arxiv.org/abs/1912.11023. Original supplied paper-review slides.</a:t>
            </a:r>
            <a:endParaRPr lang="en-US" sz="2000" b="0" u="none" strike="noStrike">
              <a:solidFill>
                <a:srgbClr val="000000"/>
              </a:solidFill>
              <a:effectLst/>
              <a:uFillTx/>
              <a:latin typeface="Arial"/>
            </a:endParaRPr>
          </a:p>
        </p:txBody>
      </p:sp>
      <p:sp>
        <p:nvSpPr>
          <p:cNvPr id="411"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 name="PlaceHolder 1"/>
          <p:cNvSpPr>
            <a:spLocks noGrp="1" noRot="1" noChangeAspect="1"/>
          </p:cNvSpPr>
          <p:nvPr>
            <p:ph type="sldImg"/>
          </p:nvPr>
        </p:nvSpPr>
        <p:spPr>
          <a:xfrm>
            <a:off x="0" y="0"/>
            <a:ext cx="0" cy="0"/>
          </a:xfrm>
          <a:prstGeom prst="rect">
            <a:avLst/>
          </a:prstGeom>
          <a:ln w="0">
            <a:noFill/>
          </a:ln>
        </p:spPr>
      </p:sp>
      <p:sp>
        <p:nvSpPr>
          <p:cNvPr id="41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Sumeet. Target 22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This is an algorithm demonstration, not a SUMO reproduction. Four FIFO queues share two through groups. Three seeds produce 600 training episodes. Freeze the models and evaluate identical held-out arrivals in 300 rollouts. Waiting inside the horizon includes unfinished vehicles, but not their future waiting.</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Sources: Ault, Hanna and Sharon (AAMAS 2020), https://arxiv.org/abs/1912.11023; project/results CSV/JSON evidence and traffic_control code. Local results are a synthetic demonstration. Insert your own Colab evidence.</a:t>
            </a:r>
            <a:endParaRPr lang="en-US" sz="2000" b="0" u="none" strike="noStrike">
              <a:solidFill>
                <a:srgbClr val="000000"/>
              </a:solidFill>
              <a:effectLst/>
              <a:uFillTx/>
              <a:latin typeface="Arial"/>
            </a:endParaRPr>
          </a:p>
        </p:txBody>
      </p:sp>
      <p:sp>
        <p:nvSpPr>
          <p:cNvPr id="414" name="PlaceHolder 3"/>
          <p:cNvSpPr>
            <a:spLocks noGrp="1"/>
          </p:cNvSpPr>
          <p:nvPr>
            <p:ph type="sldNum" idx="1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PlaceHolder 1"/>
          <p:cNvSpPr>
            <a:spLocks noGrp="1" noRot="1" noChangeAspect="1"/>
          </p:cNvSpPr>
          <p:nvPr>
            <p:ph type="sldImg"/>
          </p:nvPr>
        </p:nvSpPr>
        <p:spPr>
          <a:xfrm>
            <a:off x="0" y="0"/>
            <a:ext cx="0" cy="0"/>
          </a:xfrm>
          <a:prstGeom prst="rect">
            <a:avLst/>
          </a:prstGeom>
          <a:ln w="0">
            <a:noFill/>
          </a:ln>
        </p:spPr>
      </p:sp>
      <p:sp>
        <p:nvSpPr>
          <p:cNvPr id="41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Sumeet. Target 15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The paper assumes reliable sensing and tests one simulated intersection. The authors propose warm-starting from an existing controller. Our demonstration also omits turning, spillback and pedestrians. Field deployment needs wider validation.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executed local CPU reference results in results/summary.csv, training.csv, examples.json and manifest.json. Simplified FIFO algorithm demonstration. Insert personal Colab screenshots before recording.</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Paper Sections 6–7; deployment limitations are identified as our critical reflection https://arxiv.org/abs/1912.11023</a:t>
            </a:r>
            <a:endParaRPr lang="en-US" sz="2000" b="0" u="none" strike="noStrike">
              <a:solidFill>
                <a:srgbClr val="000000"/>
              </a:solidFill>
              <a:effectLst/>
              <a:uFillTx/>
              <a:latin typeface="Arial"/>
            </a:endParaRPr>
          </a:p>
        </p:txBody>
      </p:sp>
      <p:sp>
        <p:nvSpPr>
          <p:cNvPr id="417" name="PlaceHolder 3"/>
          <p:cNvSpPr>
            <a:spLocks noGrp="1"/>
          </p:cNvSpPr>
          <p:nvPr>
            <p:ph type="sldNum" idx="1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noRot="1" noChangeAspect="1"/>
          </p:cNvSpPr>
          <p:nvPr>
            <p:ph type="sldImg"/>
          </p:nvPr>
        </p:nvSpPr>
        <p:spPr>
          <a:xfrm>
            <a:off x="0" y="0"/>
            <a:ext cx="0" cy="0"/>
          </a:xfrm>
          <a:prstGeom prst="rect">
            <a:avLst/>
          </a:prstGeom>
          <a:ln w="0">
            <a:noFill/>
          </a:ln>
        </p:spPr>
      </p:sp>
      <p:sp>
        <p:nvSpPr>
          <p:cNvPr id="41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Sumeet. Target 16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The notebook provides execution evidence. Thirteen tests cover clearance, accounting, gradients and checkpoints. Sixteen diagnostics cover empty traffic, bursts, reversal and overload. Overload leaves queues as expected. Evaluation checks confirm unchanged model parameters.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executed local CPU reference results in results/summary.csv, training.csv, examples.json and manifest.json. Simplified FIFO algorithm demonstration. Insert personal Colab screenshots before recording.</a:t>
            </a:r>
            <a:endParaRPr lang="en-US" sz="2000" b="0" u="none" strike="noStrike">
              <a:solidFill>
                <a:srgbClr val="000000"/>
              </a:solidFill>
              <a:effectLst/>
              <a:uFillTx/>
              <a:latin typeface="Arial"/>
            </a:endParaRPr>
          </a:p>
        </p:txBody>
      </p:sp>
      <p:sp>
        <p:nvSpPr>
          <p:cNvPr id="420" name="PlaceHolder 3"/>
          <p:cNvSpPr>
            <a:spLocks noGrp="1"/>
          </p:cNvSpPr>
          <p:nvPr>
            <p:ph type="sldNum" idx="1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noRot="1" noChangeAspect="1"/>
          </p:cNvSpPr>
          <p:nvPr>
            <p:ph type="sldImg"/>
          </p:nvPr>
        </p:nvSpPr>
        <p:spPr>
          <a:xfrm>
            <a:off x="0" y="0"/>
            <a:ext cx="0" cy="0"/>
          </a:xfrm>
          <a:prstGeom prst="rect">
            <a:avLst/>
          </a:prstGeom>
          <a:ln w="0">
            <a:noFill/>
          </a:ln>
        </p:spPr>
      </p:sp>
      <p:sp>
        <p:nvSpPr>
          <p:cNvPr id="42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Sumeet. Target 18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Training curves average three seeds and come from saved CSVs. Exploration changes during training, so final claims use frozen evaluation. Poor DRQ performance remains in the full output. The screenshot identifies the actual run.</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executed local CPU reference results in results/summary.csv, training.csv, examples.json and manifest.json. Simplified FIFO algorithm demonstration. Insert personal Colab screenshots before recording.</a:t>
            </a:r>
            <a:endParaRPr lang="en-US" sz="2000" b="0" u="none" strike="noStrike">
              <a:solidFill>
                <a:srgbClr val="000000"/>
              </a:solidFill>
              <a:effectLst/>
              <a:uFillTx/>
              <a:latin typeface="Arial"/>
            </a:endParaRPr>
          </a:p>
        </p:txBody>
      </p:sp>
      <p:sp>
        <p:nvSpPr>
          <p:cNvPr id="423" name="PlaceHolder 3"/>
          <p:cNvSpPr>
            <a:spLocks noGrp="1"/>
          </p:cNvSpPr>
          <p:nvPr>
            <p:ph type="sldNum" idx="20"/>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PlaceHolder 1"/>
          <p:cNvSpPr>
            <a:spLocks noGrp="1" noRot="1" noChangeAspect="1"/>
          </p:cNvSpPr>
          <p:nvPr>
            <p:ph type="sldImg"/>
          </p:nvPr>
        </p:nvSpPr>
        <p:spPr>
          <a:xfrm>
            <a:off x="0" y="0"/>
            <a:ext cx="0" cy="0"/>
          </a:xfrm>
          <a:prstGeom prst="rect">
            <a:avLst/>
          </a:prstGeom>
          <a:ln w="0">
            <a:noFill/>
          </a:ln>
        </p:spPr>
      </p:sp>
      <p:sp>
        <p:nvSpPr>
          <p:cNvPr id="42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Sumeet. Target 22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The balanced reference means are 11.688 seconds for Actuated and 9.828 for DRHQ. Subtract and divide by Actuated to get 15.92 percent. Pending vehicles and throughput are displayed too. The interval covers held-out demand variation conditional on three trained models. Cite the balanced rows in summary.csv.</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Sources: Ault, Hanna and Sharon (AAMAS 2020), https://arxiv.org/abs/1912.11023; project/results CSV/JSON evidence and traffic_control code. Local results are a synthetic demonstration. Insert your own Colab evidence.</a:t>
            </a:r>
            <a:endParaRPr lang="en-US" sz="2000" b="0" u="none" strike="noStrike">
              <a:solidFill>
                <a:srgbClr val="000000"/>
              </a:solidFill>
              <a:effectLst/>
              <a:uFillTx/>
              <a:latin typeface="Arial"/>
            </a:endParaRPr>
          </a:p>
        </p:txBody>
      </p:sp>
      <p:sp>
        <p:nvSpPr>
          <p:cNvPr id="426" name="PlaceHolder 3"/>
          <p:cNvSpPr>
            <a:spLocks noGrp="1"/>
          </p:cNvSpPr>
          <p:nvPr>
            <p:ph type="sldNum" idx="21"/>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7" name="PlaceHolder 1"/>
          <p:cNvSpPr>
            <a:spLocks noGrp="1" noRot="1" noChangeAspect="1"/>
          </p:cNvSpPr>
          <p:nvPr>
            <p:ph type="sldImg"/>
          </p:nvPr>
        </p:nvSpPr>
        <p:spPr>
          <a:xfrm>
            <a:off x="0" y="0"/>
            <a:ext cx="0" cy="0"/>
          </a:xfrm>
          <a:prstGeom prst="rect">
            <a:avLst/>
          </a:prstGeom>
          <a:ln w="0">
            <a:noFill/>
          </a:ln>
        </p:spPr>
      </p:sp>
      <p:sp>
        <p:nvSpPr>
          <p:cNvPr id="42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Sumeet. Target 22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Demand reverses at 600 seconds. The displayed delay, pending queues and throughput summarize frozen evaluation. DRHQ has 18.12 percent lower delay in this reference run. Its interval measures demand variation conditional on the trained models. DRQ fails badly and remains in the notebook.</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Sources: Ault, Hanna and Sharon (AAMAS 2020), https://arxiv.org/abs/1912.11023; project/results CSV/JSON evidence and traffic_control code. Local results are a synthetic demonstration. Insert your own Colab evidence.</a:t>
            </a:r>
            <a:endParaRPr lang="en-US" sz="2000" b="0" u="none" strike="noStrike">
              <a:solidFill>
                <a:srgbClr val="000000"/>
              </a:solidFill>
              <a:effectLst/>
              <a:uFillTx/>
              <a:latin typeface="Arial"/>
            </a:endParaRPr>
          </a:p>
        </p:txBody>
      </p:sp>
      <p:sp>
        <p:nvSpPr>
          <p:cNvPr id="429" name="PlaceHolder 3"/>
          <p:cNvSpPr>
            <a:spLocks noGrp="1"/>
          </p:cNvSpPr>
          <p:nvPr>
            <p:ph type="sldNum" idx="22"/>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PlaceHolder 1"/>
          <p:cNvSpPr>
            <a:spLocks noGrp="1" noRot="1" noChangeAspect="1"/>
          </p:cNvSpPr>
          <p:nvPr>
            <p:ph type="sldImg"/>
          </p:nvPr>
        </p:nvSpPr>
        <p:spPr>
          <a:xfrm>
            <a:off x="0" y="0"/>
            <a:ext cx="0" cy="0"/>
          </a:xfrm>
          <a:prstGeom prst="rect">
            <a:avLst/>
          </a:prstGeom>
          <a:ln w="0">
            <a:noFill/>
          </a:ln>
        </p:spPr>
      </p:sp>
      <p:sp>
        <p:nvSpPr>
          <p:cNvPr id="43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Sumeet. Target 22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Show the implemented Section 11 decision cell. The balanced North/South contributions sum to about 9.035, above East/West at 3.780, so North/South wins. The tidal example selects East/West. Full-precision terms reconstruct scores. The derivative checks concern fixed checkpoints and clearance categories, not road safety.</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Sources: Ault, Hanna and Sharon (AAMAS 2020), https://arxiv.org/abs/1912.11023; project/results CSV/JSON evidence and traffic_control code. Local results are a synthetic demonstration. Insert your own Colab evidence.</a:t>
            </a:r>
            <a:endParaRPr lang="en-US" sz="2000" b="0" u="none" strike="noStrike">
              <a:solidFill>
                <a:srgbClr val="000000"/>
              </a:solidFill>
              <a:effectLst/>
              <a:uFillTx/>
              <a:latin typeface="Arial"/>
            </a:endParaRPr>
          </a:p>
        </p:txBody>
      </p:sp>
      <p:sp>
        <p:nvSpPr>
          <p:cNvPr id="432" name="PlaceHolder 3"/>
          <p:cNvSpPr>
            <a:spLocks noGrp="1"/>
          </p:cNvSpPr>
          <p:nvPr>
            <p:ph type="sldNum" idx="23"/>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PlaceHolder 1"/>
          <p:cNvSpPr>
            <a:spLocks noGrp="1" noRot="1" noChangeAspect="1"/>
          </p:cNvSpPr>
          <p:nvPr>
            <p:ph type="sldImg"/>
          </p:nvPr>
        </p:nvSpPr>
        <p:spPr>
          <a:xfrm>
            <a:off x="0" y="0"/>
            <a:ext cx="0" cy="0"/>
          </a:xfrm>
          <a:prstGeom prst="rect">
            <a:avLst/>
          </a:prstGeom>
          <a:ln w="0">
            <a:noFill/>
          </a:ln>
        </p:spPr>
      </p:sp>
      <p:sp>
        <p:nvSpPr>
          <p:cNvPr id="43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Both. Target 16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We each show our own completed task and explain its check. Budhdi: insert your actual task and finding. Sumeet: insert your actual task and finding. The screenshots and contribution log identify the work.</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executed local CPU reference results in results/summary.csv, training.csv, examples.json and manifest.json. Simplified FIFO algorithm demonstration. Insert personal Colab screenshots before recording.</a:t>
            </a:r>
            <a:endParaRPr lang="en-US" sz="2000" b="0" u="none" strike="noStrike">
              <a:solidFill>
                <a:srgbClr val="000000"/>
              </a:solidFill>
              <a:effectLst/>
              <a:uFillTx/>
              <a:latin typeface="Arial"/>
            </a:endParaRPr>
          </a:p>
        </p:txBody>
      </p:sp>
      <p:sp>
        <p:nvSpPr>
          <p:cNvPr id="435" name="PlaceHolder 3"/>
          <p:cNvSpPr>
            <a:spLocks noGrp="1"/>
          </p:cNvSpPr>
          <p:nvPr>
            <p:ph type="sldNum" idx="24"/>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PlaceHolder 1"/>
          <p:cNvSpPr>
            <a:spLocks noGrp="1" noRot="1" noChangeAspect="1"/>
          </p:cNvSpPr>
          <p:nvPr>
            <p:ph type="sldImg"/>
          </p:nvPr>
        </p:nvSpPr>
        <p:spPr>
          <a:xfrm>
            <a:off x="0" y="0"/>
            <a:ext cx="0" cy="0"/>
          </a:xfrm>
          <a:prstGeom prst="rect">
            <a:avLst/>
          </a:prstGeom>
          <a:ln w="0">
            <a:noFill/>
          </a:ln>
        </p:spPr>
      </p:sp>
      <p:sp>
        <p:nvSpPr>
          <p:cNvPr id="43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tabLst>
                <a:tab pos="0" algn="l"/>
              </a:tabLst>
            </a:pPr>
            <a:r>
              <a:rPr lang="en-US" sz="2000" b="0" u="none" strike="noStrike">
                <a:solidFill>
                  <a:srgbClr val="000000"/>
                </a:solidFill>
                <a:effectLst/>
                <a:uFillTx/>
                <a:latin typeface="Arial"/>
                <a:ea typeface="Arial"/>
              </a:rPr>
              <a:t>Sumeet. Target 12 seconds.</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DRHQ lets a strong learner guide an inspectable actuator. The references, submitted code and actual recording link support the analysis and its evidence.</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Source: executed local CPU reference results in results/summary.csv, training.csv, examples.json and manifest.json. Simplified FIFO algorithm demonstration. Insert personal Colab screenshots before recording.</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ea typeface="Arial"/>
              </a:rPr>
              <a:t>Before submission: real personal evidence and links must replace the remaining placeholders. PPT and video must each be no more than 10 MB. Video no more than seven minutes. Confirm names and IDs, verify access signed out and make a fresh portal submission.</a:t>
            </a:r>
            <a:endParaRPr lang="en-US" sz="2000" b="0" u="none" strike="noStrike">
              <a:solidFill>
                <a:srgbClr val="000000"/>
              </a:solidFill>
              <a:effectLst/>
              <a:uFillTx/>
              <a:latin typeface="Arial"/>
            </a:endParaRPr>
          </a:p>
        </p:txBody>
      </p:sp>
      <p:sp>
        <p:nvSpPr>
          <p:cNvPr id="438" name="PlaceHolder 3"/>
          <p:cNvSpPr>
            <a:spLocks noGrp="1"/>
          </p:cNvSpPr>
          <p:nvPr>
            <p:ph type="sldNum" idx="25"/>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Title and Body">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85800" y="533520"/>
            <a:ext cx="10819800" cy="837360"/>
          </a:xfrm>
          <a:prstGeom prst="rect">
            <a:avLst/>
          </a:prstGeom>
          <a:noFill/>
          <a:ln w="0">
            <a:noFill/>
          </a:ln>
        </p:spPr>
        <p:txBody>
          <a:bodyPr lIns="0" tIns="0" rIns="0" bIns="0" anchor="t">
            <a:normAutofit/>
          </a:bodyPr>
          <a:lstStyle>
            <a:lvl1pPr indent="0" algn="l">
              <a:lnSpc>
                <a:spcPct val="100000"/>
              </a:lnSpc>
              <a:buNone/>
              <a:tabLst>
                <a:tab pos="0" algn="l"/>
              </a:tabLst>
              <a:defRPr lang="en-US" sz="3300" b="0" u="none" strike="noStrike">
                <a:solidFill>
                  <a:schemeClr val="dk1"/>
                </a:solidFill>
                <a:effectLst/>
                <a:uFillTx/>
                <a:latin typeface="Aptos"/>
                <a:ea typeface="Aptos"/>
              </a:defRPr>
            </a:lvl1pPr>
          </a:lstStyle>
          <a:p>
            <a:pPr indent="0" algn="l">
              <a:lnSpc>
                <a:spcPct val="100000"/>
              </a:lnSpc>
              <a:buNone/>
              <a:tabLst>
                <a:tab pos="0" algn="l"/>
              </a:tabLst>
            </a:pPr>
            <a:r>
              <a:rPr lang="en-US" sz="3300" b="0" u="none" strike="noStrike">
                <a:solidFill>
                  <a:schemeClr val="dk1"/>
                </a:solidFill>
                <a:effectLst/>
                <a:uFillTx/>
                <a:latin typeface="Aptos"/>
                <a:ea typeface="Aptos"/>
              </a:rPr>
              <a:t>Click to edit the title text format</a:t>
            </a:r>
            <a:endParaRPr lang="en-US" sz="3300" b="0" u="none" strike="noStrike">
              <a:solidFill>
                <a:schemeClr val="dk1"/>
              </a:solidFill>
              <a:effectLst/>
              <a:uFillTx/>
              <a:latin typeface="Aptos"/>
            </a:endParaRPr>
          </a:p>
        </p:txBody>
      </p:sp>
      <p:sp>
        <p:nvSpPr>
          <p:cNvPr id="5" name="PlaceHolder 2"/>
          <p:cNvSpPr>
            <a:spLocks noGrp="1"/>
          </p:cNvSpPr>
          <p:nvPr>
            <p:ph type="body"/>
          </p:nvPr>
        </p:nvSpPr>
        <p:spPr>
          <a:xfrm>
            <a:off x="685800" y="1905120"/>
            <a:ext cx="10819800" cy="426636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250" b="0" u="none" strike="noStrike">
                <a:solidFill>
                  <a:schemeClr val="dk1"/>
                </a:solidFill>
                <a:effectLst/>
                <a:uFillTx/>
                <a:latin typeface="Aptos"/>
                <a:ea typeface="Aptos"/>
              </a:defRPr>
            </a:lvl1pPr>
            <a:lvl2pPr lvl="1" algn="l">
              <a:lnSpc>
                <a:spcPct val="90000"/>
              </a:lnSpc>
              <a:spcBef>
                <a:spcPts val="1134"/>
              </a:spcBef>
              <a:buClr>
                <a:srgbClr val="000000"/>
              </a:buClr>
              <a:buSzPct val="75000"/>
              <a:buFont typeface="Symbol"/>
              <a:buChar char=""/>
              <a:defRPr lang="en-US" sz="2250" b="0" u="none" strike="noStrike">
                <a:solidFill>
                  <a:schemeClr val="dk1"/>
                </a:solidFill>
                <a:effectLst/>
                <a:uFillTx/>
                <a:latin typeface="Aptos"/>
                <a:ea typeface="Aptos"/>
              </a:defRPr>
            </a:lvl2pPr>
            <a:lvl3pPr lvl="2" algn="l">
              <a:lnSpc>
                <a:spcPct val="90000"/>
              </a:lnSpc>
              <a:spcBef>
                <a:spcPts val="850"/>
              </a:spcBef>
              <a:buClr>
                <a:srgbClr val="000000"/>
              </a:buClr>
              <a:buSzPct val="45000"/>
              <a:buFont typeface="Wingdings" charset="2"/>
              <a:buChar char=""/>
              <a:defRPr lang="en-US" sz="2250" b="0" u="none" strike="noStrike">
                <a:solidFill>
                  <a:schemeClr val="dk1"/>
                </a:solidFill>
                <a:effectLst/>
                <a:uFillTx/>
                <a:latin typeface="Aptos"/>
                <a:ea typeface="Aptos"/>
              </a:defRPr>
            </a:lvl3pPr>
            <a:lvl4pPr lvl="3" algn="l">
              <a:lnSpc>
                <a:spcPct val="90000"/>
              </a:lnSpc>
              <a:spcBef>
                <a:spcPts val="567"/>
              </a:spcBef>
              <a:buClr>
                <a:srgbClr val="000000"/>
              </a:buClr>
              <a:buSzPct val="75000"/>
              <a:buFont typeface="Symbol"/>
              <a:buChar char=""/>
              <a:defRPr lang="en-US" sz="2250" b="0" u="none" strike="noStrike">
                <a:solidFill>
                  <a:schemeClr val="dk1"/>
                </a:solidFill>
                <a:effectLst/>
                <a:uFillTx/>
                <a:latin typeface="Aptos"/>
                <a:ea typeface="Aptos"/>
              </a:defRPr>
            </a:lvl4pPr>
            <a:lvl5pPr lvl="4" algn="l">
              <a:lnSpc>
                <a:spcPct val="90000"/>
              </a:lnSpc>
              <a:spcBef>
                <a:spcPts val="283"/>
              </a:spcBef>
              <a:buClr>
                <a:srgbClr val="000000"/>
              </a:buClr>
              <a:buSzPct val="45000"/>
              <a:buFont typeface="Wingdings" charset="2"/>
              <a:buChar char=""/>
              <a:defRPr lang="en-US" sz="2250" b="0" u="none" strike="noStrike">
                <a:solidFill>
                  <a:schemeClr val="dk1"/>
                </a:solidFill>
                <a:effectLst/>
                <a:uFillTx/>
                <a:latin typeface="Aptos"/>
                <a:ea typeface="Aptos"/>
              </a:defRPr>
            </a:lvl5pPr>
            <a:lvl6pPr lvl="5" algn="l">
              <a:lnSpc>
                <a:spcPct val="90000"/>
              </a:lnSpc>
              <a:spcBef>
                <a:spcPts val="283"/>
              </a:spcBef>
              <a:buClr>
                <a:srgbClr val="000000"/>
              </a:buClr>
              <a:buSzPct val="45000"/>
              <a:buFont typeface="Wingdings" charset="2"/>
              <a:buChar char=""/>
              <a:defRPr lang="en-US" sz="2250" b="0" u="none" strike="noStrike">
                <a:solidFill>
                  <a:schemeClr val="dk1"/>
                </a:solidFill>
                <a:effectLst/>
                <a:uFillTx/>
                <a:latin typeface="Aptos"/>
                <a:ea typeface="Aptos"/>
              </a:defRPr>
            </a:lvl6pPr>
            <a:lvl7pPr lvl="6" algn="l">
              <a:lnSpc>
                <a:spcPct val="90000"/>
              </a:lnSpc>
              <a:spcBef>
                <a:spcPts val="283"/>
              </a:spcBef>
              <a:buClr>
                <a:srgbClr val="000000"/>
              </a:buClr>
              <a:buSzPct val="45000"/>
              <a:buFont typeface="Wingdings" charset="2"/>
              <a:buChar char=""/>
              <a:defRPr lang="en-US" sz="2250" b="0" u="none" strike="noStrike">
                <a:solidFill>
                  <a:schemeClr val="dk1"/>
                </a:solidFill>
                <a:effectLst/>
                <a:uFillTx/>
                <a:latin typeface="Aptos"/>
                <a:ea typeface="Aptos"/>
              </a:defRPr>
            </a:lvl7pPr>
          </a:lstStyle>
          <a:p>
            <a:pPr marL="228600" indent="-228600" algn="l">
              <a:lnSpc>
                <a:spcPct val="90000"/>
              </a:lnSpc>
              <a:spcBef>
                <a:spcPts val="1417"/>
              </a:spcBef>
              <a:buClr>
                <a:srgbClr val="000000"/>
              </a:buClr>
              <a:buSzPct val="45000"/>
              <a:buFont typeface="Wingdings" charset="2"/>
              <a:buChar char=""/>
            </a:pPr>
            <a:r>
              <a:rPr lang="en-US" sz="2250" b="0" u="none" strike="noStrike">
                <a:solidFill>
                  <a:schemeClr val="dk1"/>
                </a:solidFill>
                <a:effectLst/>
                <a:uFillTx/>
                <a:latin typeface="Aptos"/>
                <a:ea typeface="Aptos"/>
              </a:rPr>
              <a:t>Click to edit the outline text format</a:t>
            </a:r>
            <a:endParaRPr lang="en-US" sz="2250" b="0" u="none" strike="noStrike">
              <a:solidFill>
                <a:schemeClr val="dk1"/>
              </a:solidFill>
              <a:effectLst/>
              <a:uFillTx/>
              <a:latin typeface="Aptos"/>
            </a:endParaRPr>
          </a:p>
          <a:p>
            <a:pPr marL="533520" lvl="1" indent="-228600" algn="l">
              <a:lnSpc>
                <a:spcPct val="90000"/>
              </a:lnSpc>
              <a:spcBef>
                <a:spcPts val="1134"/>
              </a:spcBef>
              <a:buClr>
                <a:srgbClr val="000000"/>
              </a:buClr>
              <a:buSzPct val="75000"/>
              <a:buFont typeface="Symbol"/>
              <a:buChar char=""/>
            </a:pPr>
            <a:r>
              <a:rPr lang="en-US" sz="2250" b="0" u="none" strike="noStrike">
                <a:solidFill>
                  <a:schemeClr val="dk1"/>
                </a:solidFill>
                <a:effectLst/>
                <a:uFillTx/>
                <a:latin typeface="Aptos"/>
                <a:ea typeface="Aptos"/>
              </a:rPr>
              <a:t>Second Outline Level</a:t>
            </a:r>
            <a:endParaRPr lang="en-US" sz="2250" b="0" u="none" strike="noStrike">
              <a:solidFill>
                <a:schemeClr val="dk1"/>
              </a:solidFill>
              <a:effectLst/>
              <a:uFillTx/>
              <a:latin typeface="Aptos"/>
            </a:endParaRPr>
          </a:p>
          <a:p>
            <a:pPr marL="838080" lvl="2" indent="-228600" algn="l">
              <a:lnSpc>
                <a:spcPct val="90000"/>
              </a:lnSpc>
              <a:spcBef>
                <a:spcPts val="850"/>
              </a:spcBef>
              <a:buClr>
                <a:srgbClr val="000000"/>
              </a:buClr>
              <a:buSzPct val="45000"/>
              <a:buFont typeface="Wingdings" charset="2"/>
              <a:buChar char=""/>
            </a:pPr>
            <a:r>
              <a:rPr lang="en-US" sz="2250" b="0" u="none" strike="noStrike">
                <a:solidFill>
                  <a:schemeClr val="dk1"/>
                </a:solidFill>
                <a:effectLst/>
                <a:uFillTx/>
                <a:latin typeface="Aptos"/>
                <a:ea typeface="Aptos"/>
              </a:rPr>
              <a:t>Third Outline Level</a:t>
            </a:r>
            <a:endParaRPr lang="en-US" sz="2250" b="0" u="none" strike="noStrike">
              <a:solidFill>
                <a:schemeClr val="dk1"/>
              </a:solidFill>
              <a:effectLst/>
              <a:uFillTx/>
              <a:latin typeface="Aptos"/>
            </a:endParaRPr>
          </a:p>
          <a:p>
            <a:pPr marL="1143000" lvl="3" indent="-228600" algn="l">
              <a:lnSpc>
                <a:spcPct val="90000"/>
              </a:lnSpc>
              <a:spcBef>
                <a:spcPts val="567"/>
              </a:spcBef>
              <a:buClr>
                <a:srgbClr val="000000"/>
              </a:buClr>
              <a:buSzPct val="75000"/>
              <a:buFont typeface="Symbol"/>
              <a:buChar char=""/>
            </a:pPr>
            <a:r>
              <a:rPr lang="en-US" sz="2250" b="0" u="none" strike="noStrike">
                <a:solidFill>
                  <a:schemeClr val="dk1"/>
                </a:solidFill>
                <a:effectLst/>
                <a:uFillTx/>
                <a:latin typeface="Aptos"/>
                <a:ea typeface="Aptos"/>
              </a:rPr>
              <a:t>Fourth Outline Level</a:t>
            </a:r>
            <a:endParaRPr lang="en-US" sz="2250" b="0" u="none" strike="noStrike">
              <a:solidFill>
                <a:schemeClr val="dk1"/>
              </a:solidFill>
              <a:effectLst/>
              <a:uFillTx/>
              <a:latin typeface="Aptos"/>
            </a:endParaRPr>
          </a:p>
          <a:p>
            <a:pPr marL="1447920" lvl="4" indent="-228600" algn="l">
              <a:lnSpc>
                <a:spcPct val="90000"/>
              </a:lnSpc>
              <a:spcBef>
                <a:spcPts val="283"/>
              </a:spcBef>
              <a:buClr>
                <a:srgbClr val="000000"/>
              </a:buClr>
              <a:buSzPct val="45000"/>
              <a:buFont typeface="Wingdings" charset="2"/>
              <a:buChar char=""/>
            </a:pPr>
            <a:r>
              <a:rPr lang="en-US" sz="2250" b="0" u="none" strike="noStrike">
                <a:solidFill>
                  <a:schemeClr val="dk1"/>
                </a:solidFill>
                <a:effectLst/>
                <a:uFillTx/>
                <a:latin typeface="Aptos"/>
                <a:ea typeface="Aptos"/>
              </a:rPr>
              <a:t>Fifth Outline Level</a:t>
            </a:r>
            <a:endParaRPr lang="en-US" sz="2250" b="0" u="none" strike="noStrike">
              <a:solidFill>
                <a:schemeClr val="dk1"/>
              </a:solidFill>
              <a:effectLst/>
              <a:uFillTx/>
              <a:latin typeface="Aptos"/>
            </a:endParaRPr>
          </a:p>
          <a:p>
            <a:pPr marL="1752480" lvl="5" indent="-228600" algn="l">
              <a:lnSpc>
                <a:spcPct val="90000"/>
              </a:lnSpc>
              <a:spcBef>
                <a:spcPts val="283"/>
              </a:spcBef>
              <a:buClr>
                <a:srgbClr val="000000"/>
              </a:buClr>
              <a:buSzPct val="45000"/>
              <a:buFont typeface="Wingdings" charset="2"/>
              <a:buChar char=""/>
            </a:pPr>
            <a:r>
              <a:rPr lang="en-US" sz="2250" b="0" u="none" strike="noStrike">
                <a:solidFill>
                  <a:schemeClr val="dk1"/>
                </a:solidFill>
                <a:effectLst/>
                <a:uFillTx/>
                <a:latin typeface="Aptos"/>
                <a:ea typeface="Aptos"/>
              </a:rPr>
              <a:t>Sixth Outline Level</a:t>
            </a:r>
            <a:endParaRPr lang="en-US" sz="2250" b="0" u="none" strike="noStrike">
              <a:solidFill>
                <a:schemeClr val="dk1"/>
              </a:solidFill>
              <a:effectLst/>
              <a:uFillTx/>
              <a:latin typeface="Aptos"/>
            </a:endParaRPr>
          </a:p>
          <a:p>
            <a:pPr marL="2057400" lvl="6" indent="-228600" algn="l">
              <a:lnSpc>
                <a:spcPct val="90000"/>
              </a:lnSpc>
              <a:spcBef>
                <a:spcPts val="283"/>
              </a:spcBef>
              <a:buClr>
                <a:srgbClr val="000000"/>
              </a:buClr>
              <a:buSzPct val="45000"/>
              <a:buFont typeface="Wingdings" charset="2"/>
              <a:buChar char=""/>
            </a:pPr>
            <a:r>
              <a:rPr lang="en-US" sz="2250" b="0" u="none" strike="noStrike">
                <a:solidFill>
                  <a:schemeClr val="dk1"/>
                </a:solidFill>
                <a:effectLst/>
                <a:uFillTx/>
                <a:latin typeface="Aptos"/>
                <a:ea typeface="Aptos"/>
              </a:rPr>
              <a:t>Seventh Outline Level</a:t>
            </a:r>
            <a:endParaRPr lang="en-US" sz="2250" b="0" u="none" strike="noStrike">
              <a:solidFill>
                <a:schemeClr val="dk1"/>
              </a:solidFill>
              <a:effectLst/>
              <a:uFillTx/>
              <a:latin typeface="Apto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Aptos"/>
                <a:ea typeface="Aptos"/>
              </a:defRPr>
            </a:lvl1pPr>
          </a:lstStyle>
          <a:p>
            <a:pPr indent="0" algn="l">
              <a:lnSpc>
                <a:spcPct val="100000"/>
              </a:lnSpc>
              <a:buNone/>
              <a:tabLst>
                <a:tab pos="0" algn="l"/>
              </a:tabLst>
            </a:pPr>
            <a:r>
              <a:rPr lang="en-US" sz="1800" b="0" u="none" strike="noStrike">
                <a:solidFill>
                  <a:schemeClr val="dk1"/>
                </a:solidFill>
                <a:effectLst/>
                <a:uFillTx/>
                <a:latin typeface="Aptos"/>
                <a:ea typeface="Aptos"/>
              </a:rPr>
              <a:t>Click to edit the title text format</a:t>
            </a:r>
            <a:endParaRPr lang="en-US" sz="1800" b="0" u="none" strike="noStrike">
              <a:solidFill>
                <a:schemeClr val="dk1"/>
              </a:solidFill>
              <a:effectLst/>
              <a:uFillTx/>
              <a:latin typeface="Aptos"/>
            </a:endParaRPr>
          </a:p>
        </p:txBody>
      </p:sp>
      <p:sp>
        <p:nvSpPr>
          <p:cNvPr id="7"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ea typeface="Aptos"/>
              </a:defRPr>
            </a:lvl1pPr>
            <a:lvl2pPr lvl="1" algn="l">
              <a:lnSpc>
                <a:spcPct val="90000"/>
              </a:lnSpc>
              <a:spcBef>
                <a:spcPts val="1134"/>
              </a:spcBef>
              <a:buClr>
                <a:srgbClr val="000000"/>
              </a:buClr>
              <a:buSzPct val="75000"/>
              <a:buFont typeface="Symbol"/>
              <a:buChar char=""/>
              <a:defRPr lang="en-US" sz="2000" b="0" u="none" strike="noStrike">
                <a:solidFill>
                  <a:schemeClr val="dk1"/>
                </a:solidFill>
                <a:effectLst/>
                <a:uFillTx/>
                <a:latin typeface="Aptos"/>
                <a:ea typeface="Aptos"/>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ptos"/>
                <a:ea typeface="Aptos"/>
              </a:defRPr>
            </a:lvl3pPr>
            <a:lvl4pPr lvl="3" algn="l">
              <a:lnSpc>
                <a:spcPct val="90000"/>
              </a:lnSpc>
              <a:spcBef>
                <a:spcPts val="567"/>
              </a:spcBef>
              <a:buClr>
                <a:srgbClr val="000000"/>
              </a:buClr>
              <a:buSzPct val="75000"/>
              <a:buFont typeface="Symbol"/>
              <a:buChar char=""/>
              <a:defRPr lang="en-US" sz="1800" b="0" u="none" strike="noStrike">
                <a:solidFill>
                  <a:schemeClr val="dk1"/>
                </a:solidFill>
                <a:effectLst/>
                <a:uFillTx/>
                <a:latin typeface="Aptos"/>
                <a:ea typeface="Aptos"/>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ea typeface="Aptos"/>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ea typeface="Aptos"/>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ea typeface="Aptos"/>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ea typeface="Aptos"/>
              </a:rPr>
              <a:t>Click to edit the outline text format</a:t>
            </a:r>
            <a:endParaRPr lang="en-US" sz="2800" b="0" u="none" strike="noStrike">
              <a:solidFill>
                <a:schemeClr val="dk1"/>
              </a:solidFill>
              <a:effectLst/>
              <a:uFillTx/>
              <a:latin typeface="Aptos"/>
            </a:endParaRPr>
          </a:p>
          <a:p>
            <a:pPr marL="864000" lvl="1" indent="-324000" algn="l">
              <a:lnSpc>
                <a:spcPct val="90000"/>
              </a:lnSpc>
              <a:spcBef>
                <a:spcPts val="1134"/>
              </a:spcBef>
              <a:buClr>
                <a:srgbClr val="000000"/>
              </a:buClr>
              <a:buSzPct val="75000"/>
              <a:buFont typeface="Symbol"/>
              <a:buChar char=""/>
            </a:pPr>
            <a:r>
              <a:rPr lang="en-US" sz="2000" b="0" u="none" strike="noStrike">
                <a:solidFill>
                  <a:schemeClr val="dk1"/>
                </a:solidFill>
                <a:effectLst/>
                <a:uFillTx/>
                <a:latin typeface="Aptos"/>
                <a:ea typeface="Aptos"/>
              </a:rPr>
              <a:t>Second Outline Level</a:t>
            </a:r>
            <a:endParaRPr lang="en-US" sz="2000" b="0" u="none" strike="noStrike">
              <a:solidFill>
                <a:schemeClr val="dk1"/>
              </a:solidFill>
              <a:effectLst/>
              <a:uFillTx/>
              <a:latin typeface="Aptos"/>
            </a:endParaRP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ptos"/>
                <a:ea typeface="Aptos"/>
              </a:rPr>
              <a:t>Third Outline Level</a:t>
            </a:r>
            <a:endParaRPr lang="en-US" sz="1800" b="0" u="none" strike="noStrike">
              <a:solidFill>
                <a:schemeClr val="dk1"/>
              </a:solidFill>
              <a:effectLst/>
              <a:uFillTx/>
              <a:latin typeface="Aptos"/>
            </a:endParaRPr>
          </a:p>
          <a:p>
            <a:pPr marL="1728000" lvl="3" indent="-216000" algn="l">
              <a:lnSpc>
                <a:spcPct val="90000"/>
              </a:lnSpc>
              <a:spcBef>
                <a:spcPts val="567"/>
              </a:spcBef>
              <a:buClr>
                <a:srgbClr val="000000"/>
              </a:buClr>
              <a:buSzPct val="75000"/>
              <a:buFont typeface="Symbol"/>
              <a:buChar char=""/>
            </a:pPr>
            <a:r>
              <a:rPr lang="en-US" sz="1800" b="0" u="none" strike="noStrike">
                <a:solidFill>
                  <a:schemeClr val="dk1"/>
                </a:solidFill>
                <a:effectLst/>
                <a:uFillTx/>
                <a:latin typeface="Aptos"/>
                <a:ea typeface="Aptos"/>
              </a:rPr>
              <a:t>Fourth Outline Level</a:t>
            </a:r>
            <a:endParaRPr lang="en-US" sz="1800" b="0" u="none" strike="noStrike">
              <a:solidFill>
                <a:schemeClr val="dk1"/>
              </a:solidFill>
              <a:effectLst/>
              <a:uFillTx/>
              <a:latin typeface="Aptos"/>
            </a:endParaRP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ea typeface="Aptos"/>
              </a:rPr>
              <a:t>Fifth Outline Level</a:t>
            </a:r>
            <a:endParaRPr lang="en-US" sz="2000" b="0" u="none" strike="noStrike">
              <a:solidFill>
                <a:schemeClr val="dk1"/>
              </a:solidFill>
              <a:effectLst/>
              <a:uFillTx/>
              <a:latin typeface="Aptos"/>
            </a:endParaRP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ea typeface="Aptos"/>
              </a:rPr>
              <a:t>Sixth Outline Level</a:t>
            </a:r>
            <a:endParaRPr lang="en-US" sz="2000" b="0" u="none" strike="noStrike">
              <a:solidFill>
                <a:schemeClr val="dk1"/>
              </a:solidFill>
              <a:effectLst/>
              <a:uFillTx/>
              <a:latin typeface="Aptos"/>
            </a:endParaRP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ea typeface="Aptos"/>
              </a:rPr>
              <a:t>Seventh Outline Level</a:t>
            </a:r>
            <a:endParaRPr lang="en-US" sz="2000" b="0" u="none" strike="noStrike">
              <a:solidFill>
                <a:schemeClr val="dk1"/>
              </a:solidFill>
              <a:effectLst/>
              <a:uFillTx/>
              <a:latin typeface="Apto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Title and Two Column">
    <p:bg>
      <p:bgPr>
        <a:solidFill>
          <a:srgbClr val="FFFFFF"/>
        </a:solidFill>
        <a:effectLst/>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685800" y="533520"/>
            <a:ext cx="10819800" cy="837360"/>
          </a:xfrm>
          <a:prstGeom prst="rect">
            <a:avLst/>
          </a:prstGeom>
          <a:noFill/>
          <a:ln w="0">
            <a:noFill/>
          </a:ln>
        </p:spPr>
        <p:txBody>
          <a:bodyPr lIns="0" tIns="0" rIns="0" bIns="0" anchor="t">
            <a:normAutofit/>
          </a:bodyPr>
          <a:lstStyle>
            <a:lvl1pPr indent="0" algn="l">
              <a:lnSpc>
                <a:spcPct val="100000"/>
              </a:lnSpc>
              <a:buNone/>
              <a:tabLst>
                <a:tab pos="0" algn="l"/>
              </a:tabLst>
              <a:defRPr lang="en-US" sz="3300" b="0" u="none" strike="noStrike">
                <a:solidFill>
                  <a:schemeClr val="dk1"/>
                </a:solidFill>
                <a:effectLst/>
                <a:uFillTx/>
                <a:latin typeface="Aptos"/>
                <a:ea typeface="Aptos"/>
              </a:defRPr>
            </a:lvl1pPr>
          </a:lstStyle>
          <a:p>
            <a:pPr indent="0" algn="l">
              <a:lnSpc>
                <a:spcPct val="100000"/>
              </a:lnSpc>
              <a:buNone/>
              <a:tabLst>
                <a:tab pos="0" algn="l"/>
              </a:tabLst>
            </a:pPr>
            <a:r>
              <a:rPr lang="en-US" sz="3300" b="0" u="none" strike="noStrike">
                <a:solidFill>
                  <a:schemeClr val="dk1"/>
                </a:solidFill>
                <a:effectLst/>
                <a:uFillTx/>
                <a:latin typeface="Aptos"/>
                <a:ea typeface="Aptos"/>
              </a:rPr>
              <a:t>Click to edit the title text format</a:t>
            </a:r>
            <a:endParaRPr lang="en-US" sz="3300" b="0" u="none" strike="noStrike">
              <a:solidFill>
                <a:schemeClr val="dk1"/>
              </a:solidFill>
              <a:effectLst/>
              <a:uFillTx/>
              <a:latin typeface="Aptos"/>
            </a:endParaRPr>
          </a:p>
        </p:txBody>
      </p:sp>
      <p:sp>
        <p:nvSpPr>
          <p:cNvPr id="9" name="PlaceHolder 2"/>
          <p:cNvSpPr>
            <a:spLocks noGrp="1"/>
          </p:cNvSpPr>
          <p:nvPr>
            <p:ph type="body"/>
          </p:nvPr>
        </p:nvSpPr>
        <p:spPr>
          <a:xfrm>
            <a:off x="685800" y="1905120"/>
            <a:ext cx="5028480" cy="426636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100" b="0" u="none" strike="noStrike">
                <a:solidFill>
                  <a:schemeClr val="dk1"/>
                </a:solidFill>
                <a:effectLst/>
                <a:uFillTx/>
                <a:latin typeface="Aptos"/>
                <a:ea typeface="Aptos"/>
              </a:defRPr>
            </a:lvl1pPr>
            <a:lvl2pPr lvl="1" algn="l">
              <a:lnSpc>
                <a:spcPct val="90000"/>
              </a:lnSpc>
              <a:spcBef>
                <a:spcPts val="1134"/>
              </a:spcBef>
              <a:buClr>
                <a:srgbClr val="000000"/>
              </a:buClr>
              <a:buSzPct val="75000"/>
              <a:buFont typeface="Symbol"/>
              <a:buChar char=""/>
              <a:defRPr lang="en-US" sz="2100" b="0" u="none" strike="noStrike">
                <a:solidFill>
                  <a:schemeClr val="dk1"/>
                </a:solidFill>
                <a:effectLst/>
                <a:uFillTx/>
                <a:latin typeface="Aptos"/>
                <a:ea typeface="Aptos"/>
              </a:defRPr>
            </a:lvl2pPr>
            <a:lvl3pPr lvl="2" algn="l">
              <a:lnSpc>
                <a:spcPct val="90000"/>
              </a:lnSpc>
              <a:spcBef>
                <a:spcPts val="850"/>
              </a:spcBef>
              <a:buClr>
                <a:srgbClr val="000000"/>
              </a:buClr>
              <a:buSzPct val="45000"/>
              <a:buFont typeface="Wingdings" charset="2"/>
              <a:buChar char=""/>
              <a:defRPr lang="en-US" sz="2100" b="0" u="none" strike="noStrike">
                <a:solidFill>
                  <a:schemeClr val="dk1"/>
                </a:solidFill>
                <a:effectLst/>
                <a:uFillTx/>
                <a:latin typeface="Aptos"/>
                <a:ea typeface="Aptos"/>
              </a:defRPr>
            </a:lvl3pPr>
            <a:lvl4pPr lvl="3" algn="l">
              <a:lnSpc>
                <a:spcPct val="90000"/>
              </a:lnSpc>
              <a:spcBef>
                <a:spcPts val="567"/>
              </a:spcBef>
              <a:buClr>
                <a:srgbClr val="000000"/>
              </a:buClr>
              <a:buSzPct val="75000"/>
              <a:buFont typeface="Symbol"/>
              <a:buChar char=""/>
              <a:defRPr lang="en-US" sz="2100" b="0" u="none" strike="noStrike">
                <a:solidFill>
                  <a:schemeClr val="dk1"/>
                </a:solidFill>
                <a:effectLst/>
                <a:uFillTx/>
                <a:latin typeface="Aptos"/>
                <a:ea typeface="Aptos"/>
              </a:defRPr>
            </a:lvl4pPr>
            <a:lvl5pPr lvl="4" algn="l">
              <a:lnSpc>
                <a:spcPct val="90000"/>
              </a:lnSpc>
              <a:spcBef>
                <a:spcPts val="283"/>
              </a:spcBef>
              <a:buClr>
                <a:srgbClr val="000000"/>
              </a:buClr>
              <a:buSzPct val="45000"/>
              <a:buFont typeface="Wingdings" charset="2"/>
              <a:buChar char=""/>
              <a:defRPr lang="en-US" sz="2100" b="0" u="none" strike="noStrike">
                <a:solidFill>
                  <a:schemeClr val="dk1"/>
                </a:solidFill>
                <a:effectLst/>
                <a:uFillTx/>
                <a:latin typeface="Aptos"/>
                <a:ea typeface="Aptos"/>
              </a:defRPr>
            </a:lvl5pPr>
            <a:lvl6pPr lvl="5" algn="l">
              <a:lnSpc>
                <a:spcPct val="90000"/>
              </a:lnSpc>
              <a:spcBef>
                <a:spcPts val="283"/>
              </a:spcBef>
              <a:buClr>
                <a:srgbClr val="000000"/>
              </a:buClr>
              <a:buSzPct val="45000"/>
              <a:buFont typeface="Wingdings" charset="2"/>
              <a:buChar char=""/>
              <a:defRPr lang="en-US" sz="2100" b="0" u="none" strike="noStrike">
                <a:solidFill>
                  <a:schemeClr val="dk1"/>
                </a:solidFill>
                <a:effectLst/>
                <a:uFillTx/>
                <a:latin typeface="Aptos"/>
                <a:ea typeface="Aptos"/>
              </a:defRPr>
            </a:lvl6pPr>
            <a:lvl7pPr lvl="6" algn="l">
              <a:lnSpc>
                <a:spcPct val="90000"/>
              </a:lnSpc>
              <a:spcBef>
                <a:spcPts val="283"/>
              </a:spcBef>
              <a:buClr>
                <a:srgbClr val="000000"/>
              </a:buClr>
              <a:buSzPct val="45000"/>
              <a:buFont typeface="Wingdings" charset="2"/>
              <a:buChar char=""/>
              <a:defRPr lang="en-US" sz="2100" b="0" u="none" strike="noStrike">
                <a:solidFill>
                  <a:schemeClr val="dk1"/>
                </a:solidFill>
                <a:effectLst/>
                <a:uFillTx/>
                <a:latin typeface="Aptos"/>
                <a:ea typeface="Aptos"/>
              </a:defRPr>
            </a:lvl7pPr>
          </a:lstStyle>
          <a:p>
            <a:pPr marL="228600" indent="-228600" algn="l">
              <a:lnSpc>
                <a:spcPct val="90000"/>
              </a:lnSpc>
              <a:spcBef>
                <a:spcPts val="1417"/>
              </a:spcBef>
              <a:buClr>
                <a:srgbClr val="000000"/>
              </a:buClr>
              <a:buSzPct val="45000"/>
              <a:buFont typeface="Wingdings" charset="2"/>
              <a:buChar char=""/>
            </a:pPr>
            <a:r>
              <a:rPr lang="en-US" sz="2100" b="0" u="none" strike="noStrike">
                <a:solidFill>
                  <a:schemeClr val="dk1"/>
                </a:solidFill>
                <a:effectLst/>
                <a:uFillTx/>
                <a:latin typeface="Aptos"/>
                <a:ea typeface="Aptos"/>
              </a:rPr>
              <a:t>Click to edit the outline text format</a:t>
            </a:r>
            <a:endParaRPr lang="en-US" sz="2100" b="0" u="none" strike="noStrike">
              <a:solidFill>
                <a:schemeClr val="dk1"/>
              </a:solidFill>
              <a:effectLst/>
              <a:uFillTx/>
              <a:latin typeface="Aptos"/>
            </a:endParaRPr>
          </a:p>
          <a:p>
            <a:pPr marL="533520" lvl="1" indent="-228600" algn="l">
              <a:lnSpc>
                <a:spcPct val="90000"/>
              </a:lnSpc>
              <a:spcBef>
                <a:spcPts val="1134"/>
              </a:spcBef>
              <a:buClr>
                <a:srgbClr val="000000"/>
              </a:buClr>
              <a:buSzPct val="75000"/>
              <a:buFont typeface="Symbol"/>
              <a:buChar char=""/>
            </a:pPr>
            <a:r>
              <a:rPr lang="en-US" sz="2100" b="0" u="none" strike="noStrike">
                <a:solidFill>
                  <a:schemeClr val="dk1"/>
                </a:solidFill>
                <a:effectLst/>
                <a:uFillTx/>
                <a:latin typeface="Aptos"/>
                <a:ea typeface="Aptos"/>
              </a:rPr>
              <a:t>Second Outline Level</a:t>
            </a:r>
            <a:endParaRPr lang="en-US" sz="2100" b="0" u="none" strike="noStrike">
              <a:solidFill>
                <a:schemeClr val="dk1"/>
              </a:solidFill>
              <a:effectLst/>
              <a:uFillTx/>
              <a:latin typeface="Aptos"/>
            </a:endParaRPr>
          </a:p>
          <a:p>
            <a:pPr marL="838080" lvl="2" indent="-228600" algn="l">
              <a:lnSpc>
                <a:spcPct val="90000"/>
              </a:lnSpc>
              <a:spcBef>
                <a:spcPts val="850"/>
              </a:spcBef>
              <a:buClr>
                <a:srgbClr val="000000"/>
              </a:buClr>
              <a:buSzPct val="45000"/>
              <a:buFont typeface="Wingdings" charset="2"/>
              <a:buChar char=""/>
            </a:pPr>
            <a:r>
              <a:rPr lang="en-US" sz="2100" b="0" u="none" strike="noStrike">
                <a:solidFill>
                  <a:schemeClr val="dk1"/>
                </a:solidFill>
                <a:effectLst/>
                <a:uFillTx/>
                <a:latin typeface="Aptos"/>
                <a:ea typeface="Aptos"/>
              </a:rPr>
              <a:t>Third Outline Level</a:t>
            </a:r>
            <a:endParaRPr lang="en-US" sz="2100" b="0" u="none" strike="noStrike">
              <a:solidFill>
                <a:schemeClr val="dk1"/>
              </a:solidFill>
              <a:effectLst/>
              <a:uFillTx/>
              <a:latin typeface="Aptos"/>
            </a:endParaRPr>
          </a:p>
          <a:p>
            <a:pPr marL="1143000" lvl="3" indent="-228600" algn="l">
              <a:lnSpc>
                <a:spcPct val="90000"/>
              </a:lnSpc>
              <a:spcBef>
                <a:spcPts val="567"/>
              </a:spcBef>
              <a:buClr>
                <a:srgbClr val="000000"/>
              </a:buClr>
              <a:buSzPct val="75000"/>
              <a:buFont typeface="Symbol"/>
              <a:buChar char=""/>
            </a:pPr>
            <a:r>
              <a:rPr lang="en-US" sz="2100" b="0" u="none" strike="noStrike">
                <a:solidFill>
                  <a:schemeClr val="dk1"/>
                </a:solidFill>
                <a:effectLst/>
                <a:uFillTx/>
                <a:latin typeface="Aptos"/>
                <a:ea typeface="Aptos"/>
              </a:rPr>
              <a:t>Fourth Outline Level</a:t>
            </a:r>
            <a:endParaRPr lang="en-US" sz="2100" b="0" u="none" strike="noStrike">
              <a:solidFill>
                <a:schemeClr val="dk1"/>
              </a:solidFill>
              <a:effectLst/>
              <a:uFillTx/>
              <a:latin typeface="Aptos"/>
            </a:endParaRPr>
          </a:p>
          <a:p>
            <a:pPr marL="1447920" lvl="4" indent="-228600" algn="l">
              <a:lnSpc>
                <a:spcPct val="90000"/>
              </a:lnSpc>
              <a:spcBef>
                <a:spcPts val="283"/>
              </a:spcBef>
              <a:buClr>
                <a:srgbClr val="000000"/>
              </a:buClr>
              <a:buSzPct val="45000"/>
              <a:buFont typeface="Wingdings" charset="2"/>
              <a:buChar char=""/>
            </a:pPr>
            <a:r>
              <a:rPr lang="en-US" sz="2100" b="0" u="none" strike="noStrike">
                <a:solidFill>
                  <a:schemeClr val="dk1"/>
                </a:solidFill>
                <a:effectLst/>
                <a:uFillTx/>
                <a:latin typeface="Aptos"/>
                <a:ea typeface="Aptos"/>
              </a:rPr>
              <a:t>Fifth Outline Level</a:t>
            </a:r>
            <a:endParaRPr lang="en-US" sz="2100" b="0" u="none" strike="noStrike">
              <a:solidFill>
                <a:schemeClr val="dk1"/>
              </a:solidFill>
              <a:effectLst/>
              <a:uFillTx/>
              <a:latin typeface="Aptos"/>
            </a:endParaRPr>
          </a:p>
          <a:p>
            <a:pPr marL="1752480" lvl="5" indent="-228600" algn="l">
              <a:lnSpc>
                <a:spcPct val="90000"/>
              </a:lnSpc>
              <a:spcBef>
                <a:spcPts val="283"/>
              </a:spcBef>
              <a:buClr>
                <a:srgbClr val="000000"/>
              </a:buClr>
              <a:buSzPct val="45000"/>
              <a:buFont typeface="Wingdings" charset="2"/>
              <a:buChar char=""/>
            </a:pPr>
            <a:r>
              <a:rPr lang="en-US" sz="2100" b="0" u="none" strike="noStrike">
                <a:solidFill>
                  <a:schemeClr val="dk1"/>
                </a:solidFill>
                <a:effectLst/>
                <a:uFillTx/>
                <a:latin typeface="Aptos"/>
                <a:ea typeface="Aptos"/>
              </a:rPr>
              <a:t>Sixth Outline Level</a:t>
            </a:r>
            <a:endParaRPr lang="en-US" sz="2100" b="0" u="none" strike="noStrike">
              <a:solidFill>
                <a:schemeClr val="dk1"/>
              </a:solidFill>
              <a:effectLst/>
              <a:uFillTx/>
              <a:latin typeface="Aptos"/>
            </a:endParaRPr>
          </a:p>
          <a:p>
            <a:pPr marL="2057400" lvl="6" indent="-228600" algn="l">
              <a:lnSpc>
                <a:spcPct val="90000"/>
              </a:lnSpc>
              <a:spcBef>
                <a:spcPts val="283"/>
              </a:spcBef>
              <a:buClr>
                <a:srgbClr val="000000"/>
              </a:buClr>
              <a:buSzPct val="45000"/>
              <a:buFont typeface="Wingdings" charset="2"/>
              <a:buChar char=""/>
            </a:pPr>
            <a:r>
              <a:rPr lang="en-US" sz="2100" b="0" u="none" strike="noStrike">
                <a:solidFill>
                  <a:schemeClr val="dk1"/>
                </a:solidFill>
                <a:effectLst/>
                <a:uFillTx/>
                <a:latin typeface="Aptos"/>
                <a:ea typeface="Aptos"/>
              </a:rPr>
              <a:t>Seventh Outline Level</a:t>
            </a:r>
            <a:endParaRPr lang="en-US" sz="2100" b="0" u="none" strike="noStrike">
              <a:solidFill>
                <a:schemeClr val="dk1"/>
              </a:solidFill>
              <a:effectLst/>
              <a:uFillTx/>
              <a:latin typeface="Aptos"/>
            </a:endParaRPr>
          </a:p>
        </p:txBody>
      </p:sp>
      <p:sp>
        <p:nvSpPr>
          <p:cNvPr id="10" name="PlaceHolder 3"/>
          <p:cNvSpPr>
            <a:spLocks noGrp="1"/>
          </p:cNvSpPr>
          <p:nvPr>
            <p:ph type="body"/>
          </p:nvPr>
        </p:nvSpPr>
        <p:spPr>
          <a:xfrm>
            <a:off x="6477120" y="1905120"/>
            <a:ext cx="5028480" cy="426636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100" b="0" u="none" strike="noStrike">
                <a:solidFill>
                  <a:schemeClr val="dk1"/>
                </a:solidFill>
                <a:effectLst/>
                <a:uFillTx/>
                <a:latin typeface="Aptos"/>
                <a:ea typeface="Aptos"/>
              </a:defRPr>
            </a:lvl1pPr>
            <a:lvl2pPr lvl="1" algn="l">
              <a:lnSpc>
                <a:spcPct val="90000"/>
              </a:lnSpc>
              <a:spcBef>
                <a:spcPts val="1134"/>
              </a:spcBef>
              <a:buClr>
                <a:srgbClr val="000000"/>
              </a:buClr>
              <a:buSzPct val="75000"/>
              <a:buFont typeface="Symbol"/>
              <a:buChar char=""/>
              <a:defRPr lang="en-US" sz="2100" b="0" u="none" strike="noStrike">
                <a:solidFill>
                  <a:schemeClr val="dk1"/>
                </a:solidFill>
                <a:effectLst/>
                <a:uFillTx/>
                <a:latin typeface="Aptos"/>
                <a:ea typeface="Aptos"/>
              </a:defRPr>
            </a:lvl2pPr>
            <a:lvl3pPr lvl="2" algn="l">
              <a:lnSpc>
                <a:spcPct val="90000"/>
              </a:lnSpc>
              <a:spcBef>
                <a:spcPts val="850"/>
              </a:spcBef>
              <a:buClr>
                <a:srgbClr val="000000"/>
              </a:buClr>
              <a:buSzPct val="45000"/>
              <a:buFont typeface="Wingdings" charset="2"/>
              <a:buChar char=""/>
              <a:defRPr lang="en-US" sz="2100" b="0" u="none" strike="noStrike">
                <a:solidFill>
                  <a:schemeClr val="dk1"/>
                </a:solidFill>
                <a:effectLst/>
                <a:uFillTx/>
                <a:latin typeface="Aptos"/>
                <a:ea typeface="Aptos"/>
              </a:defRPr>
            </a:lvl3pPr>
            <a:lvl4pPr lvl="3" algn="l">
              <a:lnSpc>
                <a:spcPct val="90000"/>
              </a:lnSpc>
              <a:spcBef>
                <a:spcPts val="567"/>
              </a:spcBef>
              <a:buClr>
                <a:srgbClr val="000000"/>
              </a:buClr>
              <a:buSzPct val="75000"/>
              <a:buFont typeface="Symbol"/>
              <a:buChar char=""/>
              <a:defRPr lang="en-US" sz="2100" b="0" u="none" strike="noStrike">
                <a:solidFill>
                  <a:schemeClr val="dk1"/>
                </a:solidFill>
                <a:effectLst/>
                <a:uFillTx/>
                <a:latin typeface="Aptos"/>
                <a:ea typeface="Aptos"/>
              </a:defRPr>
            </a:lvl4pPr>
            <a:lvl5pPr lvl="4" algn="l">
              <a:lnSpc>
                <a:spcPct val="90000"/>
              </a:lnSpc>
              <a:spcBef>
                <a:spcPts val="283"/>
              </a:spcBef>
              <a:buClr>
                <a:srgbClr val="000000"/>
              </a:buClr>
              <a:buSzPct val="45000"/>
              <a:buFont typeface="Wingdings" charset="2"/>
              <a:buChar char=""/>
              <a:defRPr lang="en-US" sz="2100" b="0" u="none" strike="noStrike">
                <a:solidFill>
                  <a:schemeClr val="dk1"/>
                </a:solidFill>
                <a:effectLst/>
                <a:uFillTx/>
                <a:latin typeface="Aptos"/>
                <a:ea typeface="Aptos"/>
              </a:defRPr>
            </a:lvl5pPr>
            <a:lvl6pPr lvl="5" algn="l">
              <a:lnSpc>
                <a:spcPct val="90000"/>
              </a:lnSpc>
              <a:spcBef>
                <a:spcPts val="283"/>
              </a:spcBef>
              <a:buClr>
                <a:srgbClr val="000000"/>
              </a:buClr>
              <a:buSzPct val="45000"/>
              <a:buFont typeface="Wingdings" charset="2"/>
              <a:buChar char=""/>
              <a:defRPr lang="en-US" sz="2100" b="0" u="none" strike="noStrike">
                <a:solidFill>
                  <a:schemeClr val="dk1"/>
                </a:solidFill>
                <a:effectLst/>
                <a:uFillTx/>
                <a:latin typeface="Aptos"/>
                <a:ea typeface="Aptos"/>
              </a:defRPr>
            </a:lvl6pPr>
            <a:lvl7pPr lvl="6" algn="l">
              <a:lnSpc>
                <a:spcPct val="90000"/>
              </a:lnSpc>
              <a:spcBef>
                <a:spcPts val="283"/>
              </a:spcBef>
              <a:buClr>
                <a:srgbClr val="000000"/>
              </a:buClr>
              <a:buSzPct val="45000"/>
              <a:buFont typeface="Wingdings" charset="2"/>
              <a:buChar char=""/>
              <a:defRPr lang="en-US" sz="2100" b="0" u="none" strike="noStrike">
                <a:solidFill>
                  <a:schemeClr val="dk1"/>
                </a:solidFill>
                <a:effectLst/>
                <a:uFillTx/>
                <a:latin typeface="Aptos"/>
                <a:ea typeface="Aptos"/>
              </a:defRPr>
            </a:lvl7pPr>
          </a:lstStyle>
          <a:p>
            <a:pPr marL="228600" indent="-228600" algn="l">
              <a:lnSpc>
                <a:spcPct val="90000"/>
              </a:lnSpc>
              <a:spcBef>
                <a:spcPts val="1417"/>
              </a:spcBef>
              <a:buClr>
                <a:srgbClr val="000000"/>
              </a:buClr>
              <a:buSzPct val="45000"/>
              <a:buFont typeface="Wingdings" charset="2"/>
              <a:buChar char=""/>
            </a:pPr>
            <a:r>
              <a:rPr lang="en-US" sz="2100" b="0" u="none" strike="noStrike">
                <a:solidFill>
                  <a:schemeClr val="dk1"/>
                </a:solidFill>
                <a:effectLst/>
                <a:uFillTx/>
                <a:latin typeface="Aptos"/>
                <a:ea typeface="Aptos"/>
              </a:rPr>
              <a:t>Click to edit the outline text format</a:t>
            </a:r>
            <a:endParaRPr lang="en-US" sz="2100" b="0" u="none" strike="noStrike">
              <a:solidFill>
                <a:schemeClr val="dk1"/>
              </a:solidFill>
              <a:effectLst/>
              <a:uFillTx/>
              <a:latin typeface="Aptos"/>
            </a:endParaRPr>
          </a:p>
          <a:p>
            <a:pPr marL="533520" lvl="1" indent="-228600" algn="l">
              <a:lnSpc>
                <a:spcPct val="90000"/>
              </a:lnSpc>
              <a:spcBef>
                <a:spcPts val="1134"/>
              </a:spcBef>
              <a:buClr>
                <a:srgbClr val="000000"/>
              </a:buClr>
              <a:buSzPct val="75000"/>
              <a:buFont typeface="Symbol"/>
              <a:buChar char=""/>
            </a:pPr>
            <a:r>
              <a:rPr lang="en-US" sz="2100" b="0" u="none" strike="noStrike">
                <a:solidFill>
                  <a:schemeClr val="dk1"/>
                </a:solidFill>
                <a:effectLst/>
                <a:uFillTx/>
                <a:latin typeface="Aptos"/>
                <a:ea typeface="Aptos"/>
              </a:rPr>
              <a:t>Second Outline Level</a:t>
            </a:r>
            <a:endParaRPr lang="en-US" sz="2100" b="0" u="none" strike="noStrike">
              <a:solidFill>
                <a:schemeClr val="dk1"/>
              </a:solidFill>
              <a:effectLst/>
              <a:uFillTx/>
              <a:latin typeface="Aptos"/>
            </a:endParaRPr>
          </a:p>
          <a:p>
            <a:pPr marL="838080" lvl="2" indent="-228600" algn="l">
              <a:lnSpc>
                <a:spcPct val="90000"/>
              </a:lnSpc>
              <a:spcBef>
                <a:spcPts val="850"/>
              </a:spcBef>
              <a:buClr>
                <a:srgbClr val="000000"/>
              </a:buClr>
              <a:buSzPct val="45000"/>
              <a:buFont typeface="Wingdings" charset="2"/>
              <a:buChar char=""/>
            </a:pPr>
            <a:r>
              <a:rPr lang="en-US" sz="2100" b="0" u="none" strike="noStrike">
                <a:solidFill>
                  <a:schemeClr val="dk1"/>
                </a:solidFill>
                <a:effectLst/>
                <a:uFillTx/>
                <a:latin typeface="Aptos"/>
                <a:ea typeface="Aptos"/>
              </a:rPr>
              <a:t>Third Outline Level</a:t>
            </a:r>
            <a:endParaRPr lang="en-US" sz="2100" b="0" u="none" strike="noStrike">
              <a:solidFill>
                <a:schemeClr val="dk1"/>
              </a:solidFill>
              <a:effectLst/>
              <a:uFillTx/>
              <a:latin typeface="Aptos"/>
            </a:endParaRPr>
          </a:p>
          <a:p>
            <a:pPr marL="1143000" lvl="3" indent="-228600" algn="l">
              <a:lnSpc>
                <a:spcPct val="90000"/>
              </a:lnSpc>
              <a:spcBef>
                <a:spcPts val="567"/>
              </a:spcBef>
              <a:buClr>
                <a:srgbClr val="000000"/>
              </a:buClr>
              <a:buSzPct val="75000"/>
              <a:buFont typeface="Symbol"/>
              <a:buChar char=""/>
            </a:pPr>
            <a:r>
              <a:rPr lang="en-US" sz="2100" b="0" u="none" strike="noStrike">
                <a:solidFill>
                  <a:schemeClr val="dk1"/>
                </a:solidFill>
                <a:effectLst/>
                <a:uFillTx/>
                <a:latin typeface="Aptos"/>
                <a:ea typeface="Aptos"/>
              </a:rPr>
              <a:t>Fourth Outline Level</a:t>
            </a:r>
            <a:endParaRPr lang="en-US" sz="2100" b="0" u="none" strike="noStrike">
              <a:solidFill>
                <a:schemeClr val="dk1"/>
              </a:solidFill>
              <a:effectLst/>
              <a:uFillTx/>
              <a:latin typeface="Aptos"/>
            </a:endParaRPr>
          </a:p>
          <a:p>
            <a:pPr marL="1447920" lvl="4" indent="-228600" algn="l">
              <a:lnSpc>
                <a:spcPct val="90000"/>
              </a:lnSpc>
              <a:spcBef>
                <a:spcPts val="283"/>
              </a:spcBef>
              <a:buClr>
                <a:srgbClr val="000000"/>
              </a:buClr>
              <a:buSzPct val="45000"/>
              <a:buFont typeface="Wingdings" charset="2"/>
              <a:buChar char=""/>
            </a:pPr>
            <a:r>
              <a:rPr lang="en-US" sz="2100" b="0" u="none" strike="noStrike">
                <a:solidFill>
                  <a:schemeClr val="dk1"/>
                </a:solidFill>
                <a:effectLst/>
                <a:uFillTx/>
                <a:latin typeface="Aptos"/>
                <a:ea typeface="Aptos"/>
              </a:rPr>
              <a:t>Fifth Outline Level</a:t>
            </a:r>
            <a:endParaRPr lang="en-US" sz="2100" b="0" u="none" strike="noStrike">
              <a:solidFill>
                <a:schemeClr val="dk1"/>
              </a:solidFill>
              <a:effectLst/>
              <a:uFillTx/>
              <a:latin typeface="Aptos"/>
            </a:endParaRPr>
          </a:p>
          <a:p>
            <a:pPr marL="1752480" lvl="5" indent="-228600" algn="l">
              <a:lnSpc>
                <a:spcPct val="90000"/>
              </a:lnSpc>
              <a:spcBef>
                <a:spcPts val="283"/>
              </a:spcBef>
              <a:buClr>
                <a:srgbClr val="000000"/>
              </a:buClr>
              <a:buSzPct val="45000"/>
              <a:buFont typeface="Wingdings" charset="2"/>
              <a:buChar char=""/>
            </a:pPr>
            <a:r>
              <a:rPr lang="en-US" sz="2100" b="0" u="none" strike="noStrike">
                <a:solidFill>
                  <a:schemeClr val="dk1"/>
                </a:solidFill>
                <a:effectLst/>
                <a:uFillTx/>
                <a:latin typeface="Aptos"/>
                <a:ea typeface="Aptos"/>
              </a:rPr>
              <a:t>Sixth Outline Level</a:t>
            </a:r>
            <a:endParaRPr lang="en-US" sz="2100" b="0" u="none" strike="noStrike">
              <a:solidFill>
                <a:schemeClr val="dk1"/>
              </a:solidFill>
              <a:effectLst/>
              <a:uFillTx/>
              <a:latin typeface="Aptos"/>
            </a:endParaRPr>
          </a:p>
          <a:p>
            <a:pPr marL="2057400" lvl="6" indent="-228600" algn="l">
              <a:lnSpc>
                <a:spcPct val="90000"/>
              </a:lnSpc>
              <a:spcBef>
                <a:spcPts val="283"/>
              </a:spcBef>
              <a:buClr>
                <a:srgbClr val="000000"/>
              </a:buClr>
              <a:buSzPct val="45000"/>
              <a:buFont typeface="Wingdings" charset="2"/>
              <a:buChar char=""/>
            </a:pPr>
            <a:r>
              <a:rPr lang="en-US" sz="2100" b="0" u="none" strike="noStrike">
                <a:solidFill>
                  <a:schemeClr val="dk1"/>
                </a:solidFill>
                <a:effectLst/>
                <a:uFillTx/>
                <a:latin typeface="Aptos"/>
                <a:ea typeface="Aptos"/>
              </a:rPr>
              <a:t>Seventh Outline Level</a:t>
            </a:r>
            <a:endParaRPr lang="en-US" sz="2100" b="0" u="none" strike="noStrike">
              <a:solidFill>
                <a:schemeClr val="dk1"/>
              </a:solidFill>
              <a:effectLst/>
              <a:uFillTx/>
              <a:latin typeface="Apto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FFFFF"/>
        </a:solidFill>
        <a:effectLst/>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1219320" y="2590920"/>
            <a:ext cx="9752760" cy="990000"/>
          </a:xfrm>
          <a:prstGeom prst="rect">
            <a:avLst/>
          </a:prstGeom>
          <a:noFill/>
          <a:ln w="0">
            <a:noFill/>
          </a:ln>
        </p:spPr>
        <p:txBody>
          <a:bodyPr lIns="0" tIns="0" rIns="0" bIns="0" anchor="ctr">
            <a:normAutofit/>
          </a:bodyPr>
          <a:lstStyle>
            <a:lvl1pPr indent="0" algn="l">
              <a:lnSpc>
                <a:spcPct val="100000"/>
              </a:lnSpc>
              <a:buNone/>
              <a:tabLst>
                <a:tab pos="0" algn="l"/>
              </a:tabLst>
              <a:defRPr lang="en-US" sz="4800" b="0" u="none" strike="noStrike">
                <a:solidFill>
                  <a:schemeClr val="dk1"/>
                </a:solidFill>
                <a:effectLst/>
                <a:uFillTx/>
                <a:latin typeface="Aptos"/>
                <a:ea typeface="Aptos"/>
              </a:defRPr>
            </a:lvl1pPr>
          </a:lstStyle>
          <a:p>
            <a:pPr indent="0" algn="l">
              <a:lnSpc>
                <a:spcPct val="100000"/>
              </a:lnSpc>
              <a:buNone/>
              <a:tabLst>
                <a:tab pos="0" algn="l"/>
              </a:tabLst>
            </a:pPr>
            <a:r>
              <a:rPr lang="en-US" sz="4800" b="0" u="none" strike="noStrike">
                <a:solidFill>
                  <a:schemeClr val="dk1"/>
                </a:solidFill>
                <a:effectLst/>
                <a:uFillTx/>
                <a:latin typeface="Aptos"/>
                <a:ea typeface="Aptos"/>
              </a:rPr>
              <a:t>Click to edit the title text format</a:t>
            </a:r>
            <a:endParaRPr lang="en-US" sz="4800" b="0" u="none" strike="noStrike">
              <a:solidFill>
                <a:schemeClr val="dk1"/>
              </a:solidFill>
              <a:effectLst/>
              <a:uFillTx/>
              <a:latin typeface="Apto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1219320" y="2857680"/>
            <a:ext cx="9752760" cy="1142280"/>
          </a:xfrm>
          <a:prstGeom prst="rect">
            <a:avLst/>
          </a:prstGeom>
          <a:noFill/>
          <a:ln w="0">
            <a:noFill/>
          </a:ln>
        </p:spPr>
        <p:txBody>
          <a:bodyPr lIns="0" tIns="0" rIns="0" bIns="0" anchor="ctr">
            <a:normAutofit/>
          </a:bodyPr>
          <a:lstStyle>
            <a:lvl1pPr indent="0" algn="l">
              <a:lnSpc>
                <a:spcPct val="100000"/>
              </a:lnSpc>
              <a:buNone/>
              <a:tabLst>
                <a:tab pos="0" algn="l"/>
              </a:tabLst>
              <a:defRPr lang="en-US" sz="4200" b="0" u="none" strike="noStrike">
                <a:solidFill>
                  <a:schemeClr val="dk1"/>
                </a:solidFill>
                <a:effectLst/>
                <a:uFillTx/>
                <a:latin typeface="Aptos"/>
                <a:ea typeface="Aptos"/>
              </a:defRPr>
            </a:lvl1pPr>
          </a:lstStyle>
          <a:p>
            <a:pPr indent="0" algn="l">
              <a:lnSpc>
                <a:spcPct val="100000"/>
              </a:lnSpc>
              <a:buNone/>
              <a:tabLst>
                <a:tab pos="0" algn="l"/>
              </a:tabLst>
            </a:pPr>
            <a:r>
              <a:rPr lang="en-US" sz="4200" b="0" u="none" strike="noStrike">
                <a:solidFill>
                  <a:schemeClr val="dk1"/>
                </a:solidFill>
                <a:effectLst/>
                <a:uFillTx/>
                <a:latin typeface="Aptos"/>
                <a:ea typeface="Aptos"/>
              </a:rPr>
              <a:t>Click to edit the title text format</a:t>
            </a:r>
            <a:endParaRPr lang="en-US" sz="4200" b="0" u="none" strike="noStrike">
              <a:solidFill>
                <a:schemeClr val="dk1"/>
              </a:solidFill>
              <a:effectLst/>
              <a:uFillTx/>
              <a:latin typeface="Apto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itle and One Column">
    <p:bg>
      <p:bgPr>
        <a:solidFill>
          <a:srgbClr val="FFFFFF"/>
        </a:solidFill>
        <a:effectLst/>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685800" y="533520"/>
            <a:ext cx="10819800" cy="837360"/>
          </a:xfrm>
          <a:prstGeom prst="rect">
            <a:avLst/>
          </a:prstGeom>
          <a:noFill/>
          <a:ln w="0">
            <a:noFill/>
          </a:ln>
        </p:spPr>
        <p:txBody>
          <a:bodyPr lIns="0" tIns="0" rIns="0" bIns="0" anchor="t">
            <a:normAutofit/>
          </a:bodyPr>
          <a:lstStyle>
            <a:lvl1pPr indent="0" algn="l">
              <a:lnSpc>
                <a:spcPct val="100000"/>
              </a:lnSpc>
              <a:buNone/>
              <a:tabLst>
                <a:tab pos="0" algn="l"/>
              </a:tabLst>
              <a:defRPr lang="en-US" sz="3300" b="0" u="none" strike="noStrike">
                <a:solidFill>
                  <a:schemeClr val="dk1"/>
                </a:solidFill>
                <a:effectLst/>
                <a:uFillTx/>
                <a:latin typeface="Aptos"/>
                <a:ea typeface="Aptos"/>
              </a:defRPr>
            </a:lvl1pPr>
          </a:lstStyle>
          <a:p>
            <a:pPr indent="0" algn="l">
              <a:lnSpc>
                <a:spcPct val="100000"/>
              </a:lnSpc>
              <a:buNone/>
              <a:tabLst>
                <a:tab pos="0" algn="l"/>
              </a:tabLst>
            </a:pPr>
            <a:r>
              <a:rPr lang="en-US" sz="3300" b="0" u="none" strike="noStrike">
                <a:solidFill>
                  <a:schemeClr val="dk1"/>
                </a:solidFill>
                <a:effectLst/>
                <a:uFillTx/>
                <a:latin typeface="Aptos"/>
                <a:ea typeface="Aptos"/>
              </a:rPr>
              <a:t>Click to edit the title text format</a:t>
            </a:r>
            <a:endParaRPr lang="en-US" sz="3300" b="0" u="none" strike="noStrike">
              <a:solidFill>
                <a:schemeClr val="dk1"/>
              </a:solidFill>
              <a:effectLst/>
              <a:uFillTx/>
              <a:latin typeface="Aptos"/>
            </a:endParaRPr>
          </a:p>
        </p:txBody>
      </p:sp>
      <p:sp>
        <p:nvSpPr>
          <p:cNvPr id="14" name="PlaceHolder 2"/>
          <p:cNvSpPr>
            <a:spLocks noGrp="1"/>
          </p:cNvSpPr>
          <p:nvPr>
            <p:ph type="body"/>
          </p:nvPr>
        </p:nvSpPr>
        <p:spPr>
          <a:xfrm>
            <a:off x="685800" y="1905120"/>
            <a:ext cx="5028480" cy="426636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250" b="0" u="none" strike="noStrike">
                <a:solidFill>
                  <a:schemeClr val="dk1"/>
                </a:solidFill>
                <a:effectLst/>
                <a:uFillTx/>
                <a:latin typeface="Aptos"/>
                <a:ea typeface="Aptos"/>
              </a:defRPr>
            </a:lvl1pPr>
            <a:lvl2pPr lvl="1" algn="l">
              <a:lnSpc>
                <a:spcPct val="90000"/>
              </a:lnSpc>
              <a:spcBef>
                <a:spcPts val="1134"/>
              </a:spcBef>
              <a:buClr>
                <a:srgbClr val="000000"/>
              </a:buClr>
              <a:buSzPct val="75000"/>
              <a:buFont typeface="Symbol"/>
              <a:buChar char=""/>
              <a:defRPr lang="en-US" sz="2250" b="0" u="none" strike="noStrike">
                <a:solidFill>
                  <a:schemeClr val="dk1"/>
                </a:solidFill>
                <a:effectLst/>
                <a:uFillTx/>
                <a:latin typeface="Aptos"/>
                <a:ea typeface="Aptos"/>
              </a:defRPr>
            </a:lvl2pPr>
            <a:lvl3pPr lvl="2" algn="l">
              <a:lnSpc>
                <a:spcPct val="90000"/>
              </a:lnSpc>
              <a:spcBef>
                <a:spcPts val="850"/>
              </a:spcBef>
              <a:buClr>
                <a:srgbClr val="000000"/>
              </a:buClr>
              <a:buSzPct val="45000"/>
              <a:buFont typeface="Wingdings" charset="2"/>
              <a:buChar char=""/>
              <a:defRPr lang="en-US" sz="2250" b="0" u="none" strike="noStrike">
                <a:solidFill>
                  <a:schemeClr val="dk1"/>
                </a:solidFill>
                <a:effectLst/>
                <a:uFillTx/>
                <a:latin typeface="Aptos"/>
                <a:ea typeface="Aptos"/>
              </a:defRPr>
            </a:lvl3pPr>
            <a:lvl4pPr lvl="3" algn="l">
              <a:lnSpc>
                <a:spcPct val="90000"/>
              </a:lnSpc>
              <a:spcBef>
                <a:spcPts val="567"/>
              </a:spcBef>
              <a:buClr>
                <a:srgbClr val="000000"/>
              </a:buClr>
              <a:buSzPct val="75000"/>
              <a:buFont typeface="Symbol"/>
              <a:buChar char=""/>
              <a:defRPr lang="en-US" sz="2250" b="0" u="none" strike="noStrike">
                <a:solidFill>
                  <a:schemeClr val="dk1"/>
                </a:solidFill>
                <a:effectLst/>
                <a:uFillTx/>
                <a:latin typeface="Aptos"/>
                <a:ea typeface="Aptos"/>
              </a:defRPr>
            </a:lvl4pPr>
            <a:lvl5pPr lvl="4" algn="l">
              <a:lnSpc>
                <a:spcPct val="90000"/>
              </a:lnSpc>
              <a:spcBef>
                <a:spcPts val="283"/>
              </a:spcBef>
              <a:buClr>
                <a:srgbClr val="000000"/>
              </a:buClr>
              <a:buSzPct val="45000"/>
              <a:buFont typeface="Wingdings" charset="2"/>
              <a:buChar char=""/>
              <a:defRPr lang="en-US" sz="2250" b="0" u="none" strike="noStrike">
                <a:solidFill>
                  <a:schemeClr val="dk1"/>
                </a:solidFill>
                <a:effectLst/>
                <a:uFillTx/>
                <a:latin typeface="Aptos"/>
                <a:ea typeface="Aptos"/>
              </a:defRPr>
            </a:lvl5pPr>
            <a:lvl6pPr lvl="5" algn="l">
              <a:lnSpc>
                <a:spcPct val="90000"/>
              </a:lnSpc>
              <a:spcBef>
                <a:spcPts val="283"/>
              </a:spcBef>
              <a:buClr>
                <a:srgbClr val="000000"/>
              </a:buClr>
              <a:buSzPct val="45000"/>
              <a:buFont typeface="Wingdings" charset="2"/>
              <a:buChar char=""/>
              <a:defRPr lang="en-US" sz="2250" b="0" u="none" strike="noStrike">
                <a:solidFill>
                  <a:schemeClr val="dk1"/>
                </a:solidFill>
                <a:effectLst/>
                <a:uFillTx/>
                <a:latin typeface="Aptos"/>
                <a:ea typeface="Aptos"/>
              </a:defRPr>
            </a:lvl6pPr>
            <a:lvl7pPr lvl="6" algn="l">
              <a:lnSpc>
                <a:spcPct val="90000"/>
              </a:lnSpc>
              <a:spcBef>
                <a:spcPts val="283"/>
              </a:spcBef>
              <a:buClr>
                <a:srgbClr val="000000"/>
              </a:buClr>
              <a:buSzPct val="45000"/>
              <a:buFont typeface="Wingdings" charset="2"/>
              <a:buChar char=""/>
              <a:defRPr lang="en-US" sz="2250" b="0" u="none" strike="noStrike">
                <a:solidFill>
                  <a:schemeClr val="dk1"/>
                </a:solidFill>
                <a:effectLst/>
                <a:uFillTx/>
                <a:latin typeface="Aptos"/>
                <a:ea typeface="Aptos"/>
              </a:defRPr>
            </a:lvl7pPr>
          </a:lstStyle>
          <a:p>
            <a:pPr marL="228600" indent="-228600" algn="l">
              <a:lnSpc>
                <a:spcPct val="90000"/>
              </a:lnSpc>
              <a:spcBef>
                <a:spcPts val="1417"/>
              </a:spcBef>
              <a:buClr>
                <a:srgbClr val="000000"/>
              </a:buClr>
              <a:buSzPct val="45000"/>
              <a:buFont typeface="Wingdings" charset="2"/>
              <a:buChar char=""/>
            </a:pPr>
            <a:r>
              <a:rPr lang="en-US" sz="2250" b="0" u="none" strike="noStrike">
                <a:solidFill>
                  <a:schemeClr val="dk1"/>
                </a:solidFill>
                <a:effectLst/>
                <a:uFillTx/>
                <a:latin typeface="Aptos"/>
                <a:ea typeface="Aptos"/>
              </a:rPr>
              <a:t>Click to edit the outline text format</a:t>
            </a:r>
            <a:endParaRPr lang="en-US" sz="2250" b="0" u="none" strike="noStrike">
              <a:solidFill>
                <a:schemeClr val="dk1"/>
              </a:solidFill>
              <a:effectLst/>
              <a:uFillTx/>
              <a:latin typeface="Aptos"/>
            </a:endParaRPr>
          </a:p>
          <a:p>
            <a:pPr marL="533520" lvl="1" indent="-228600" algn="l">
              <a:lnSpc>
                <a:spcPct val="90000"/>
              </a:lnSpc>
              <a:spcBef>
                <a:spcPts val="1134"/>
              </a:spcBef>
              <a:buClr>
                <a:srgbClr val="000000"/>
              </a:buClr>
              <a:buSzPct val="75000"/>
              <a:buFont typeface="Symbol"/>
              <a:buChar char=""/>
            </a:pPr>
            <a:r>
              <a:rPr lang="en-US" sz="2250" b="0" u="none" strike="noStrike">
                <a:solidFill>
                  <a:schemeClr val="dk1"/>
                </a:solidFill>
                <a:effectLst/>
                <a:uFillTx/>
                <a:latin typeface="Aptos"/>
                <a:ea typeface="Aptos"/>
              </a:rPr>
              <a:t>Second Outline Level</a:t>
            </a:r>
            <a:endParaRPr lang="en-US" sz="2250" b="0" u="none" strike="noStrike">
              <a:solidFill>
                <a:schemeClr val="dk1"/>
              </a:solidFill>
              <a:effectLst/>
              <a:uFillTx/>
              <a:latin typeface="Aptos"/>
            </a:endParaRPr>
          </a:p>
          <a:p>
            <a:pPr marL="838080" lvl="2" indent="-228600" algn="l">
              <a:lnSpc>
                <a:spcPct val="90000"/>
              </a:lnSpc>
              <a:spcBef>
                <a:spcPts val="850"/>
              </a:spcBef>
              <a:buClr>
                <a:srgbClr val="000000"/>
              </a:buClr>
              <a:buSzPct val="45000"/>
              <a:buFont typeface="Wingdings" charset="2"/>
              <a:buChar char=""/>
            </a:pPr>
            <a:r>
              <a:rPr lang="en-US" sz="2250" b="0" u="none" strike="noStrike">
                <a:solidFill>
                  <a:schemeClr val="dk1"/>
                </a:solidFill>
                <a:effectLst/>
                <a:uFillTx/>
                <a:latin typeface="Aptos"/>
                <a:ea typeface="Aptos"/>
              </a:rPr>
              <a:t>Third Outline Level</a:t>
            </a:r>
            <a:endParaRPr lang="en-US" sz="2250" b="0" u="none" strike="noStrike">
              <a:solidFill>
                <a:schemeClr val="dk1"/>
              </a:solidFill>
              <a:effectLst/>
              <a:uFillTx/>
              <a:latin typeface="Aptos"/>
            </a:endParaRPr>
          </a:p>
          <a:p>
            <a:pPr marL="1143000" lvl="3" indent="-228600" algn="l">
              <a:lnSpc>
                <a:spcPct val="90000"/>
              </a:lnSpc>
              <a:spcBef>
                <a:spcPts val="567"/>
              </a:spcBef>
              <a:buClr>
                <a:srgbClr val="000000"/>
              </a:buClr>
              <a:buSzPct val="75000"/>
              <a:buFont typeface="Symbol"/>
              <a:buChar char=""/>
            </a:pPr>
            <a:r>
              <a:rPr lang="en-US" sz="2250" b="0" u="none" strike="noStrike">
                <a:solidFill>
                  <a:schemeClr val="dk1"/>
                </a:solidFill>
                <a:effectLst/>
                <a:uFillTx/>
                <a:latin typeface="Aptos"/>
                <a:ea typeface="Aptos"/>
              </a:rPr>
              <a:t>Fourth Outline Level</a:t>
            </a:r>
            <a:endParaRPr lang="en-US" sz="2250" b="0" u="none" strike="noStrike">
              <a:solidFill>
                <a:schemeClr val="dk1"/>
              </a:solidFill>
              <a:effectLst/>
              <a:uFillTx/>
              <a:latin typeface="Aptos"/>
            </a:endParaRPr>
          </a:p>
          <a:p>
            <a:pPr marL="1447920" lvl="4" indent="-228600" algn="l">
              <a:lnSpc>
                <a:spcPct val="90000"/>
              </a:lnSpc>
              <a:spcBef>
                <a:spcPts val="283"/>
              </a:spcBef>
              <a:buClr>
                <a:srgbClr val="000000"/>
              </a:buClr>
              <a:buSzPct val="45000"/>
              <a:buFont typeface="Wingdings" charset="2"/>
              <a:buChar char=""/>
            </a:pPr>
            <a:r>
              <a:rPr lang="en-US" sz="2250" b="0" u="none" strike="noStrike">
                <a:solidFill>
                  <a:schemeClr val="dk1"/>
                </a:solidFill>
                <a:effectLst/>
                <a:uFillTx/>
                <a:latin typeface="Aptos"/>
                <a:ea typeface="Aptos"/>
              </a:rPr>
              <a:t>Fifth Outline Level</a:t>
            </a:r>
            <a:endParaRPr lang="en-US" sz="2250" b="0" u="none" strike="noStrike">
              <a:solidFill>
                <a:schemeClr val="dk1"/>
              </a:solidFill>
              <a:effectLst/>
              <a:uFillTx/>
              <a:latin typeface="Aptos"/>
            </a:endParaRPr>
          </a:p>
          <a:p>
            <a:pPr marL="1752480" lvl="5" indent="-228600" algn="l">
              <a:lnSpc>
                <a:spcPct val="90000"/>
              </a:lnSpc>
              <a:spcBef>
                <a:spcPts val="283"/>
              </a:spcBef>
              <a:buClr>
                <a:srgbClr val="000000"/>
              </a:buClr>
              <a:buSzPct val="45000"/>
              <a:buFont typeface="Wingdings" charset="2"/>
              <a:buChar char=""/>
            </a:pPr>
            <a:r>
              <a:rPr lang="en-US" sz="2250" b="0" u="none" strike="noStrike">
                <a:solidFill>
                  <a:schemeClr val="dk1"/>
                </a:solidFill>
                <a:effectLst/>
                <a:uFillTx/>
                <a:latin typeface="Aptos"/>
                <a:ea typeface="Aptos"/>
              </a:rPr>
              <a:t>Sixth Outline Level</a:t>
            </a:r>
            <a:endParaRPr lang="en-US" sz="2250" b="0" u="none" strike="noStrike">
              <a:solidFill>
                <a:schemeClr val="dk1"/>
              </a:solidFill>
              <a:effectLst/>
              <a:uFillTx/>
              <a:latin typeface="Aptos"/>
            </a:endParaRPr>
          </a:p>
          <a:p>
            <a:pPr marL="2057400" lvl="6" indent="-228600" algn="l">
              <a:lnSpc>
                <a:spcPct val="90000"/>
              </a:lnSpc>
              <a:spcBef>
                <a:spcPts val="283"/>
              </a:spcBef>
              <a:buClr>
                <a:srgbClr val="000000"/>
              </a:buClr>
              <a:buSzPct val="45000"/>
              <a:buFont typeface="Wingdings" charset="2"/>
              <a:buChar char=""/>
            </a:pPr>
            <a:r>
              <a:rPr lang="en-US" sz="2250" b="0" u="none" strike="noStrike">
                <a:solidFill>
                  <a:schemeClr val="dk1"/>
                </a:solidFill>
                <a:effectLst/>
                <a:uFillTx/>
                <a:latin typeface="Aptos"/>
                <a:ea typeface="Aptos"/>
              </a:rPr>
              <a:t>Seventh Outline Level</a:t>
            </a:r>
            <a:endParaRPr lang="en-US" sz="2250" b="0" u="none" strike="noStrike">
              <a:solidFill>
                <a:schemeClr val="dk1"/>
              </a:solidFill>
              <a:effectLst/>
              <a:uFillTx/>
              <a:latin typeface="Aptos"/>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effectLst/>
                <a:uFillTx/>
                <a:latin typeface="Calibri"/>
              </a:defRPr>
            </a:lvl1pPr>
          </a:lstStyle>
          <a:p>
            <a:pPr indent="0" algn="l">
              <a:buNone/>
              <a:tabLst>
                <a:tab pos="0" algn="l"/>
              </a:tabLst>
            </a:pPr>
            <a:r>
              <a:rPr lang="en-US" sz="1800" b="0" u="none" strike="noStrike">
                <a:solidFill>
                  <a:schemeClr val="dk1"/>
                </a:solidFill>
                <a:effectLst/>
                <a:uFillTx/>
                <a:latin typeface="Calibri"/>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22A"/>
        </a:solidFill>
        <a:effectLst/>
      </p:bgPr>
    </p:bg>
    <p:spTree>
      <p:nvGrpSpPr>
        <p:cNvPr id="1" name=""/>
        <p:cNvGrpSpPr/>
        <p:nvPr/>
      </p:nvGrpSpPr>
      <p:grpSpPr>
        <a:xfrm>
          <a:off x="0" y="0"/>
          <a:ext cx="0" cy="0"/>
          <a:chOff x="0" y="0"/>
          <a:chExt cx="0" cy="0"/>
        </a:xfrm>
      </p:grpSpPr>
      <p:sp>
        <p:nvSpPr>
          <p:cNvPr id="21" name="Shape 0"/>
          <p:cNvSpPr/>
          <p:nvPr/>
        </p:nvSpPr>
        <p:spPr>
          <a:xfrm rot="1200000">
            <a:off x="8778240" y="-1096560"/>
            <a:ext cx="5485680" cy="9143280"/>
          </a:xfrm>
          <a:prstGeom prst="rect">
            <a:avLst/>
          </a:prstGeom>
          <a:solidFill>
            <a:srgbClr val="1B2A3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2" name="Text 1"/>
          <p:cNvSpPr/>
          <p:nvPr/>
        </p:nvSpPr>
        <p:spPr>
          <a:xfrm>
            <a:off x="621720" y="1234440"/>
            <a:ext cx="8686080" cy="159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5000"/>
              </a:lnSpc>
              <a:tabLst>
                <a:tab pos="0" algn="l"/>
              </a:tabLst>
            </a:pPr>
            <a:r>
              <a:rPr lang="en-US" sz="4000" b="1" u="none" strike="noStrike">
                <a:solidFill>
                  <a:srgbClr val="FFFFFF"/>
                </a:solidFill>
                <a:effectLst/>
                <a:uFillTx/>
                <a:latin typeface="Georgia"/>
                <a:ea typeface="Georgia"/>
              </a:rPr>
              <a:t>Learning an Interpretable</a:t>
            </a:r>
            <a:endParaRPr lang="en-US" sz="4000" b="0" u="none" strike="noStrike">
              <a:solidFill>
                <a:srgbClr val="FFFFFF"/>
              </a:solidFill>
              <a:effectLst/>
              <a:uFillTx/>
              <a:latin typeface="Arial"/>
            </a:endParaRPr>
          </a:p>
          <a:p>
            <a:pPr defTabSz="914400">
              <a:lnSpc>
                <a:spcPct val="105000"/>
              </a:lnSpc>
              <a:tabLst>
                <a:tab pos="0" algn="l"/>
              </a:tabLst>
            </a:pPr>
            <a:r>
              <a:rPr lang="en-US" sz="4000" b="1" u="none" strike="noStrike">
                <a:solidFill>
                  <a:srgbClr val="FFFFFF"/>
                </a:solidFill>
                <a:effectLst/>
                <a:uFillTx/>
                <a:latin typeface="Georgia"/>
                <a:ea typeface="Georgia"/>
              </a:rPr>
              <a:t>Traffic Signal Control Policy</a:t>
            </a:r>
            <a:endParaRPr lang="en-US" sz="4000" b="0" u="none" strike="noStrike">
              <a:solidFill>
                <a:srgbClr val="FFFFFF"/>
              </a:solidFill>
              <a:effectLst/>
              <a:uFillTx/>
              <a:latin typeface="Arial"/>
            </a:endParaRPr>
          </a:p>
        </p:txBody>
      </p:sp>
      <p:sp>
        <p:nvSpPr>
          <p:cNvPr id="23" name="Text 2"/>
          <p:cNvSpPr/>
          <p:nvPr/>
        </p:nvSpPr>
        <p:spPr>
          <a:xfrm>
            <a:off x="621720" y="2880360"/>
            <a:ext cx="73144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0" u="none" strike="noStrike">
                <a:solidFill>
                  <a:srgbClr val="107C41"/>
                </a:solidFill>
                <a:effectLst/>
                <a:uFillTx/>
                <a:latin typeface="Calibri"/>
                <a:ea typeface="Calibri"/>
              </a:rPr>
              <a:t>Deep Reinforcement Learning Assignment-1</a:t>
            </a:r>
            <a:endParaRPr lang="en-US" sz="1700" b="0" u="none" strike="noStrike">
              <a:solidFill>
                <a:srgbClr val="FFFFFF"/>
              </a:solidFill>
              <a:effectLst/>
              <a:uFillTx/>
              <a:latin typeface="Arial"/>
            </a:endParaRPr>
          </a:p>
        </p:txBody>
      </p:sp>
      <p:sp>
        <p:nvSpPr>
          <p:cNvPr id="24" name="Text 3"/>
          <p:cNvSpPr/>
          <p:nvPr/>
        </p:nvSpPr>
        <p:spPr>
          <a:xfrm>
            <a:off x="621720" y="3291840"/>
            <a:ext cx="77716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0" i="1" u="none" strike="noStrike">
                <a:solidFill>
                  <a:srgbClr val="9AA5AA"/>
                </a:solidFill>
                <a:effectLst/>
                <a:uFillTx/>
                <a:latin typeface="Calibri"/>
                <a:ea typeface="Calibri"/>
              </a:rPr>
              <a:t>Reference Paper: AAMAS 2020 | James Ault, Josiah P. Hanna, Guni Sharon</a:t>
            </a:r>
            <a:endParaRPr lang="en-US" sz="1250" b="0" u="none" strike="noStrike">
              <a:solidFill>
                <a:srgbClr val="FFFFFF"/>
              </a:solidFill>
              <a:effectLst/>
              <a:uFillTx/>
              <a:latin typeface="Arial"/>
            </a:endParaRPr>
          </a:p>
        </p:txBody>
      </p:sp>
      <p:sp>
        <p:nvSpPr>
          <p:cNvPr id="25" name="Shape 4"/>
          <p:cNvSpPr/>
          <p:nvPr/>
        </p:nvSpPr>
        <p:spPr>
          <a:xfrm>
            <a:off x="621720" y="3977640"/>
            <a:ext cx="5485680" cy="1462320"/>
          </a:xfrm>
          <a:prstGeom prst="roundRect">
            <a:avLst>
              <a:gd name="adj" fmla="val 5000"/>
            </a:avLst>
          </a:prstGeom>
          <a:solidFill>
            <a:srgbClr val="23364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 name="Text 5"/>
          <p:cNvSpPr/>
          <p:nvPr/>
        </p:nvSpPr>
        <p:spPr>
          <a:xfrm>
            <a:off x="621720" y="4114800"/>
            <a:ext cx="54856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07C41"/>
                </a:solidFill>
                <a:effectLst/>
                <a:uFillTx/>
                <a:latin typeface="Calibri"/>
                <a:ea typeface="Calibri"/>
              </a:rPr>
              <a:t>GROUP 87</a:t>
            </a:r>
            <a:endParaRPr lang="en-US" sz="1300" b="0" u="none" strike="noStrike">
              <a:solidFill>
                <a:srgbClr val="FFFFFF"/>
              </a:solidFill>
              <a:effectLst/>
              <a:uFillTx/>
              <a:latin typeface="Arial"/>
            </a:endParaRPr>
          </a:p>
        </p:txBody>
      </p:sp>
      <p:sp>
        <p:nvSpPr>
          <p:cNvPr id="27" name="Text 6"/>
          <p:cNvSpPr/>
          <p:nvPr/>
        </p:nvSpPr>
        <p:spPr>
          <a:xfrm>
            <a:off x="896040" y="4434840"/>
            <a:ext cx="49370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FFFFFF"/>
                </a:solidFill>
                <a:effectLst/>
                <a:uFillTx/>
                <a:latin typeface="Calibri"/>
                <a:ea typeface="Calibri"/>
              </a:rPr>
              <a:t>CONTRIBUTORS &amp; BITS ID PANEL:</a:t>
            </a:r>
            <a:endParaRPr lang="en-US" sz="1200" b="0" u="none" strike="noStrike">
              <a:solidFill>
                <a:srgbClr val="FFFFFF"/>
              </a:solidFill>
              <a:effectLst/>
              <a:uFillTx/>
              <a:latin typeface="Arial"/>
            </a:endParaRPr>
          </a:p>
        </p:txBody>
      </p:sp>
      <p:sp>
        <p:nvSpPr>
          <p:cNvPr id="28" name="Text 7"/>
          <p:cNvSpPr/>
          <p:nvPr/>
        </p:nvSpPr>
        <p:spPr>
          <a:xfrm>
            <a:off x="896040" y="4709160"/>
            <a:ext cx="493704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20000"/>
              </a:lnSpc>
              <a:tabLst>
                <a:tab pos="0" algn="l"/>
              </a:tabLst>
            </a:pPr>
            <a:r>
              <a:rPr lang="en-US" sz="1150" b="0" u="none" strike="noStrike" dirty="0">
                <a:solidFill>
                  <a:srgbClr val="D6DADB"/>
                </a:solidFill>
                <a:effectLst/>
                <a:uFillTx/>
                <a:latin typeface="Calibri"/>
                <a:ea typeface="Calibri"/>
              </a:rPr>
              <a:t>1. BUDHDI PRAKASH SHARMA   (BITS ID: 2025AG05273)</a:t>
            </a:r>
            <a:endParaRPr lang="en-US" sz="1150" b="0" u="none" strike="noStrike" dirty="0">
              <a:solidFill>
                <a:srgbClr val="FFFFFF"/>
              </a:solidFill>
              <a:effectLst/>
              <a:uFillTx/>
              <a:latin typeface="Arial"/>
            </a:endParaRPr>
          </a:p>
          <a:p>
            <a:pPr defTabSz="914400">
              <a:lnSpc>
                <a:spcPct val="100000"/>
              </a:lnSpc>
              <a:tabLst>
                <a:tab pos="0" algn="l"/>
              </a:tabLst>
            </a:pPr>
            <a:r>
              <a:rPr lang="en-US" sz="1150" b="0" u="none" strike="noStrike" dirty="0">
                <a:solidFill>
                  <a:srgbClr val="D6DADB"/>
                </a:solidFill>
                <a:effectLst/>
                <a:uFillTx/>
                <a:latin typeface="Calibri"/>
                <a:ea typeface="Calibri"/>
              </a:rPr>
              <a:t>2. SUMEET KULKARNI   (BITS ID: 2025AG05175)</a:t>
            </a:r>
          </a:p>
          <a:p>
            <a:pPr defTabSz="914400">
              <a:lnSpc>
                <a:spcPct val="100000"/>
              </a:lnSpc>
              <a:tabLst>
                <a:tab pos="0" algn="l"/>
              </a:tabLst>
            </a:pPr>
            <a:r>
              <a:rPr lang="en-US" sz="1150" dirty="0">
                <a:solidFill>
                  <a:srgbClr val="D6DADB"/>
                </a:solidFill>
                <a:latin typeface="Calibri"/>
                <a:ea typeface="Calibri"/>
              </a:rPr>
              <a:t>3. KOLLU HARSHA VARDHAN (BITS ID: 2025AG05287)</a:t>
            </a:r>
          </a:p>
          <a:p>
            <a:pPr>
              <a:tabLst>
                <a:tab pos="0" algn="l"/>
              </a:tabLst>
            </a:pPr>
            <a:r>
              <a:rPr lang="en-US" sz="1150" b="0" u="none" strike="noStrike" dirty="0">
                <a:solidFill>
                  <a:srgbClr val="D6DADB"/>
                </a:solidFill>
                <a:effectLst/>
                <a:uFillTx/>
                <a:latin typeface="Calibri"/>
                <a:ea typeface="Calibri"/>
              </a:rPr>
              <a:t>4. HARSHVARDHAN KUMAR </a:t>
            </a:r>
            <a:r>
              <a:rPr lang="en-US" sz="1150" dirty="0">
                <a:solidFill>
                  <a:srgbClr val="D6DADB"/>
                </a:solidFill>
                <a:ea typeface="Calibri"/>
              </a:rPr>
              <a:t>(BITS ID: 2025AE05600)</a:t>
            </a:r>
            <a:endParaRPr lang="en-US" sz="1150" b="0" u="none" strike="noStrike" dirty="0">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29" name="Text 0"/>
          <p:cNvSpPr/>
          <p:nvPr/>
        </p:nvSpPr>
        <p:spPr>
          <a:xfrm>
            <a:off x="457200" y="292680"/>
            <a:ext cx="1127376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0" u="none" strike="noStrike">
                <a:solidFill>
                  <a:srgbClr val="192A30"/>
                </a:solidFill>
                <a:effectLst/>
                <a:uFillTx/>
                <a:latin typeface="Calibri"/>
                <a:ea typeface="Calibri"/>
              </a:rPr>
              <a:t>Why This Problem Matters</a:t>
            </a:r>
            <a:endParaRPr lang="en-US" sz="2200" b="0" u="none" strike="noStrike">
              <a:solidFill>
                <a:srgbClr val="000000"/>
              </a:solidFill>
              <a:effectLst/>
              <a:uFillTx/>
              <a:latin typeface="Arial"/>
            </a:endParaRPr>
          </a:p>
        </p:txBody>
      </p:sp>
      <p:sp>
        <p:nvSpPr>
          <p:cNvPr id="30" name="Text 1"/>
          <p:cNvSpPr/>
          <p:nvPr/>
        </p:nvSpPr>
        <p:spPr>
          <a:xfrm>
            <a:off x="457200" y="713160"/>
            <a:ext cx="1127376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192A30"/>
                </a:solidFill>
                <a:effectLst/>
                <a:uFillTx/>
                <a:latin typeface="Calibri"/>
                <a:ea typeface="Calibri"/>
              </a:rPr>
              <a:t>PROBLEM &amp; MOTIVATION</a:t>
            </a:r>
            <a:endParaRPr lang="en-US" sz="1300" b="0" u="none" strike="noStrike">
              <a:solidFill>
                <a:srgbClr val="000000"/>
              </a:solidFill>
              <a:effectLst/>
              <a:uFillTx/>
              <a:latin typeface="Arial"/>
            </a:endParaRPr>
          </a:p>
        </p:txBody>
      </p:sp>
      <p:sp>
        <p:nvSpPr>
          <p:cNvPr id="31" name="Shape 2"/>
          <p:cNvSpPr/>
          <p:nvPr/>
        </p:nvSpPr>
        <p:spPr>
          <a:xfrm>
            <a:off x="457200" y="1600200"/>
            <a:ext cx="5211360" cy="4205520"/>
          </a:xfrm>
          <a:prstGeom prst="roundRect">
            <a:avLst>
              <a:gd name="adj" fmla="val 2609"/>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2" name="Shape 3"/>
          <p:cNvSpPr/>
          <p:nvPr/>
        </p:nvSpPr>
        <p:spPr>
          <a:xfrm>
            <a:off x="658440" y="1801440"/>
            <a:ext cx="346680" cy="34668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3" name="Text 4"/>
          <p:cNvSpPr/>
          <p:nvPr/>
        </p:nvSpPr>
        <p:spPr>
          <a:xfrm>
            <a:off x="658440" y="18014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34" name="Text 5"/>
          <p:cNvSpPr/>
          <p:nvPr/>
        </p:nvSpPr>
        <p:spPr>
          <a:xfrm>
            <a:off x="1115640" y="1783080"/>
            <a:ext cx="4388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92A30"/>
                </a:solidFill>
                <a:effectLst/>
                <a:uFillTx/>
                <a:latin typeface="Calibri"/>
                <a:ea typeface="Calibri"/>
              </a:rPr>
              <a:t>Why Optimize Traffic Signals</a:t>
            </a:r>
            <a:endParaRPr lang="en-US" sz="1300" b="0" u="none" strike="noStrike">
              <a:solidFill>
                <a:srgbClr val="000000"/>
              </a:solidFill>
              <a:effectLst/>
              <a:uFillTx/>
              <a:latin typeface="Arial"/>
            </a:endParaRPr>
          </a:p>
        </p:txBody>
      </p:sp>
      <p:sp>
        <p:nvSpPr>
          <p:cNvPr id="35" name="Text 6"/>
          <p:cNvSpPr/>
          <p:nvPr/>
        </p:nvSpPr>
        <p:spPr>
          <a:xfrm>
            <a:off x="749880" y="2377440"/>
            <a:ext cx="4617000" cy="329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Signalized intersections can account for 12–55% of urban commute travel-time delay (stopped or approach delay).</a:t>
            </a:r>
            <a:endParaRPr lang="en-US" sz="12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Better signal policies cut delay, congestion, fuel use, and emissions — without major infrastructure changes.</a:t>
            </a:r>
            <a:endParaRPr lang="en-US" sz="12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Traffic control is safety-critical: any actuation policy must respect non-conflicting movements and clearance rules.</a:t>
            </a:r>
            <a:endParaRPr lang="en-US" sz="1250" b="0" u="none" strike="noStrike">
              <a:solidFill>
                <a:srgbClr val="000000"/>
              </a:solidFill>
              <a:effectLst/>
              <a:uFillTx/>
              <a:latin typeface="Arial"/>
            </a:endParaRPr>
          </a:p>
        </p:txBody>
      </p:sp>
      <p:sp>
        <p:nvSpPr>
          <p:cNvPr id="36" name="Shape 7"/>
          <p:cNvSpPr/>
          <p:nvPr/>
        </p:nvSpPr>
        <p:spPr>
          <a:xfrm>
            <a:off x="6035040" y="1600200"/>
            <a:ext cx="5211360" cy="4205520"/>
          </a:xfrm>
          <a:prstGeom prst="roundRect">
            <a:avLst>
              <a:gd name="adj" fmla="val 2609"/>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 name="Shape 8"/>
          <p:cNvSpPr/>
          <p:nvPr/>
        </p:nvSpPr>
        <p:spPr>
          <a:xfrm>
            <a:off x="6236280" y="1801440"/>
            <a:ext cx="346680" cy="34668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8" name="Text 9"/>
          <p:cNvSpPr/>
          <p:nvPr/>
        </p:nvSpPr>
        <p:spPr>
          <a:xfrm>
            <a:off x="6236280" y="18014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39" name="Text 10"/>
          <p:cNvSpPr/>
          <p:nvPr/>
        </p:nvSpPr>
        <p:spPr>
          <a:xfrm>
            <a:off x="6693480" y="1783080"/>
            <a:ext cx="4388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92A30"/>
                </a:solidFill>
                <a:effectLst/>
                <a:uFillTx/>
                <a:latin typeface="Calibri"/>
                <a:ea typeface="Calibri"/>
              </a:rPr>
              <a:t>Why Standard Deep RL Isn’t Enough</a:t>
            </a:r>
            <a:endParaRPr lang="en-US" sz="1300" b="0" u="none" strike="noStrike">
              <a:solidFill>
                <a:srgbClr val="000000"/>
              </a:solidFill>
              <a:effectLst/>
              <a:uFillTx/>
              <a:latin typeface="Arial"/>
            </a:endParaRPr>
          </a:p>
        </p:txBody>
      </p:sp>
      <p:sp>
        <p:nvSpPr>
          <p:cNvPr id="40" name="Text 11"/>
          <p:cNvSpPr/>
          <p:nvPr/>
        </p:nvSpPr>
        <p:spPr>
          <a:xfrm>
            <a:off x="6327720" y="2377440"/>
            <a:ext cx="4617000" cy="329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Prior work (DQN-based controllers) shows strong delay reduction, but the underlying policy is a black-box DNN.</a:t>
            </a:r>
            <a:endParaRPr lang="en-US" sz="12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DNNs lack an interpretable inference process — agencies can’t audit why a light changed.</a:t>
            </a:r>
            <a:endParaRPr lang="en-US" sz="12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Core question this paper asks: can we keep most of Deep RL’s performance while executing a policy a human can inspect and regulate?</a:t>
            </a:r>
            <a:endParaRPr lang="en-US" sz="1250" b="0" u="none" strike="noStrike">
              <a:solidFill>
                <a:srgbClr val="000000"/>
              </a:solidFill>
              <a:effectLst/>
              <a:uFillTx/>
              <a:latin typeface="Arial"/>
            </a:endParaRPr>
          </a:p>
        </p:txBody>
      </p:sp>
      <p:sp>
        <p:nvSpPr>
          <p:cNvPr id="41" name="Text 12"/>
          <p:cNvSpPr/>
          <p:nvPr/>
        </p:nvSpPr>
        <p:spPr>
          <a:xfrm>
            <a:off x="457200" y="640080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0" u="none" strike="noStrike">
                <a:solidFill>
                  <a:srgbClr val="7F8C8D"/>
                </a:solidFill>
                <a:effectLst/>
                <a:uFillTx/>
                <a:latin typeface="Arial"/>
                <a:ea typeface="Arial"/>
              </a:rPr>
              <a:t>BITS Pilani | Deep Reinforcement Learning (WILP) | Assignment - I</a:t>
            </a:r>
            <a:endParaRPr lang="en-US" sz="950" b="0" u="none" strike="noStrike">
              <a:solidFill>
                <a:srgbClr val="000000"/>
              </a:solidFill>
              <a:effectLst/>
              <a:uFillTx/>
              <a:latin typeface="Arial"/>
            </a:endParaRPr>
          </a:p>
        </p:txBody>
      </p:sp>
      <p:sp>
        <p:nvSpPr>
          <p:cNvPr id="42" name="Rectangle 41"/>
          <p:cNvSpPr/>
          <p:nvPr/>
        </p:nvSpPr>
        <p:spPr>
          <a:xfrm>
            <a:off x="457200" y="6134040"/>
            <a:ext cx="11277360" cy="28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pPr>
            <a:r>
              <a:rPr lang="en-US" sz="1200" b="0" u="none" strike="noStrike">
                <a:solidFill>
                  <a:srgbClr val="7F8C8D"/>
                </a:solidFill>
                <a:effectLst/>
                <a:uFillTx/>
                <a:latin typeface="Calibri"/>
                <a:ea typeface="Calibri"/>
              </a:rPr>
              <a:t>Paper Section 1: motivation and contributions</a:t>
            </a:r>
            <a:endParaRPr lang="en-US" sz="12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43" name="Text 0"/>
          <p:cNvSpPr/>
          <p:nvPr/>
        </p:nvSpPr>
        <p:spPr>
          <a:xfrm>
            <a:off x="457200" y="292680"/>
            <a:ext cx="1127376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0" u="none" strike="noStrike">
                <a:solidFill>
                  <a:srgbClr val="192A30"/>
                </a:solidFill>
                <a:effectLst/>
                <a:uFillTx/>
                <a:latin typeface="Calibri"/>
                <a:ea typeface="Calibri"/>
              </a:rPr>
              <a:t>Traffic Signal Control as an MDP</a:t>
            </a:r>
            <a:endParaRPr lang="en-US" sz="2200" b="0" u="none" strike="noStrike">
              <a:solidFill>
                <a:srgbClr val="000000"/>
              </a:solidFill>
              <a:effectLst/>
              <a:uFillTx/>
              <a:latin typeface="Arial"/>
            </a:endParaRPr>
          </a:p>
        </p:txBody>
      </p:sp>
      <p:sp>
        <p:nvSpPr>
          <p:cNvPr id="44" name="Text 1"/>
          <p:cNvSpPr/>
          <p:nvPr/>
        </p:nvSpPr>
        <p:spPr>
          <a:xfrm>
            <a:off x="457200" y="713160"/>
            <a:ext cx="1127376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192A30"/>
                </a:solidFill>
                <a:effectLst/>
                <a:uFillTx/>
                <a:latin typeface="Calibri"/>
                <a:ea typeface="Calibri"/>
              </a:rPr>
              <a:t>DRL FORMULATION</a:t>
            </a:r>
            <a:endParaRPr lang="en-US" sz="1300" b="0" u="none" strike="noStrike">
              <a:solidFill>
                <a:srgbClr val="000000"/>
              </a:solidFill>
              <a:effectLst/>
              <a:uFillTx/>
              <a:latin typeface="Arial"/>
            </a:endParaRPr>
          </a:p>
        </p:txBody>
      </p:sp>
      <p:sp>
        <p:nvSpPr>
          <p:cNvPr id="45" name="Shape 2"/>
          <p:cNvSpPr/>
          <p:nvPr/>
        </p:nvSpPr>
        <p:spPr>
          <a:xfrm>
            <a:off x="457200" y="1554480"/>
            <a:ext cx="2632680" cy="3931200"/>
          </a:xfrm>
          <a:prstGeom prst="roundRect">
            <a:avLst>
              <a:gd name="adj" fmla="val 4167"/>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6" name="Shape 3"/>
          <p:cNvSpPr/>
          <p:nvPr/>
        </p:nvSpPr>
        <p:spPr>
          <a:xfrm>
            <a:off x="1517760" y="1810440"/>
            <a:ext cx="511200" cy="51120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7" name="Text 4"/>
          <p:cNvSpPr/>
          <p:nvPr/>
        </p:nvSpPr>
        <p:spPr>
          <a:xfrm>
            <a:off x="1517760" y="1810440"/>
            <a:ext cx="511200" cy="51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FFFFFF"/>
                </a:solidFill>
                <a:effectLst/>
                <a:uFillTx/>
                <a:latin typeface="Calibri"/>
                <a:ea typeface="Calibri"/>
              </a:rPr>
              <a:t>S</a:t>
            </a:r>
            <a:endParaRPr lang="en-US" sz="2000" b="0" u="none" strike="noStrike">
              <a:solidFill>
                <a:srgbClr val="000000"/>
              </a:solidFill>
              <a:effectLst/>
              <a:uFillTx/>
              <a:latin typeface="Arial"/>
            </a:endParaRPr>
          </a:p>
        </p:txBody>
      </p:sp>
      <p:sp>
        <p:nvSpPr>
          <p:cNvPr id="48" name="Text 5"/>
          <p:cNvSpPr/>
          <p:nvPr/>
        </p:nvSpPr>
        <p:spPr>
          <a:xfrm>
            <a:off x="594360" y="2468880"/>
            <a:ext cx="23583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92A30"/>
                </a:solidFill>
                <a:effectLst/>
                <a:uFillTx/>
                <a:latin typeface="Calibri"/>
                <a:ea typeface="Calibri"/>
              </a:rPr>
              <a:t>State</a:t>
            </a:r>
            <a:endParaRPr lang="en-US" sz="1400" b="0" u="none" strike="noStrike">
              <a:solidFill>
                <a:srgbClr val="000000"/>
              </a:solidFill>
              <a:effectLst/>
              <a:uFillTx/>
              <a:latin typeface="Arial"/>
            </a:endParaRPr>
          </a:p>
        </p:txBody>
      </p:sp>
      <p:sp>
        <p:nvSpPr>
          <p:cNvPr id="49" name="Text 6"/>
          <p:cNvSpPr/>
          <p:nvPr/>
        </p:nvSpPr>
        <p:spPr>
          <a:xfrm>
            <a:off x="658440" y="2880360"/>
            <a:ext cx="2230560" cy="2468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2000"/>
              </a:lnSpc>
              <a:tabLst>
                <a:tab pos="0" algn="l"/>
              </a:tabLst>
            </a:pPr>
            <a:r>
              <a:rPr lang="en-US" sz="1080" b="0" u="none" strike="noStrike">
                <a:solidFill>
                  <a:srgbClr val="192A30"/>
                </a:solidFill>
                <a:effectLst/>
                <a:uFillTx/>
                <a:latin typeface="Calibri"/>
                <a:ea typeface="Calibri"/>
              </a:rPr>
              <a:t>6 phase-dependent variables per phase: stopped vehicles, approaching vehicles, cumulative stopped time, average stopped time, average queue length, average approach speed.</a:t>
            </a:r>
            <a:endParaRPr lang="en-US" sz="1080" b="0" u="none" strike="noStrike">
              <a:solidFill>
                <a:srgbClr val="000000"/>
              </a:solidFill>
              <a:effectLst/>
              <a:uFillTx/>
              <a:latin typeface="Arial"/>
            </a:endParaRPr>
          </a:p>
        </p:txBody>
      </p:sp>
      <p:sp>
        <p:nvSpPr>
          <p:cNvPr id="50" name="Shape 7"/>
          <p:cNvSpPr/>
          <p:nvPr/>
        </p:nvSpPr>
        <p:spPr>
          <a:xfrm>
            <a:off x="3227760" y="1554480"/>
            <a:ext cx="2632680" cy="3931200"/>
          </a:xfrm>
          <a:prstGeom prst="roundRect">
            <a:avLst>
              <a:gd name="adj" fmla="val 4167"/>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1" name="Shape 8"/>
          <p:cNvSpPr/>
          <p:nvPr/>
        </p:nvSpPr>
        <p:spPr>
          <a:xfrm>
            <a:off x="4288680" y="1810440"/>
            <a:ext cx="511200" cy="51120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2" name="Text 9"/>
          <p:cNvSpPr/>
          <p:nvPr/>
        </p:nvSpPr>
        <p:spPr>
          <a:xfrm>
            <a:off x="4288680" y="1810440"/>
            <a:ext cx="511200" cy="51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FFFFFF"/>
                </a:solidFill>
                <a:effectLst/>
                <a:uFillTx/>
                <a:latin typeface="Calibri"/>
                <a:ea typeface="Calibri"/>
              </a:rPr>
              <a:t>A</a:t>
            </a:r>
            <a:endParaRPr lang="en-US" sz="2000" b="0" u="none" strike="noStrike">
              <a:solidFill>
                <a:srgbClr val="000000"/>
              </a:solidFill>
              <a:effectLst/>
              <a:uFillTx/>
              <a:latin typeface="Arial"/>
            </a:endParaRPr>
          </a:p>
        </p:txBody>
      </p:sp>
      <p:sp>
        <p:nvSpPr>
          <p:cNvPr id="53" name="Text 10"/>
          <p:cNvSpPr/>
          <p:nvPr/>
        </p:nvSpPr>
        <p:spPr>
          <a:xfrm>
            <a:off x="3364920" y="2468880"/>
            <a:ext cx="23583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92A30"/>
                </a:solidFill>
                <a:effectLst/>
                <a:uFillTx/>
                <a:latin typeface="Calibri"/>
                <a:ea typeface="Calibri"/>
              </a:rPr>
              <a:t>Action</a:t>
            </a:r>
            <a:endParaRPr lang="en-US" sz="1400" b="0" u="none" strike="noStrike">
              <a:solidFill>
                <a:srgbClr val="000000"/>
              </a:solidFill>
              <a:effectLst/>
              <a:uFillTx/>
              <a:latin typeface="Arial"/>
            </a:endParaRPr>
          </a:p>
        </p:txBody>
      </p:sp>
      <p:sp>
        <p:nvSpPr>
          <p:cNvPr id="54" name="Text 11"/>
          <p:cNvSpPr/>
          <p:nvPr/>
        </p:nvSpPr>
        <p:spPr>
          <a:xfrm>
            <a:off x="3429000" y="2880360"/>
            <a:ext cx="2230560" cy="2468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2000"/>
              </a:lnSpc>
              <a:tabLst>
                <a:tab pos="0" algn="l"/>
              </a:tabLst>
            </a:pPr>
            <a:r>
              <a:rPr lang="en-US" sz="1080" b="0" u="none" strike="noStrike">
                <a:solidFill>
                  <a:srgbClr val="192A30"/>
                </a:solidFill>
                <a:effectLst/>
                <a:uFillTx/>
                <a:latin typeface="Calibri"/>
                <a:ea typeface="Calibri"/>
              </a:rPr>
              <a:t>Choose the next valid non-conflicting phase combination for at least the minimum phase length; conflicting movements are excluded by the environment.</a:t>
            </a:r>
            <a:endParaRPr lang="en-US" sz="1080" b="0" u="none" strike="noStrike">
              <a:solidFill>
                <a:srgbClr val="000000"/>
              </a:solidFill>
              <a:effectLst/>
              <a:uFillTx/>
              <a:latin typeface="Arial"/>
            </a:endParaRPr>
          </a:p>
        </p:txBody>
      </p:sp>
      <p:sp>
        <p:nvSpPr>
          <p:cNvPr id="55" name="Shape 12"/>
          <p:cNvSpPr/>
          <p:nvPr/>
        </p:nvSpPr>
        <p:spPr>
          <a:xfrm>
            <a:off x="5998320" y="1554480"/>
            <a:ext cx="2632680" cy="3931200"/>
          </a:xfrm>
          <a:prstGeom prst="roundRect">
            <a:avLst>
              <a:gd name="adj" fmla="val 4167"/>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 name="Shape 13"/>
          <p:cNvSpPr/>
          <p:nvPr/>
        </p:nvSpPr>
        <p:spPr>
          <a:xfrm>
            <a:off x="7059240" y="1810440"/>
            <a:ext cx="511200" cy="51120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7" name="Text 14"/>
          <p:cNvSpPr/>
          <p:nvPr/>
        </p:nvSpPr>
        <p:spPr>
          <a:xfrm>
            <a:off x="7059240" y="1810440"/>
            <a:ext cx="511200" cy="51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FFFFFF"/>
                </a:solidFill>
                <a:effectLst/>
                <a:uFillTx/>
                <a:latin typeface="Calibri"/>
                <a:ea typeface="Calibri"/>
              </a:rPr>
              <a:t>P</a:t>
            </a:r>
            <a:endParaRPr lang="en-US" sz="2000" b="0" u="none" strike="noStrike">
              <a:solidFill>
                <a:srgbClr val="000000"/>
              </a:solidFill>
              <a:effectLst/>
              <a:uFillTx/>
              <a:latin typeface="Arial"/>
            </a:endParaRPr>
          </a:p>
        </p:txBody>
      </p:sp>
      <p:sp>
        <p:nvSpPr>
          <p:cNvPr id="58" name="Text 15"/>
          <p:cNvSpPr/>
          <p:nvPr/>
        </p:nvSpPr>
        <p:spPr>
          <a:xfrm>
            <a:off x="6135480" y="2468880"/>
            <a:ext cx="23583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92A30"/>
                </a:solidFill>
                <a:effectLst/>
                <a:uFillTx/>
                <a:latin typeface="Calibri"/>
                <a:ea typeface="Calibri"/>
              </a:rPr>
              <a:t>Transition</a:t>
            </a:r>
            <a:endParaRPr lang="en-US" sz="1400" b="0" u="none" strike="noStrike">
              <a:solidFill>
                <a:srgbClr val="000000"/>
              </a:solidFill>
              <a:effectLst/>
              <a:uFillTx/>
              <a:latin typeface="Arial"/>
            </a:endParaRPr>
          </a:p>
        </p:txBody>
      </p:sp>
      <p:sp>
        <p:nvSpPr>
          <p:cNvPr id="59" name="Text 16"/>
          <p:cNvSpPr/>
          <p:nvPr/>
        </p:nvSpPr>
        <p:spPr>
          <a:xfrm>
            <a:off x="6199560" y="2880360"/>
            <a:ext cx="2230560" cy="2468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2000"/>
              </a:lnSpc>
              <a:tabLst>
                <a:tab pos="0" algn="l"/>
              </a:tabLst>
            </a:pPr>
            <a:r>
              <a:rPr lang="en-US" sz="1080" b="0" u="none" strike="noStrike">
                <a:solidFill>
                  <a:srgbClr val="192A30"/>
                </a:solidFill>
                <a:effectLst/>
                <a:uFillTx/>
                <a:latin typeface="Calibri"/>
                <a:ea typeface="Calibri"/>
              </a:rPr>
              <a:t>SUMO advances the traffic state after each action. Yellow / all-red clearance is enforced automatically — it is never chosen by the agent.</a:t>
            </a:r>
            <a:endParaRPr lang="en-US" sz="1080" b="0" u="none" strike="noStrike">
              <a:solidFill>
                <a:srgbClr val="000000"/>
              </a:solidFill>
              <a:effectLst/>
              <a:uFillTx/>
              <a:latin typeface="Arial"/>
            </a:endParaRPr>
          </a:p>
        </p:txBody>
      </p:sp>
      <p:sp>
        <p:nvSpPr>
          <p:cNvPr id="60" name="Shape 17"/>
          <p:cNvSpPr/>
          <p:nvPr/>
        </p:nvSpPr>
        <p:spPr>
          <a:xfrm>
            <a:off x="8769240" y="1554480"/>
            <a:ext cx="2632680" cy="3931200"/>
          </a:xfrm>
          <a:prstGeom prst="roundRect">
            <a:avLst>
              <a:gd name="adj" fmla="val 4167"/>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1" name="Shape 18"/>
          <p:cNvSpPr/>
          <p:nvPr/>
        </p:nvSpPr>
        <p:spPr>
          <a:xfrm>
            <a:off x="9829800" y="1810440"/>
            <a:ext cx="511200" cy="51120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2" name="Text 19"/>
          <p:cNvSpPr/>
          <p:nvPr/>
        </p:nvSpPr>
        <p:spPr>
          <a:xfrm>
            <a:off x="9829800" y="1810440"/>
            <a:ext cx="511200" cy="51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FFFFFF"/>
                </a:solidFill>
                <a:effectLst/>
                <a:uFillTx/>
                <a:latin typeface="Calibri"/>
                <a:ea typeface="Calibri"/>
              </a:rPr>
              <a:t>R</a:t>
            </a:r>
            <a:endParaRPr lang="en-US" sz="2000" b="0" u="none" strike="noStrike">
              <a:solidFill>
                <a:srgbClr val="000000"/>
              </a:solidFill>
              <a:effectLst/>
              <a:uFillTx/>
              <a:latin typeface="Arial"/>
            </a:endParaRPr>
          </a:p>
        </p:txBody>
      </p:sp>
      <p:sp>
        <p:nvSpPr>
          <p:cNvPr id="63" name="Text 20"/>
          <p:cNvSpPr/>
          <p:nvPr/>
        </p:nvSpPr>
        <p:spPr>
          <a:xfrm>
            <a:off x="8906400" y="2468880"/>
            <a:ext cx="23583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92A30"/>
                </a:solidFill>
                <a:effectLst/>
                <a:uFillTx/>
                <a:latin typeface="Calibri"/>
                <a:ea typeface="Calibri"/>
              </a:rPr>
              <a:t>Reward</a:t>
            </a:r>
            <a:endParaRPr lang="en-US" sz="1400" b="0" u="none" strike="noStrike">
              <a:solidFill>
                <a:srgbClr val="000000"/>
              </a:solidFill>
              <a:effectLst/>
              <a:uFillTx/>
              <a:latin typeface="Arial"/>
            </a:endParaRPr>
          </a:p>
        </p:txBody>
      </p:sp>
      <p:sp>
        <p:nvSpPr>
          <p:cNvPr id="64" name="Text 21"/>
          <p:cNvSpPr/>
          <p:nvPr/>
        </p:nvSpPr>
        <p:spPr>
          <a:xfrm>
            <a:off x="8970120" y="2880360"/>
            <a:ext cx="2230560" cy="2468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2000"/>
              </a:lnSpc>
              <a:tabLst>
                <a:tab pos="0" algn="l"/>
              </a:tabLst>
            </a:pPr>
            <a:r>
              <a:rPr lang="en-US" sz="1080" b="0" u="none" strike="noStrike">
                <a:solidFill>
                  <a:srgbClr val="192A30"/>
                </a:solidFill>
                <a:effectLst/>
                <a:uFillTx/>
                <a:latin typeface="Calibri"/>
                <a:ea typeface="Calibri"/>
              </a:rPr>
              <a:t>Tied directly to reduction in accumulated vehicle delay. Goal: maximize discounted return while keeping the executed policy regulatable.</a:t>
            </a:r>
            <a:endParaRPr lang="en-US" sz="1080" b="0" u="none" strike="noStrike">
              <a:solidFill>
                <a:srgbClr val="000000"/>
              </a:solidFill>
              <a:effectLst/>
              <a:uFillTx/>
              <a:latin typeface="Arial"/>
            </a:endParaRPr>
          </a:p>
        </p:txBody>
      </p:sp>
      <p:sp>
        <p:nvSpPr>
          <p:cNvPr id="65" name="Text 22"/>
          <p:cNvSpPr/>
          <p:nvPr/>
        </p:nvSpPr>
        <p:spPr>
          <a:xfrm>
            <a:off x="457200" y="5623560"/>
            <a:ext cx="1069776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i="1" u="none" strike="noStrike">
                <a:solidFill>
                  <a:srgbClr val="7F8C8D"/>
                </a:solidFill>
                <a:effectLst/>
                <a:uFillTx/>
                <a:latin typeface="Calibri"/>
                <a:ea typeface="Calibri"/>
              </a:rPr>
              <a:t>Assumptions the authors state explicitly: the intersection layout (lanes, phases, conflicts) is known in advance, and real-time per-lane sensing is available — justified by radar, Wi-Fi scanning, connected vehicles, and image/infrared sensing.</a:t>
            </a:r>
            <a:endParaRPr lang="en-US" sz="1050" b="0" u="none" strike="noStrike">
              <a:solidFill>
                <a:srgbClr val="000000"/>
              </a:solidFill>
              <a:effectLst/>
              <a:uFillTx/>
              <a:latin typeface="Arial"/>
            </a:endParaRPr>
          </a:p>
        </p:txBody>
      </p:sp>
      <p:sp>
        <p:nvSpPr>
          <p:cNvPr id="66" name="Text 23"/>
          <p:cNvSpPr/>
          <p:nvPr/>
        </p:nvSpPr>
        <p:spPr>
          <a:xfrm>
            <a:off x="457200" y="640080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0" u="none" strike="noStrike">
                <a:solidFill>
                  <a:srgbClr val="7F8C8D"/>
                </a:solidFill>
                <a:effectLst/>
                <a:uFillTx/>
                <a:latin typeface="Arial"/>
                <a:ea typeface="Arial"/>
              </a:rPr>
              <a:t>BITS Pilani | Deep Reinforcement Learning (WILP) | Assignment - I</a:t>
            </a:r>
            <a:endParaRPr lang="en-US" sz="950" b="0" u="none" strike="noStrike">
              <a:solidFill>
                <a:srgbClr val="000000"/>
              </a:solidFill>
              <a:effectLst/>
              <a:uFillTx/>
              <a:latin typeface="Arial"/>
            </a:endParaRPr>
          </a:p>
        </p:txBody>
      </p:sp>
      <p:sp>
        <p:nvSpPr>
          <p:cNvPr id="67" name="Rectangle 66"/>
          <p:cNvSpPr/>
          <p:nvPr/>
        </p:nvSpPr>
        <p:spPr>
          <a:xfrm>
            <a:off x="457200" y="6134040"/>
            <a:ext cx="11277360" cy="28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pPr>
            <a:r>
              <a:rPr lang="en-US" sz="1200" b="0" u="none" strike="noStrike">
                <a:solidFill>
                  <a:srgbClr val="7F8C8D"/>
                </a:solidFill>
                <a:effectLst/>
                <a:uFillTx/>
                <a:latin typeface="Calibri"/>
                <a:ea typeface="Calibri"/>
              </a:rPr>
              <a:t>Paper Section 3: state, valid actions, transition constraints and reward</a:t>
            </a:r>
            <a:endParaRPr lang="en-US" sz="12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68" name="Text 0"/>
          <p:cNvSpPr/>
          <p:nvPr/>
        </p:nvSpPr>
        <p:spPr>
          <a:xfrm>
            <a:off x="457200" y="292680"/>
            <a:ext cx="1127376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0" u="none" strike="noStrike">
                <a:solidFill>
                  <a:srgbClr val="192A30"/>
                </a:solidFill>
                <a:effectLst/>
                <a:uFillTx/>
                <a:latin typeface="Calibri"/>
                <a:ea typeface="Calibri"/>
              </a:rPr>
              <a:t>Phases, Conflicts &amp; Clearance Intervals</a:t>
            </a:r>
            <a:endParaRPr lang="en-US" sz="2200" b="0" u="none" strike="noStrike">
              <a:solidFill>
                <a:srgbClr val="000000"/>
              </a:solidFill>
              <a:effectLst/>
              <a:uFillTx/>
              <a:latin typeface="Arial"/>
            </a:endParaRPr>
          </a:p>
        </p:txBody>
      </p:sp>
      <p:sp>
        <p:nvSpPr>
          <p:cNvPr id="69" name="Text 1"/>
          <p:cNvSpPr/>
          <p:nvPr/>
        </p:nvSpPr>
        <p:spPr>
          <a:xfrm>
            <a:off x="457200" y="713160"/>
            <a:ext cx="1127376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192A30"/>
                </a:solidFill>
                <a:effectLst/>
                <a:uFillTx/>
                <a:latin typeface="Calibri"/>
                <a:ea typeface="Calibri"/>
              </a:rPr>
              <a:t>PROBLEM STRUCTURE</a:t>
            </a:r>
            <a:endParaRPr lang="en-US" sz="1300" b="0" u="none" strike="noStrike">
              <a:solidFill>
                <a:srgbClr val="000000"/>
              </a:solidFill>
              <a:effectLst/>
              <a:uFillTx/>
              <a:latin typeface="Arial"/>
            </a:endParaRPr>
          </a:p>
        </p:txBody>
      </p:sp>
      <p:sp>
        <p:nvSpPr>
          <p:cNvPr id="70" name="Shape 2"/>
          <p:cNvSpPr/>
          <p:nvPr/>
        </p:nvSpPr>
        <p:spPr>
          <a:xfrm>
            <a:off x="457200" y="1554480"/>
            <a:ext cx="5577120" cy="4159800"/>
          </a:xfrm>
          <a:prstGeom prst="roundRect">
            <a:avLst>
              <a:gd name="adj" fmla="val 2637"/>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1" name="Text 3"/>
          <p:cNvSpPr/>
          <p:nvPr/>
        </p:nvSpPr>
        <p:spPr>
          <a:xfrm>
            <a:off x="731520" y="1737360"/>
            <a:ext cx="5028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a:solidFill>
                  <a:srgbClr val="192A30"/>
                </a:solidFill>
                <a:effectLst/>
                <a:uFillTx/>
                <a:latin typeface="Calibri"/>
                <a:ea typeface="Calibri"/>
              </a:rPr>
              <a:t>A 4-WAY INTERSECTION HAS 8 CANDIDATE PHASES (φ1…φ8)</a:t>
            </a:r>
            <a:endParaRPr lang="en-US" sz="1100" b="0" u="none" strike="noStrike">
              <a:solidFill>
                <a:srgbClr val="000000"/>
              </a:solidFill>
              <a:effectLst/>
              <a:uFillTx/>
              <a:latin typeface="Arial"/>
            </a:endParaRPr>
          </a:p>
        </p:txBody>
      </p:sp>
      <p:sp>
        <p:nvSpPr>
          <p:cNvPr id="72" name="Shape 4"/>
          <p:cNvSpPr/>
          <p:nvPr/>
        </p:nvSpPr>
        <p:spPr>
          <a:xfrm>
            <a:off x="777240" y="2148840"/>
            <a:ext cx="1169640" cy="1169640"/>
          </a:xfrm>
          <a:prstGeom prst="roundRect">
            <a:avLst>
              <a:gd name="adj" fmla="val 6250"/>
            </a:avLst>
          </a:prstGeom>
          <a:solidFill>
            <a:srgbClr val="F4F6F6"/>
          </a:solidFill>
          <a:ln w="15875">
            <a:solidFill>
              <a:srgbClr val="107C4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3" name="Text 5"/>
          <p:cNvSpPr/>
          <p:nvPr/>
        </p:nvSpPr>
        <p:spPr>
          <a:xfrm>
            <a:off x="777240" y="2148840"/>
            <a:ext cx="1169640" cy="116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107C41"/>
                </a:solidFill>
                <a:effectLst/>
                <a:uFillTx/>
                <a:latin typeface="Calibri"/>
                <a:ea typeface="Calibri"/>
              </a:rPr>
              <a:t>φ1</a:t>
            </a:r>
            <a:endParaRPr lang="en-US" sz="2000" b="0" u="none" strike="noStrike">
              <a:solidFill>
                <a:srgbClr val="000000"/>
              </a:solidFill>
              <a:effectLst/>
              <a:uFillTx/>
              <a:latin typeface="Arial"/>
            </a:endParaRPr>
          </a:p>
        </p:txBody>
      </p:sp>
      <p:sp>
        <p:nvSpPr>
          <p:cNvPr id="74" name="Shape 6"/>
          <p:cNvSpPr/>
          <p:nvPr/>
        </p:nvSpPr>
        <p:spPr>
          <a:xfrm>
            <a:off x="2039040" y="2148840"/>
            <a:ext cx="1169640" cy="1169640"/>
          </a:xfrm>
          <a:prstGeom prst="roundRect">
            <a:avLst>
              <a:gd name="adj" fmla="val 6250"/>
            </a:avLst>
          </a:prstGeom>
          <a:solidFill>
            <a:srgbClr val="F4F6F6"/>
          </a:solidFill>
          <a:ln w="15875">
            <a:solidFill>
              <a:srgbClr val="107C4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5" name="Text 7"/>
          <p:cNvSpPr/>
          <p:nvPr/>
        </p:nvSpPr>
        <p:spPr>
          <a:xfrm>
            <a:off x="2039040" y="2148840"/>
            <a:ext cx="1169640" cy="116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107C41"/>
                </a:solidFill>
                <a:effectLst/>
                <a:uFillTx/>
                <a:latin typeface="Calibri"/>
                <a:ea typeface="Calibri"/>
              </a:rPr>
              <a:t>φ2</a:t>
            </a:r>
            <a:endParaRPr lang="en-US" sz="2000" b="0" u="none" strike="noStrike">
              <a:solidFill>
                <a:srgbClr val="000000"/>
              </a:solidFill>
              <a:effectLst/>
              <a:uFillTx/>
              <a:latin typeface="Arial"/>
            </a:endParaRPr>
          </a:p>
        </p:txBody>
      </p:sp>
      <p:sp>
        <p:nvSpPr>
          <p:cNvPr id="76" name="Shape 8"/>
          <p:cNvSpPr/>
          <p:nvPr/>
        </p:nvSpPr>
        <p:spPr>
          <a:xfrm>
            <a:off x="3300840" y="2148840"/>
            <a:ext cx="1169640" cy="1169640"/>
          </a:xfrm>
          <a:prstGeom prst="roundRect">
            <a:avLst>
              <a:gd name="adj" fmla="val 6250"/>
            </a:avLst>
          </a:prstGeom>
          <a:solidFill>
            <a:srgbClr val="F4F6F6"/>
          </a:solidFill>
          <a:ln w="15875">
            <a:solidFill>
              <a:srgbClr val="107C4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7" name="Text 9"/>
          <p:cNvSpPr/>
          <p:nvPr/>
        </p:nvSpPr>
        <p:spPr>
          <a:xfrm>
            <a:off x="3300840" y="2148840"/>
            <a:ext cx="1169640" cy="116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107C41"/>
                </a:solidFill>
                <a:effectLst/>
                <a:uFillTx/>
                <a:latin typeface="Calibri"/>
                <a:ea typeface="Calibri"/>
              </a:rPr>
              <a:t>φ3</a:t>
            </a:r>
            <a:endParaRPr lang="en-US" sz="2000" b="0" u="none" strike="noStrike">
              <a:solidFill>
                <a:srgbClr val="000000"/>
              </a:solidFill>
              <a:effectLst/>
              <a:uFillTx/>
              <a:latin typeface="Arial"/>
            </a:endParaRPr>
          </a:p>
        </p:txBody>
      </p:sp>
      <p:sp>
        <p:nvSpPr>
          <p:cNvPr id="78" name="Shape 10"/>
          <p:cNvSpPr/>
          <p:nvPr/>
        </p:nvSpPr>
        <p:spPr>
          <a:xfrm>
            <a:off x="4563000" y="2148840"/>
            <a:ext cx="1169640" cy="1169640"/>
          </a:xfrm>
          <a:prstGeom prst="roundRect">
            <a:avLst>
              <a:gd name="adj" fmla="val 6250"/>
            </a:avLst>
          </a:prstGeom>
          <a:solidFill>
            <a:srgbClr val="F4F6F6"/>
          </a:solidFill>
          <a:ln w="15875">
            <a:solidFill>
              <a:srgbClr val="107C4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9" name="Text 11"/>
          <p:cNvSpPr/>
          <p:nvPr/>
        </p:nvSpPr>
        <p:spPr>
          <a:xfrm>
            <a:off x="4563000" y="2148840"/>
            <a:ext cx="1169640" cy="116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107C41"/>
                </a:solidFill>
                <a:effectLst/>
                <a:uFillTx/>
                <a:latin typeface="Calibri"/>
                <a:ea typeface="Calibri"/>
              </a:rPr>
              <a:t>φ4</a:t>
            </a:r>
            <a:endParaRPr lang="en-US" sz="2000" b="0" u="none" strike="noStrike">
              <a:solidFill>
                <a:srgbClr val="000000"/>
              </a:solidFill>
              <a:effectLst/>
              <a:uFillTx/>
              <a:latin typeface="Arial"/>
            </a:endParaRPr>
          </a:p>
        </p:txBody>
      </p:sp>
      <p:sp>
        <p:nvSpPr>
          <p:cNvPr id="80" name="Shape 12"/>
          <p:cNvSpPr/>
          <p:nvPr/>
        </p:nvSpPr>
        <p:spPr>
          <a:xfrm>
            <a:off x="777240" y="3410640"/>
            <a:ext cx="1169640" cy="1169640"/>
          </a:xfrm>
          <a:prstGeom prst="roundRect">
            <a:avLst>
              <a:gd name="adj" fmla="val 6250"/>
            </a:avLst>
          </a:prstGeom>
          <a:solidFill>
            <a:srgbClr val="F4F6F6"/>
          </a:solidFill>
          <a:ln w="15875">
            <a:solidFill>
              <a:srgbClr val="107C4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1" name="Text 13"/>
          <p:cNvSpPr/>
          <p:nvPr/>
        </p:nvSpPr>
        <p:spPr>
          <a:xfrm>
            <a:off x="777240" y="3410640"/>
            <a:ext cx="1169640" cy="116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107C41"/>
                </a:solidFill>
                <a:effectLst/>
                <a:uFillTx/>
                <a:latin typeface="Calibri"/>
                <a:ea typeface="Calibri"/>
              </a:rPr>
              <a:t>φ5</a:t>
            </a:r>
            <a:endParaRPr lang="en-US" sz="2000" b="0" u="none" strike="noStrike">
              <a:solidFill>
                <a:srgbClr val="000000"/>
              </a:solidFill>
              <a:effectLst/>
              <a:uFillTx/>
              <a:latin typeface="Arial"/>
            </a:endParaRPr>
          </a:p>
        </p:txBody>
      </p:sp>
      <p:sp>
        <p:nvSpPr>
          <p:cNvPr id="82" name="Shape 14"/>
          <p:cNvSpPr/>
          <p:nvPr/>
        </p:nvSpPr>
        <p:spPr>
          <a:xfrm>
            <a:off x="2039040" y="3410640"/>
            <a:ext cx="1169640" cy="1169640"/>
          </a:xfrm>
          <a:prstGeom prst="roundRect">
            <a:avLst>
              <a:gd name="adj" fmla="val 6250"/>
            </a:avLst>
          </a:prstGeom>
          <a:solidFill>
            <a:srgbClr val="F4F6F6"/>
          </a:solidFill>
          <a:ln w="15875">
            <a:solidFill>
              <a:srgbClr val="107C4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3" name="Text 15"/>
          <p:cNvSpPr/>
          <p:nvPr/>
        </p:nvSpPr>
        <p:spPr>
          <a:xfrm>
            <a:off x="2039040" y="3410640"/>
            <a:ext cx="1169640" cy="116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107C41"/>
                </a:solidFill>
                <a:effectLst/>
                <a:uFillTx/>
                <a:latin typeface="Calibri"/>
                <a:ea typeface="Calibri"/>
              </a:rPr>
              <a:t>φ6</a:t>
            </a:r>
            <a:endParaRPr lang="en-US" sz="2000" b="0" u="none" strike="noStrike">
              <a:solidFill>
                <a:srgbClr val="000000"/>
              </a:solidFill>
              <a:effectLst/>
              <a:uFillTx/>
              <a:latin typeface="Arial"/>
            </a:endParaRPr>
          </a:p>
        </p:txBody>
      </p:sp>
      <p:sp>
        <p:nvSpPr>
          <p:cNvPr id="84" name="Shape 16"/>
          <p:cNvSpPr/>
          <p:nvPr/>
        </p:nvSpPr>
        <p:spPr>
          <a:xfrm>
            <a:off x="3300840" y="3410640"/>
            <a:ext cx="1169640" cy="1169640"/>
          </a:xfrm>
          <a:prstGeom prst="roundRect">
            <a:avLst>
              <a:gd name="adj" fmla="val 6250"/>
            </a:avLst>
          </a:prstGeom>
          <a:solidFill>
            <a:srgbClr val="F4F6F6"/>
          </a:solidFill>
          <a:ln w="15875">
            <a:solidFill>
              <a:srgbClr val="107C4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5" name="Text 17"/>
          <p:cNvSpPr/>
          <p:nvPr/>
        </p:nvSpPr>
        <p:spPr>
          <a:xfrm>
            <a:off x="3300840" y="3410640"/>
            <a:ext cx="1169640" cy="116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107C41"/>
                </a:solidFill>
                <a:effectLst/>
                <a:uFillTx/>
                <a:latin typeface="Calibri"/>
                <a:ea typeface="Calibri"/>
              </a:rPr>
              <a:t>φ7</a:t>
            </a:r>
            <a:endParaRPr lang="en-US" sz="2000" b="0" u="none" strike="noStrike">
              <a:solidFill>
                <a:srgbClr val="000000"/>
              </a:solidFill>
              <a:effectLst/>
              <a:uFillTx/>
              <a:latin typeface="Arial"/>
            </a:endParaRPr>
          </a:p>
        </p:txBody>
      </p:sp>
      <p:sp>
        <p:nvSpPr>
          <p:cNvPr id="86" name="Shape 18"/>
          <p:cNvSpPr/>
          <p:nvPr/>
        </p:nvSpPr>
        <p:spPr>
          <a:xfrm>
            <a:off x="4563000" y="3410640"/>
            <a:ext cx="1169640" cy="1169640"/>
          </a:xfrm>
          <a:prstGeom prst="roundRect">
            <a:avLst>
              <a:gd name="adj" fmla="val 6250"/>
            </a:avLst>
          </a:prstGeom>
          <a:solidFill>
            <a:srgbClr val="F4F6F6"/>
          </a:solidFill>
          <a:ln w="15875">
            <a:solidFill>
              <a:srgbClr val="107C4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7" name="Text 19"/>
          <p:cNvSpPr/>
          <p:nvPr/>
        </p:nvSpPr>
        <p:spPr>
          <a:xfrm>
            <a:off x="4563000" y="3410640"/>
            <a:ext cx="1169640" cy="116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107C41"/>
                </a:solidFill>
                <a:effectLst/>
                <a:uFillTx/>
                <a:latin typeface="Calibri"/>
                <a:ea typeface="Calibri"/>
              </a:rPr>
              <a:t>φ8</a:t>
            </a:r>
            <a:endParaRPr lang="en-US" sz="2000" b="0" u="none" strike="noStrike">
              <a:solidFill>
                <a:srgbClr val="000000"/>
              </a:solidFill>
              <a:effectLst/>
              <a:uFillTx/>
              <a:latin typeface="Arial"/>
            </a:endParaRPr>
          </a:p>
        </p:txBody>
      </p:sp>
      <p:sp>
        <p:nvSpPr>
          <p:cNvPr id="88" name="Text 20"/>
          <p:cNvSpPr/>
          <p:nvPr/>
        </p:nvSpPr>
        <p:spPr>
          <a:xfrm>
            <a:off x="731520" y="4809600"/>
            <a:ext cx="5028480" cy="822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5000"/>
              </a:lnSpc>
              <a:tabLst>
                <a:tab pos="0" algn="l"/>
              </a:tabLst>
            </a:pPr>
            <a:r>
              <a:rPr lang="en-US" sz="1080" b="0" u="none" strike="noStrike">
                <a:solidFill>
                  <a:srgbClr val="192A30"/>
                </a:solidFill>
                <a:effectLst/>
                <a:uFillTx/>
                <a:latin typeface="Calibri"/>
                <a:ea typeface="Calibri"/>
              </a:rPr>
              <a:t>Two phases conflict if their traffic movements intersect (e.g. φ1 and φ2 in the reference layout). A valid signal assignment activates only non-conflicting phases together, for the general 8-phase layout: {(φ1,φ2)}×{(φ5,φ6)} ∪ {(φ3,φ4)}×{(φ7,φ8)}.</a:t>
            </a:r>
            <a:endParaRPr lang="en-US" sz="1080" b="0" u="none" strike="noStrike">
              <a:solidFill>
                <a:srgbClr val="000000"/>
              </a:solidFill>
              <a:effectLst/>
              <a:uFillTx/>
              <a:latin typeface="Arial"/>
            </a:endParaRPr>
          </a:p>
        </p:txBody>
      </p:sp>
      <p:sp>
        <p:nvSpPr>
          <p:cNvPr id="89" name="Shape 21"/>
          <p:cNvSpPr/>
          <p:nvPr/>
        </p:nvSpPr>
        <p:spPr>
          <a:xfrm>
            <a:off x="6263640" y="1554480"/>
            <a:ext cx="5467320" cy="4159800"/>
          </a:xfrm>
          <a:prstGeom prst="roundRect">
            <a:avLst>
              <a:gd name="adj" fmla="val 2637"/>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 name="Text 22"/>
          <p:cNvSpPr/>
          <p:nvPr/>
        </p:nvSpPr>
        <p:spPr>
          <a:xfrm>
            <a:off x="6537960" y="1737360"/>
            <a:ext cx="49186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a:solidFill>
                  <a:srgbClr val="192A30"/>
                </a:solidFill>
                <a:effectLst/>
                <a:uFillTx/>
                <a:latin typeface="Calibri"/>
                <a:ea typeface="Calibri"/>
              </a:rPr>
              <a:t>TRANSITIONING BETWEEN PHASE SETS TRIGGERS ONE CLEARANCE CASE</a:t>
            </a:r>
            <a:endParaRPr lang="en-US" sz="1100" b="0" u="none" strike="noStrike">
              <a:solidFill>
                <a:srgbClr val="000000"/>
              </a:solidFill>
              <a:effectLst/>
              <a:uFillTx/>
              <a:latin typeface="Arial"/>
            </a:endParaRPr>
          </a:p>
        </p:txBody>
      </p:sp>
      <p:sp>
        <p:nvSpPr>
          <p:cNvPr id="91" name="Shape 23"/>
          <p:cNvSpPr/>
          <p:nvPr/>
        </p:nvSpPr>
        <p:spPr>
          <a:xfrm>
            <a:off x="6537960" y="2121480"/>
            <a:ext cx="310320" cy="31032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2" name="Text 24"/>
          <p:cNvSpPr/>
          <p:nvPr/>
        </p:nvSpPr>
        <p:spPr>
          <a:xfrm>
            <a:off x="6537960" y="2121480"/>
            <a:ext cx="31032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93" name="Text 25"/>
          <p:cNvSpPr/>
          <p:nvPr/>
        </p:nvSpPr>
        <p:spPr>
          <a:xfrm>
            <a:off x="6976800" y="2094120"/>
            <a:ext cx="14623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92A30"/>
                </a:solidFill>
                <a:effectLst/>
                <a:uFillTx/>
                <a:latin typeface="Calibri"/>
                <a:ea typeface="Calibri"/>
              </a:rPr>
              <a:t>Full</a:t>
            </a:r>
            <a:endParaRPr lang="en-US" sz="1200" b="0" u="none" strike="noStrike">
              <a:solidFill>
                <a:srgbClr val="000000"/>
              </a:solidFill>
              <a:effectLst/>
              <a:uFillTx/>
              <a:latin typeface="Arial"/>
            </a:endParaRPr>
          </a:p>
        </p:txBody>
      </p:sp>
      <p:sp>
        <p:nvSpPr>
          <p:cNvPr id="94" name="Text 26"/>
          <p:cNvSpPr/>
          <p:nvPr/>
        </p:nvSpPr>
        <p:spPr>
          <a:xfrm>
            <a:off x="8412480" y="2066400"/>
            <a:ext cx="30898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080" b="0" u="none" strike="noStrike">
                <a:solidFill>
                  <a:srgbClr val="192A30"/>
                </a:solidFill>
                <a:effectLst/>
                <a:uFillTx/>
                <a:latin typeface="Calibri"/>
                <a:ea typeface="Calibri"/>
              </a:rPr>
              <a:t>No phase active at all (all-red).</a:t>
            </a:r>
            <a:endParaRPr lang="en-US" sz="1080" b="0" u="none" strike="noStrike">
              <a:solidFill>
                <a:srgbClr val="000000"/>
              </a:solidFill>
              <a:effectLst/>
              <a:uFillTx/>
              <a:latin typeface="Arial"/>
            </a:endParaRPr>
          </a:p>
        </p:txBody>
      </p:sp>
      <p:sp>
        <p:nvSpPr>
          <p:cNvPr id="95" name="Shape 27"/>
          <p:cNvSpPr/>
          <p:nvPr/>
        </p:nvSpPr>
        <p:spPr>
          <a:xfrm>
            <a:off x="6537960" y="2834640"/>
            <a:ext cx="310320" cy="31032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6" name="Text 28"/>
          <p:cNvSpPr/>
          <p:nvPr/>
        </p:nvSpPr>
        <p:spPr>
          <a:xfrm>
            <a:off x="6537960" y="2834640"/>
            <a:ext cx="31032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97" name="Text 29"/>
          <p:cNvSpPr/>
          <p:nvPr/>
        </p:nvSpPr>
        <p:spPr>
          <a:xfrm>
            <a:off x="6976800" y="2807280"/>
            <a:ext cx="14623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92A30"/>
                </a:solidFill>
                <a:effectLst/>
                <a:uFillTx/>
                <a:latin typeface="Calibri"/>
                <a:ea typeface="Calibri"/>
              </a:rPr>
              <a:t>Partial</a:t>
            </a:r>
            <a:endParaRPr lang="en-US" sz="1200" b="0" u="none" strike="noStrike">
              <a:solidFill>
                <a:srgbClr val="000000"/>
              </a:solidFill>
              <a:effectLst/>
              <a:uFillTx/>
              <a:latin typeface="Arial"/>
            </a:endParaRPr>
          </a:p>
        </p:txBody>
      </p:sp>
      <p:sp>
        <p:nvSpPr>
          <p:cNvPr id="98" name="Text 30"/>
          <p:cNvSpPr/>
          <p:nvPr/>
        </p:nvSpPr>
        <p:spPr>
          <a:xfrm>
            <a:off x="8412480" y="2779920"/>
            <a:ext cx="30898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080" b="0" u="none" strike="noStrike">
                <a:solidFill>
                  <a:srgbClr val="192A30"/>
                </a:solidFill>
                <a:effectLst/>
                <a:uFillTx/>
                <a:latin typeface="Calibri"/>
                <a:ea typeface="Calibri"/>
              </a:rPr>
              <a:t>Part of the incoming phase set is still inactive before becoming active.</a:t>
            </a:r>
            <a:endParaRPr lang="en-US" sz="1080" b="0" u="none" strike="noStrike">
              <a:solidFill>
                <a:srgbClr val="000000"/>
              </a:solidFill>
              <a:effectLst/>
              <a:uFillTx/>
              <a:latin typeface="Arial"/>
            </a:endParaRPr>
          </a:p>
        </p:txBody>
      </p:sp>
      <p:sp>
        <p:nvSpPr>
          <p:cNvPr id="99" name="Shape 31"/>
          <p:cNvSpPr/>
          <p:nvPr/>
        </p:nvSpPr>
        <p:spPr>
          <a:xfrm>
            <a:off x="6537960" y="3547800"/>
            <a:ext cx="310320" cy="31032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0" name="Text 32"/>
          <p:cNvSpPr/>
          <p:nvPr/>
        </p:nvSpPr>
        <p:spPr>
          <a:xfrm>
            <a:off x="6537960" y="3547800"/>
            <a:ext cx="31032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101" name="Text 33"/>
          <p:cNvSpPr/>
          <p:nvPr/>
        </p:nvSpPr>
        <p:spPr>
          <a:xfrm>
            <a:off x="6976800" y="3520440"/>
            <a:ext cx="14623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92A30"/>
                </a:solidFill>
                <a:effectLst/>
                <a:uFillTx/>
                <a:latin typeface="Calibri"/>
                <a:ea typeface="Calibri"/>
              </a:rPr>
              <a:t>Permissive</a:t>
            </a:r>
            <a:endParaRPr lang="en-US" sz="1200" b="0" u="none" strike="noStrike">
              <a:solidFill>
                <a:srgbClr val="000000"/>
              </a:solidFill>
              <a:effectLst/>
              <a:uFillTx/>
              <a:latin typeface="Arial"/>
            </a:endParaRPr>
          </a:p>
        </p:txBody>
      </p:sp>
      <p:sp>
        <p:nvSpPr>
          <p:cNvPr id="102" name="Text 34"/>
          <p:cNvSpPr/>
          <p:nvPr/>
        </p:nvSpPr>
        <p:spPr>
          <a:xfrm>
            <a:off x="8412480" y="3493080"/>
            <a:ext cx="30898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080" b="0" u="none" strike="noStrike">
                <a:solidFill>
                  <a:srgbClr val="192A30"/>
                </a:solidFill>
                <a:effectLst/>
                <a:uFillTx/>
                <a:latin typeface="Calibri"/>
                <a:ea typeface="Calibri"/>
              </a:rPr>
              <a:t>A shorter inactive interval, typically from an active permissive-left phase.</a:t>
            </a:r>
            <a:endParaRPr lang="en-US" sz="1080" b="0" u="none" strike="noStrike">
              <a:solidFill>
                <a:srgbClr val="000000"/>
              </a:solidFill>
              <a:effectLst/>
              <a:uFillTx/>
              <a:latin typeface="Arial"/>
            </a:endParaRPr>
          </a:p>
        </p:txBody>
      </p:sp>
      <p:sp>
        <p:nvSpPr>
          <p:cNvPr id="103" name="Shape 35"/>
          <p:cNvSpPr/>
          <p:nvPr/>
        </p:nvSpPr>
        <p:spPr>
          <a:xfrm>
            <a:off x="6537960" y="4260960"/>
            <a:ext cx="310320" cy="31032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4" name="Text 36"/>
          <p:cNvSpPr/>
          <p:nvPr/>
        </p:nvSpPr>
        <p:spPr>
          <a:xfrm>
            <a:off x="6537960" y="4260960"/>
            <a:ext cx="31032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105" name="Text 37"/>
          <p:cNvSpPr/>
          <p:nvPr/>
        </p:nvSpPr>
        <p:spPr>
          <a:xfrm>
            <a:off x="6976800" y="4233600"/>
            <a:ext cx="14623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92A30"/>
                </a:solidFill>
                <a:effectLst/>
                <a:uFillTx/>
                <a:latin typeface="Calibri"/>
                <a:ea typeface="Calibri"/>
              </a:rPr>
              <a:t>No clearance</a:t>
            </a:r>
            <a:endParaRPr lang="en-US" sz="1200" b="0" u="none" strike="noStrike">
              <a:solidFill>
                <a:srgbClr val="000000"/>
              </a:solidFill>
              <a:effectLst/>
              <a:uFillTx/>
              <a:latin typeface="Arial"/>
            </a:endParaRPr>
          </a:p>
        </p:txBody>
      </p:sp>
      <p:sp>
        <p:nvSpPr>
          <p:cNvPr id="106" name="Text 38"/>
          <p:cNvSpPr/>
          <p:nvPr/>
        </p:nvSpPr>
        <p:spPr>
          <a:xfrm>
            <a:off x="8412480" y="4206240"/>
            <a:ext cx="30898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080" b="0" u="none" strike="noStrike">
                <a:solidFill>
                  <a:srgbClr val="192A30"/>
                </a:solidFill>
                <a:effectLst/>
                <a:uFillTx/>
                <a:latin typeface="Calibri"/>
                <a:ea typeface="Calibri"/>
              </a:rPr>
              <a:t>None required — the transition is immediate.</a:t>
            </a:r>
            <a:endParaRPr lang="en-US" sz="1080" b="0" u="none" strike="noStrike">
              <a:solidFill>
                <a:srgbClr val="000000"/>
              </a:solidFill>
              <a:effectLst/>
              <a:uFillTx/>
              <a:latin typeface="Arial"/>
            </a:endParaRPr>
          </a:p>
        </p:txBody>
      </p:sp>
      <p:sp>
        <p:nvSpPr>
          <p:cNvPr id="107" name="Text 39"/>
          <p:cNvSpPr/>
          <p:nvPr/>
        </p:nvSpPr>
        <p:spPr>
          <a:xfrm>
            <a:off x="6537960" y="4992480"/>
            <a:ext cx="491868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10000"/>
              </a:lnSpc>
              <a:tabLst>
                <a:tab pos="0" algn="l"/>
              </a:tabLst>
            </a:pPr>
            <a:r>
              <a:rPr lang="en-US" sz="1350" b="0" i="1" u="none" strike="noStrike">
                <a:solidFill>
                  <a:srgbClr val="7F8C8D"/>
                </a:solidFill>
                <a:effectLst/>
                <a:uFillTx/>
                <a:latin typeface="Calibri"/>
                <a:ea typeface="Calibri"/>
              </a:rPr>
              <a:t>The environment enforces yellow and all-red clearance.</a:t>
            </a:r>
            <a:endParaRPr lang="en-US" sz="1350" b="0" u="none" strike="noStrike">
              <a:solidFill>
                <a:srgbClr val="000000"/>
              </a:solidFill>
              <a:effectLst/>
              <a:uFillTx/>
              <a:latin typeface="Arial"/>
            </a:endParaRPr>
          </a:p>
          <a:p>
            <a:pPr defTabSz="914400">
              <a:lnSpc>
                <a:spcPct val="110000"/>
              </a:lnSpc>
              <a:tabLst>
                <a:tab pos="0" algn="l"/>
              </a:tabLst>
            </a:pPr>
            <a:r>
              <a:rPr lang="en-US" sz="1350" b="0" i="1" u="none" strike="noStrike">
                <a:solidFill>
                  <a:srgbClr val="7F8C8D"/>
                </a:solidFill>
                <a:effectLst/>
                <a:uFillTx/>
                <a:latin typeface="Calibri"/>
                <a:ea typeface="Calibri"/>
              </a:rPr>
              <a:t>Clearance flags also let the precedence score account for switching cost.</a:t>
            </a:r>
            <a:endParaRPr lang="en-US" sz="1350" b="0" u="none" strike="noStrike">
              <a:solidFill>
                <a:srgbClr val="000000"/>
              </a:solidFill>
              <a:effectLst/>
              <a:uFillTx/>
              <a:latin typeface="Arial"/>
            </a:endParaRPr>
          </a:p>
        </p:txBody>
      </p:sp>
      <p:sp>
        <p:nvSpPr>
          <p:cNvPr id="108" name="Text 40"/>
          <p:cNvSpPr/>
          <p:nvPr/>
        </p:nvSpPr>
        <p:spPr>
          <a:xfrm>
            <a:off x="457200" y="640080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0" u="none" strike="noStrike">
                <a:solidFill>
                  <a:srgbClr val="7F8C8D"/>
                </a:solidFill>
                <a:effectLst/>
                <a:uFillTx/>
                <a:latin typeface="Arial"/>
                <a:ea typeface="Arial"/>
              </a:rPr>
              <a:t>BITS Pilani | Deep Reinforcement Learning (WILP) | Assignment - I</a:t>
            </a:r>
            <a:endParaRPr lang="en-US" sz="950" b="0" u="none" strike="noStrike">
              <a:solidFill>
                <a:srgbClr val="000000"/>
              </a:solidFill>
              <a:effectLst/>
              <a:uFillTx/>
              <a:latin typeface="Arial"/>
            </a:endParaRPr>
          </a:p>
        </p:txBody>
      </p:sp>
      <p:sp>
        <p:nvSpPr>
          <p:cNvPr id="109" name="Rectangle 108"/>
          <p:cNvSpPr/>
          <p:nvPr/>
        </p:nvSpPr>
        <p:spPr>
          <a:xfrm>
            <a:off x="457200" y="6134040"/>
            <a:ext cx="11277360" cy="28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pPr>
            <a:r>
              <a:rPr lang="en-US" sz="1200" b="0" u="none" strike="noStrike">
                <a:solidFill>
                  <a:srgbClr val="7F8C8D"/>
                </a:solidFill>
                <a:effectLst/>
                <a:uFillTx/>
                <a:latin typeface="Calibri"/>
                <a:ea typeface="Calibri"/>
              </a:rPr>
              <a:t>Paper Sections 2.1 and 4, Figure 1: compatible phases and clearance</a:t>
            </a:r>
            <a:endParaRPr lang="en-US" sz="12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110" name="Text 0"/>
          <p:cNvSpPr/>
          <p:nvPr/>
        </p:nvSpPr>
        <p:spPr>
          <a:xfrm>
            <a:off x="457200" y="292680"/>
            <a:ext cx="1127376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0" u="none" strike="noStrike">
                <a:solidFill>
                  <a:srgbClr val="192A30"/>
                </a:solidFill>
                <a:effectLst/>
                <a:uFillTx/>
                <a:latin typeface="Calibri"/>
                <a:ea typeface="Calibri"/>
              </a:rPr>
              <a:t>What Makes the Policy 'Regulatable'?</a:t>
            </a:r>
            <a:endParaRPr lang="en-US" sz="2200" b="0" u="none" strike="noStrike">
              <a:solidFill>
                <a:srgbClr val="000000"/>
              </a:solidFill>
              <a:effectLst/>
              <a:uFillTx/>
              <a:latin typeface="Arial"/>
            </a:endParaRPr>
          </a:p>
        </p:txBody>
      </p:sp>
      <p:sp>
        <p:nvSpPr>
          <p:cNvPr id="111" name="Text 1"/>
          <p:cNvSpPr/>
          <p:nvPr/>
        </p:nvSpPr>
        <p:spPr>
          <a:xfrm>
            <a:off x="457200" y="713160"/>
            <a:ext cx="1127376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192A30"/>
                </a:solidFill>
                <a:effectLst/>
                <a:uFillTx/>
                <a:latin typeface="Calibri"/>
                <a:ea typeface="Calibri"/>
              </a:rPr>
              <a:t>INTERPRETABILITY BY DESIGN</a:t>
            </a:r>
            <a:endParaRPr lang="en-US" sz="1300" b="0" u="none" strike="noStrike">
              <a:solidFill>
                <a:srgbClr val="000000"/>
              </a:solidFill>
              <a:effectLst/>
              <a:uFillTx/>
              <a:latin typeface="Arial"/>
            </a:endParaRPr>
          </a:p>
        </p:txBody>
      </p:sp>
      <p:sp>
        <p:nvSpPr>
          <p:cNvPr id="112" name="Shape 2"/>
          <p:cNvSpPr/>
          <p:nvPr/>
        </p:nvSpPr>
        <p:spPr>
          <a:xfrm>
            <a:off x="457200" y="1600200"/>
            <a:ext cx="5211360" cy="4205520"/>
          </a:xfrm>
          <a:prstGeom prst="roundRect">
            <a:avLst>
              <a:gd name="adj" fmla="val 2609"/>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3" name="Shape 3"/>
          <p:cNvSpPr/>
          <p:nvPr/>
        </p:nvSpPr>
        <p:spPr>
          <a:xfrm>
            <a:off x="658440" y="1801440"/>
            <a:ext cx="346680" cy="34668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4" name="Text 4"/>
          <p:cNvSpPr/>
          <p:nvPr/>
        </p:nvSpPr>
        <p:spPr>
          <a:xfrm>
            <a:off x="658440" y="18014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115" name="Text 5"/>
          <p:cNvSpPr/>
          <p:nvPr/>
        </p:nvSpPr>
        <p:spPr>
          <a:xfrm>
            <a:off x="1115640" y="1783080"/>
            <a:ext cx="4388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92A30"/>
                </a:solidFill>
                <a:effectLst/>
                <a:uFillTx/>
                <a:latin typeface="Calibri"/>
                <a:ea typeface="Calibri"/>
              </a:rPr>
              <a:t>Precedence Function</a:t>
            </a:r>
            <a:endParaRPr lang="en-US" sz="1300" b="0" u="none" strike="noStrike">
              <a:solidFill>
                <a:srgbClr val="000000"/>
              </a:solidFill>
              <a:effectLst/>
              <a:uFillTx/>
              <a:latin typeface="Arial"/>
            </a:endParaRPr>
          </a:p>
        </p:txBody>
      </p:sp>
      <p:sp>
        <p:nvSpPr>
          <p:cNvPr id="116" name="Text 6"/>
          <p:cNvSpPr/>
          <p:nvPr/>
        </p:nvSpPr>
        <p:spPr>
          <a:xfrm>
            <a:off x="749880" y="2377440"/>
            <a:ext cx="4617000" cy="329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g(s, Φ; θ′) assigns a score to every valid, non-conflicting phase combination Φ.</a:t>
            </a:r>
            <a:endParaRPr lang="en-US" sz="12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The controller simply selects the combination with the highest precedence — argmaxΦ g(s, Φ; θ′).</a:t>
            </a:r>
            <a:endParaRPr lang="en-US" sz="12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A Q-function could serve as a precedence function, but a precedence function need not be a Q-function — it only needs to rank actions correctly.</a:t>
            </a:r>
            <a:endParaRPr lang="en-US" sz="1250" b="0" u="none" strike="noStrike">
              <a:solidFill>
                <a:srgbClr val="000000"/>
              </a:solidFill>
              <a:effectLst/>
              <a:uFillTx/>
              <a:latin typeface="Arial"/>
            </a:endParaRPr>
          </a:p>
        </p:txBody>
      </p:sp>
      <p:sp>
        <p:nvSpPr>
          <p:cNvPr id="117" name="Shape 7"/>
          <p:cNvSpPr/>
          <p:nvPr/>
        </p:nvSpPr>
        <p:spPr>
          <a:xfrm>
            <a:off x="6035040" y="1600200"/>
            <a:ext cx="5211360" cy="4205520"/>
          </a:xfrm>
          <a:prstGeom prst="roundRect">
            <a:avLst>
              <a:gd name="adj" fmla="val 2609"/>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8" name="Shape 8"/>
          <p:cNvSpPr/>
          <p:nvPr/>
        </p:nvSpPr>
        <p:spPr>
          <a:xfrm>
            <a:off x="6236280" y="1801440"/>
            <a:ext cx="346680" cy="34668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9" name="Text 9"/>
          <p:cNvSpPr/>
          <p:nvPr/>
        </p:nvSpPr>
        <p:spPr>
          <a:xfrm>
            <a:off x="6236280" y="18014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120" name="Text 10"/>
          <p:cNvSpPr/>
          <p:nvPr/>
        </p:nvSpPr>
        <p:spPr>
          <a:xfrm>
            <a:off x="6693480" y="1783080"/>
            <a:ext cx="4388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92A30"/>
                </a:solidFill>
                <a:effectLst/>
                <a:uFillTx/>
                <a:latin typeface="Calibri"/>
                <a:ea typeface="Calibri"/>
              </a:rPr>
              <a:t>The Regulatable (Monotonic) Condition</a:t>
            </a:r>
            <a:endParaRPr lang="en-US" sz="1300" b="0" u="none" strike="noStrike">
              <a:solidFill>
                <a:srgbClr val="000000"/>
              </a:solidFill>
              <a:effectLst/>
              <a:uFillTx/>
              <a:latin typeface="Arial"/>
            </a:endParaRPr>
          </a:p>
        </p:txBody>
      </p:sp>
      <p:sp>
        <p:nvSpPr>
          <p:cNvPr id="121" name="Text 11"/>
          <p:cNvSpPr/>
          <p:nvPr/>
        </p:nvSpPr>
        <p:spPr>
          <a:xfrm>
            <a:off x="6327720" y="2377440"/>
            <a:ext cx="4617000" cy="329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Definition 1: for every state variable s[i], ∂g/∂s[i] must exist and keep one consistent sign (≥ 0 or ≤ 0) for any valid state.</a:t>
            </a:r>
            <a:endParaRPr lang="en-US" sz="1250" b="0" u="none" strike="noStrike">
              <a:solidFill>
                <a:srgbClr val="000000"/>
              </a:solidFill>
              <a:effectLst/>
              <a:uFillTx/>
              <a:latin typeface="Arial"/>
            </a:endParaRPr>
          </a:p>
          <a:p>
            <a:pPr marL="343080" indent="-343080" defTabSz="914400">
              <a:lnSpc>
                <a:spcPct val="100000"/>
              </a:lnSpc>
              <a:spcAft>
                <a:spcPts val="799"/>
              </a:spcAft>
              <a:buClr>
                <a:srgbClr val="192A30"/>
              </a:buClr>
              <a:buFont typeface="Symbol"/>
              <a:buChar char=""/>
            </a:pPr>
            <a:r>
              <a:rPr lang="en-US" sz="1250" b="0" u="none" strike="noStrike">
                <a:solidFill>
                  <a:srgbClr val="192A30"/>
                </a:solidFill>
                <a:effectLst/>
                <a:uFillTx/>
                <a:latin typeface="Calibri"/>
                <a:ea typeface="Calibri"/>
              </a:rPr>
              <a:t>So, each input has one fixed direction of influence, each state variable influences an action's precedence in a consistent direction across valid states.</a:t>
            </a:r>
            <a:endParaRPr lang="en-US" sz="12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Monotonicity improves auditability; it is not a formal proof that every resulting behaviour is globally safe or optimal.</a:t>
            </a:r>
            <a:endParaRPr lang="en-US" sz="1250" b="0" u="none" strike="noStrike">
              <a:solidFill>
                <a:srgbClr val="000000"/>
              </a:solidFill>
              <a:effectLst/>
              <a:uFillTx/>
              <a:latin typeface="Arial"/>
            </a:endParaRPr>
          </a:p>
        </p:txBody>
      </p:sp>
      <p:sp>
        <p:nvSpPr>
          <p:cNvPr id="122" name="Text 12"/>
          <p:cNvSpPr/>
          <p:nvPr/>
        </p:nvSpPr>
        <p:spPr>
          <a:xfrm>
            <a:off x="457200" y="640080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0" u="none" strike="noStrike">
                <a:solidFill>
                  <a:srgbClr val="7F8C8D"/>
                </a:solidFill>
                <a:effectLst/>
                <a:uFillTx/>
                <a:latin typeface="Arial"/>
                <a:ea typeface="Arial"/>
              </a:rPr>
              <a:t>BITS Pilani | Deep Reinforcement Learning (WILP) | Assignment - I</a:t>
            </a:r>
            <a:endParaRPr lang="en-US" sz="950" b="0" u="none" strike="noStrike">
              <a:solidFill>
                <a:srgbClr val="000000"/>
              </a:solidFill>
              <a:effectLst/>
              <a:uFillTx/>
              <a:latin typeface="Arial"/>
            </a:endParaRPr>
          </a:p>
        </p:txBody>
      </p:sp>
      <p:sp>
        <p:nvSpPr>
          <p:cNvPr id="123" name="Rectangle 122"/>
          <p:cNvSpPr/>
          <p:nvPr/>
        </p:nvSpPr>
        <p:spPr>
          <a:xfrm>
            <a:off x="457200" y="6134040"/>
            <a:ext cx="11277360" cy="28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pPr>
            <a:r>
              <a:rPr lang="en-US" sz="1200" b="0" u="none" strike="noStrike">
                <a:solidFill>
                  <a:srgbClr val="7F8C8D"/>
                </a:solidFill>
                <a:effectLst/>
                <a:uFillTx/>
                <a:latin typeface="Calibri"/>
                <a:ea typeface="Calibri"/>
              </a:rPr>
              <a:t>Paper Section 4, Definition 1: regulatable precedence function</a:t>
            </a:r>
            <a:endParaRPr lang="en-US" sz="12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124" name="Rectangle 123"/>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Precedence Score and Monotonicity</a:t>
            </a:r>
            <a:endParaRPr lang="en-US" sz="2200" b="0" u="none" strike="noStrike">
              <a:solidFill>
                <a:srgbClr val="000000"/>
              </a:solidFill>
              <a:effectLst/>
              <a:uFillTx/>
              <a:latin typeface="Arial"/>
            </a:endParaRPr>
          </a:p>
        </p:txBody>
      </p:sp>
      <p:sp>
        <p:nvSpPr>
          <p:cNvPr id="125" name="Rectangle 124"/>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THE SCORE, ITS DERIVATIVE AND THE IMPLEMENTATION</a:t>
            </a:r>
            <a:endParaRPr lang="en-US" sz="1300" b="0" u="none" strike="noStrike">
              <a:solidFill>
                <a:srgbClr val="000000"/>
              </a:solidFill>
              <a:effectLst/>
              <a:uFillTx/>
              <a:latin typeface="Arial"/>
            </a:endParaRPr>
          </a:p>
        </p:txBody>
      </p:sp>
      <p:sp>
        <p:nvSpPr>
          <p:cNvPr id="126" name="Rectangle 125"/>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127" name="Rectangle 126"/>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6</a:t>
            </a:r>
            <a:endParaRPr lang="en-US" sz="950" b="0" u="none" strike="noStrike">
              <a:solidFill>
                <a:srgbClr val="000000"/>
              </a:solidFill>
              <a:effectLst/>
              <a:uFillTx/>
              <a:latin typeface="Arial"/>
            </a:endParaRPr>
          </a:p>
        </p:txBody>
      </p:sp>
      <p:sp>
        <p:nvSpPr>
          <p:cNvPr id="128" name="Rectangle 127"/>
          <p:cNvSpPr/>
          <p:nvPr/>
        </p:nvSpPr>
        <p:spPr>
          <a:xfrm>
            <a:off x="457200" y="1495440"/>
            <a:ext cx="10857960" cy="323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1" u="none" strike="noStrike">
                <a:solidFill>
                  <a:srgbClr val="107C41"/>
                </a:solidFill>
                <a:effectLst/>
                <a:uFillTx/>
                <a:latin typeface="Calibri"/>
                <a:ea typeface="Calibri"/>
              </a:rPr>
              <a:t>Paper Equation 1</a:t>
            </a:r>
            <a:endParaRPr lang="en-US" sz="1650" b="0" u="none" strike="noStrike">
              <a:solidFill>
                <a:srgbClr val="000000"/>
              </a:solidFill>
              <a:effectLst/>
              <a:uFillTx/>
              <a:latin typeface="Arial"/>
            </a:endParaRPr>
          </a:p>
        </p:txBody>
      </p:sp>
      <p:sp>
        <p:nvSpPr>
          <p:cNvPr id="129" name="Rectangle 128"/>
          <p:cNvSpPr/>
          <p:nvPr/>
        </p:nvSpPr>
        <p:spPr>
          <a:xfrm>
            <a:off x="457200" y="1943280"/>
            <a:ext cx="11277000" cy="570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50" b="0" u="none" strike="noStrike">
                <a:solidFill>
                  <a:srgbClr val="192A30"/>
                </a:solidFill>
                <a:effectLst/>
                <a:uFillTx/>
                <a:latin typeface="Calibri"/>
                <a:ea typeface="Calibri"/>
              </a:rPr>
              <a:t>g(s, Φ) = Σφ Σi (wφ,i × sφ[i])^pφ,i × Σj (w′Φ,j × fj)^p′Φ,j</a:t>
            </a:r>
            <a:endParaRPr lang="en-US" sz="2250" b="0" u="none" strike="noStrike">
              <a:solidFill>
                <a:srgbClr val="000000"/>
              </a:solidFill>
              <a:effectLst/>
              <a:uFillTx/>
              <a:latin typeface="Arial"/>
            </a:endParaRPr>
          </a:p>
        </p:txBody>
      </p:sp>
      <p:sp>
        <p:nvSpPr>
          <p:cNvPr id="130" name="Rectangle 129"/>
          <p:cNvSpPr/>
          <p:nvPr/>
        </p:nvSpPr>
        <p:spPr>
          <a:xfrm>
            <a:off x="457200" y="2610000"/>
            <a:ext cx="11277000" cy="37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0" u="none" strike="noStrike">
                <a:solidFill>
                  <a:srgbClr val="192A30"/>
                </a:solidFill>
                <a:effectLst/>
                <a:uFillTx/>
                <a:latin typeface="Calibri"/>
                <a:ea typeface="Calibri"/>
              </a:rPr>
              <a:t>6 traffic inputs per phase. 4 clearance flags. 352 parameters for the studied intersection.</a:t>
            </a:r>
            <a:endParaRPr lang="en-US" sz="1580" b="0" u="none" strike="noStrike">
              <a:solidFill>
                <a:srgbClr val="000000"/>
              </a:solidFill>
              <a:effectLst/>
              <a:uFillTx/>
              <a:latin typeface="Arial"/>
            </a:endParaRPr>
          </a:p>
        </p:txBody>
      </p:sp>
      <p:sp>
        <p:nvSpPr>
          <p:cNvPr id="131" name="Rectangle: Rounded Corners 130"/>
          <p:cNvSpPr/>
          <p:nvPr/>
        </p:nvSpPr>
        <p:spPr>
          <a:xfrm>
            <a:off x="457200" y="3333600"/>
            <a:ext cx="11277000" cy="2313720"/>
          </a:xfrm>
          <a:prstGeom prst="roundRect">
            <a:avLst>
              <a:gd name="adj" fmla="val 3292"/>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2" name="Rectangle 131"/>
          <p:cNvSpPr/>
          <p:nvPr/>
        </p:nvSpPr>
        <p:spPr>
          <a:xfrm>
            <a:off x="647640" y="3505320"/>
            <a:ext cx="10381680" cy="33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1" u="none" strike="noStrike">
                <a:solidFill>
                  <a:srgbClr val="107C41"/>
                </a:solidFill>
                <a:effectLst/>
                <a:uFillTx/>
                <a:latin typeface="Calibri"/>
                <a:ea typeface="Calibri"/>
              </a:rPr>
              <a:t>Local implementation</a:t>
            </a:r>
            <a:endParaRPr lang="en-US" sz="1650" b="0" u="none" strike="noStrike">
              <a:solidFill>
                <a:srgbClr val="000000"/>
              </a:solidFill>
              <a:effectLst/>
              <a:uFillTx/>
              <a:latin typeface="Arial"/>
            </a:endParaRPr>
          </a:p>
        </p:txBody>
      </p:sp>
      <p:sp>
        <p:nvSpPr>
          <p:cNvPr id="133" name="Rectangle 132"/>
          <p:cNvSpPr/>
          <p:nvPr/>
        </p:nvSpPr>
        <p:spPr>
          <a:xfrm>
            <a:off x="647640" y="3990960"/>
            <a:ext cx="10381680" cy="437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50" b="0" u="none" strike="noStrike">
                <a:solidFill>
                  <a:srgbClr val="192A30"/>
                </a:solidFill>
                <a:effectLst/>
                <a:uFillTx/>
                <a:latin typeface="Calibri"/>
                <a:ea typeface="Calibri"/>
              </a:rPr>
              <a:t>G(a) = c(a) × Σi w(a,i) × x(i)^p(a,i)</a:t>
            </a:r>
            <a:endParaRPr lang="en-US" sz="2250" b="0" u="none" strike="noStrike">
              <a:solidFill>
                <a:srgbClr val="000000"/>
              </a:solidFill>
              <a:effectLst/>
              <a:uFillTx/>
              <a:latin typeface="Arial"/>
            </a:endParaRPr>
          </a:p>
        </p:txBody>
      </p:sp>
      <p:sp>
        <p:nvSpPr>
          <p:cNvPr id="134" name="Rectangle 133"/>
          <p:cNvSpPr/>
          <p:nvPr/>
        </p:nvSpPr>
        <p:spPr>
          <a:xfrm>
            <a:off x="647640" y="4533840"/>
            <a:ext cx="10381680" cy="40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950" b="0" u="none" strike="noStrike">
                <a:solidFill>
                  <a:srgbClr val="192A30"/>
                </a:solidFill>
                <a:effectLst/>
                <a:uFillTx/>
                <a:latin typeface="Calibri"/>
                <a:ea typeface="Calibri"/>
              </a:rPr>
              <a:t>∂G / ∂x(i) = c(a) × w(a,i) × p(a,i) × x(i)^(p−1)</a:t>
            </a:r>
            <a:endParaRPr lang="en-US" sz="1950" b="0" u="none" strike="noStrike">
              <a:solidFill>
                <a:srgbClr val="000000"/>
              </a:solidFill>
              <a:effectLst/>
              <a:uFillTx/>
              <a:latin typeface="Arial"/>
            </a:endParaRPr>
          </a:p>
        </p:txBody>
      </p:sp>
      <p:sp>
        <p:nvSpPr>
          <p:cNvPr id="135" name="Rectangle 134"/>
          <p:cNvSpPr/>
          <p:nvPr/>
        </p:nvSpPr>
        <p:spPr>
          <a:xfrm>
            <a:off x="647640" y="5162400"/>
            <a:ext cx="10524240" cy="33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0" u="none" strike="noStrike">
                <a:solidFill>
                  <a:srgbClr val="192A30"/>
                </a:solidFill>
                <a:effectLst/>
                <a:uFillTx/>
                <a:latin typeface="Calibri"/>
                <a:ea typeface="Calibri"/>
              </a:rPr>
              <a:t>x ≥ 0, c &gt; 0, 1 &lt; p &lt; 2. The weight fixes the derivative sign at a saved checkpoint.</a:t>
            </a:r>
            <a:endParaRPr lang="en-US" sz="1580" b="0" u="none" strike="noStrike">
              <a:solidFill>
                <a:srgbClr val="000000"/>
              </a:solidFill>
              <a:effectLst/>
              <a:uFillTx/>
              <a:latin typeface="Arial"/>
            </a:endParaRPr>
          </a:p>
        </p:txBody>
      </p:sp>
      <p:sp>
        <p:nvSpPr>
          <p:cNvPr id="136" name="Rectangle 135"/>
          <p:cNvSpPr/>
          <p:nvPr/>
        </p:nvSpPr>
        <p:spPr>
          <a:xfrm>
            <a:off x="457200" y="6134040"/>
            <a:ext cx="1127700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200" b="0" u="none" strike="noStrike">
                <a:solidFill>
                  <a:srgbClr val="7F8C8D"/>
                </a:solidFill>
                <a:effectLst/>
                <a:uFillTx/>
                <a:latin typeface="Calibri"/>
                <a:ea typeface="Calibri"/>
              </a:rPr>
              <a:t>Paper Eq. 1; local networks.py. Fixed input normalization; learned positive clearance factors; 56 actor parameters.</a:t>
            </a:r>
            <a:endParaRPr lang="en-US" sz="12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137" name="Rectangle 136"/>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A Worked Precedence Decision</a:t>
            </a:r>
            <a:endParaRPr lang="en-US" sz="2200" b="0" u="none" strike="noStrike">
              <a:solidFill>
                <a:srgbClr val="000000"/>
              </a:solidFill>
              <a:effectLst/>
              <a:uFillTx/>
              <a:latin typeface="Arial"/>
            </a:endParaRPr>
          </a:p>
        </p:txBody>
      </p:sp>
      <p:sp>
        <p:nvSpPr>
          <p:cNvPr id="138" name="Rectangle 137"/>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FIGURE 2 ARITHMETIC</a:t>
            </a:r>
            <a:endParaRPr lang="en-US" sz="1300" b="0" u="none" strike="noStrike">
              <a:solidFill>
                <a:srgbClr val="000000"/>
              </a:solidFill>
              <a:effectLst/>
              <a:uFillTx/>
              <a:latin typeface="Arial"/>
            </a:endParaRPr>
          </a:p>
        </p:txBody>
      </p:sp>
      <p:sp>
        <p:nvSpPr>
          <p:cNvPr id="139" name="Rectangle 138"/>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140" name="Rectangle 139"/>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7</a:t>
            </a:r>
            <a:endParaRPr lang="en-US" sz="950" b="0" u="none" strike="noStrike">
              <a:solidFill>
                <a:srgbClr val="000000"/>
              </a:solidFill>
              <a:effectLst/>
              <a:uFillTx/>
              <a:latin typeface="Arial"/>
            </a:endParaRPr>
          </a:p>
        </p:txBody>
      </p:sp>
      <p:graphicFrame>
        <p:nvGraphicFramePr>
          <p:cNvPr id="141" name="Table 140"/>
          <p:cNvGraphicFramePr/>
          <p:nvPr/>
        </p:nvGraphicFramePr>
        <p:xfrm>
          <a:off x="457200" y="1657440"/>
          <a:ext cx="11277000" cy="1990440"/>
        </p:xfrm>
        <a:graphic>
          <a:graphicData uri="http://schemas.openxmlformats.org/drawingml/2006/table">
            <a:tbl>
              <a:tblPr/>
              <a:tblGrid>
                <a:gridCol w="3143160">
                  <a:extLst>
                    <a:ext uri="{9D8B030D-6E8A-4147-A177-3AD203B41FA5}">
                      <a16:colId xmlns:a16="http://schemas.microsoft.com/office/drawing/2014/main" val="20000"/>
                    </a:ext>
                  </a:extLst>
                </a:gridCol>
                <a:gridCol w="2523960">
                  <a:extLst>
                    <a:ext uri="{9D8B030D-6E8A-4147-A177-3AD203B41FA5}">
                      <a16:colId xmlns:a16="http://schemas.microsoft.com/office/drawing/2014/main" val="20001"/>
                    </a:ext>
                  </a:extLst>
                </a:gridCol>
                <a:gridCol w="2523960">
                  <a:extLst>
                    <a:ext uri="{9D8B030D-6E8A-4147-A177-3AD203B41FA5}">
                      <a16:colId xmlns:a16="http://schemas.microsoft.com/office/drawing/2014/main" val="20002"/>
                    </a:ext>
                  </a:extLst>
                </a:gridCol>
                <a:gridCol w="3085920">
                  <a:extLst>
                    <a:ext uri="{9D8B030D-6E8A-4147-A177-3AD203B41FA5}">
                      <a16:colId xmlns:a16="http://schemas.microsoft.com/office/drawing/2014/main" val="20003"/>
                    </a:ext>
                  </a:extLst>
                </a:gridCol>
              </a:tblGrid>
              <a:tr h="663480">
                <a:tc>
                  <a:txBody>
                    <a:bodyPr/>
                    <a:lstStyle/>
                    <a:p>
                      <a:pPr>
                        <a:lnSpc>
                          <a:spcPct val="100000"/>
                        </a:lnSpc>
                      </a:pPr>
                      <a:r>
                        <a:rPr lang="en-US" sz="1800" b="1" u="none" strike="noStrike">
                          <a:solidFill>
                            <a:srgbClr val="FFFFFF"/>
                          </a:solidFill>
                          <a:effectLst/>
                          <a:uFillTx/>
                          <a:latin typeface="Calibri"/>
                          <a:ea typeface="Calibri"/>
                        </a:rPr>
                        <a:t>Configuration</a:t>
                      </a:r>
                      <a:endParaRPr lang="en-US"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800" b="1" u="none" strike="noStrike">
                          <a:solidFill>
                            <a:srgbClr val="FFFFFF"/>
                          </a:solidFill>
                          <a:effectLst/>
                          <a:uFillTx/>
                          <a:latin typeface="Calibri"/>
                          <a:ea typeface="Calibri"/>
                        </a:rPr>
                        <a:t>Through terms</a:t>
                      </a:r>
                      <a:endParaRPr lang="en-US"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800" b="1" u="none" strike="noStrike">
                          <a:solidFill>
                            <a:srgbClr val="FFFFFF"/>
                          </a:solidFill>
                          <a:effectLst/>
                          <a:uFillTx/>
                          <a:latin typeface="Calibri"/>
                          <a:ea typeface="Calibri"/>
                        </a:rPr>
                        <a:t>Left terms</a:t>
                      </a:r>
                      <a:endParaRPr lang="en-US"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800" b="1" u="none" strike="noStrike">
                          <a:solidFill>
                            <a:srgbClr val="FFFFFF"/>
                          </a:solidFill>
                          <a:effectLst/>
                          <a:uFillTx/>
                          <a:latin typeface="Calibri"/>
                          <a:ea typeface="Calibri"/>
                        </a:rPr>
                        <a:t>Combined score</a:t>
                      </a:r>
                      <a:endParaRPr lang="en-US"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extLst>
                  <a:ext uri="{0D108BD9-81ED-4DB2-BD59-A6C34878D82A}">
                    <a16:rowId xmlns:a16="http://schemas.microsoft.com/office/drawing/2014/main" val="10000"/>
                  </a:ext>
                </a:extLst>
              </a:tr>
              <a:tr h="663480">
                <a:tc>
                  <a:txBody>
                    <a:bodyPr/>
                    <a:lstStyle/>
                    <a:p>
                      <a:pPr>
                        <a:lnSpc>
                          <a:spcPct val="100000"/>
                        </a:lnSpc>
                      </a:pPr>
                      <a:r>
                        <a:rPr lang="en-US" sz="1800" b="0" u="none" strike="noStrike">
                          <a:solidFill>
                            <a:srgbClr val="192A30"/>
                          </a:solidFill>
                          <a:effectLst/>
                          <a:uFillTx/>
                          <a:latin typeface="Calibri"/>
                          <a:ea typeface="Calibri"/>
                        </a:rPr>
                        <a:t>Westbound</a:t>
                      </a:r>
                      <a:endParaRPr lang="en-US"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800" b="0" u="none" strike="noStrike">
                          <a:solidFill>
                            <a:srgbClr val="192A30"/>
                          </a:solidFill>
                          <a:effectLst/>
                          <a:uFillTx/>
                          <a:latin typeface="Calibri"/>
                          <a:ea typeface="Calibri"/>
                        </a:rPr>
                        <a:t>2.43</a:t>
                      </a:r>
                      <a:endParaRPr lang="en-US"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800" b="0" u="none" strike="noStrike">
                          <a:solidFill>
                            <a:srgbClr val="192A30"/>
                          </a:solidFill>
                          <a:effectLst/>
                          <a:uFillTx/>
                          <a:latin typeface="Calibri"/>
                          <a:ea typeface="Calibri"/>
                        </a:rPr>
                        <a:t>20.10</a:t>
                      </a:r>
                      <a:endParaRPr lang="en-US"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800" b="0" u="none" strike="noStrike">
                          <a:solidFill>
                            <a:srgbClr val="192A30"/>
                          </a:solidFill>
                          <a:effectLst/>
                          <a:uFillTx/>
                          <a:latin typeface="Calibri"/>
                          <a:ea typeface="Calibri"/>
                        </a:rPr>
                        <a:t>22.53</a:t>
                      </a:r>
                      <a:endParaRPr lang="en-US"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1"/>
                  </a:ext>
                </a:extLst>
              </a:tr>
              <a:tr h="663480">
                <a:tc>
                  <a:txBody>
                    <a:bodyPr/>
                    <a:lstStyle/>
                    <a:p>
                      <a:pPr>
                        <a:lnSpc>
                          <a:spcPct val="100000"/>
                        </a:lnSpc>
                      </a:pPr>
                      <a:r>
                        <a:rPr lang="en-US" sz="1800" b="0" u="none" strike="noStrike">
                          <a:solidFill>
                            <a:srgbClr val="192A30"/>
                          </a:solidFill>
                          <a:effectLst/>
                          <a:uFillTx/>
                          <a:latin typeface="Calibri"/>
                          <a:ea typeface="Calibri"/>
                        </a:rPr>
                        <a:t>Eastbound</a:t>
                      </a:r>
                      <a:endParaRPr lang="en-US"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800" b="0" u="none" strike="noStrike">
                          <a:solidFill>
                            <a:srgbClr val="192A30"/>
                          </a:solidFill>
                          <a:effectLst/>
                          <a:uFillTx/>
                          <a:latin typeface="Calibri"/>
                          <a:ea typeface="Calibri"/>
                        </a:rPr>
                        <a:t>1.98</a:t>
                      </a:r>
                      <a:endParaRPr lang="en-US"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800" b="0" u="none" strike="noStrike">
                          <a:solidFill>
                            <a:srgbClr val="192A30"/>
                          </a:solidFill>
                          <a:effectLst/>
                          <a:uFillTx/>
                          <a:latin typeface="Calibri"/>
                          <a:ea typeface="Calibri"/>
                        </a:rPr>
                        <a:t>17.33</a:t>
                      </a:r>
                      <a:endParaRPr lang="en-US"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800" b="0" u="none" strike="noStrike">
                          <a:solidFill>
                            <a:srgbClr val="192A30"/>
                          </a:solidFill>
                          <a:effectLst/>
                          <a:uFillTx/>
                          <a:latin typeface="Calibri"/>
                          <a:ea typeface="Calibri"/>
                        </a:rPr>
                        <a:t>19.31</a:t>
                      </a:r>
                      <a:endParaRPr lang="en-US"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extLst>
                  <a:ext uri="{0D108BD9-81ED-4DB2-BD59-A6C34878D82A}">
                    <a16:rowId xmlns:a16="http://schemas.microsoft.com/office/drawing/2014/main" val="10002"/>
                  </a:ext>
                </a:extLst>
              </a:tr>
            </a:tbl>
          </a:graphicData>
        </a:graphic>
      </p:graphicFrame>
      <p:sp>
        <p:nvSpPr>
          <p:cNvPr id="142" name="Rectangle 141"/>
          <p:cNvSpPr/>
          <p:nvPr/>
        </p:nvSpPr>
        <p:spPr>
          <a:xfrm>
            <a:off x="457200" y="4114800"/>
            <a:ext cx="11277000" cy="55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700" b="1" u="none" strike="noStrike">
                <a:solidFill>
                  <a:srgbClr val="107C41"/>
                </a:solidFill>
                <a:effectLst/>
                <a:uFillTx/>
                <a:latin typeface="Calibri"/>
                <a:ea typeface="Calibri"/>
              </a:rPr>
              <a:t>Westbound wins because 22.53 &gt; 19.31</a:t>
            </a:r>
            <a:endParaRPr lang="en-US" sz="2700" b="0" u="none" strike="noStrike">
              <a:solidFill>
                <a:srgbClr val="000000"/>
              </a:solidFill>
              <a:effectLst/>
              <a:uFillTx/>
              <a:latin typeface="Arial"/>
            </a:endParaRPr>
          </a:p>
        </p:txBody>
      </p:sp>
      <p:sp>
        <p:nvSpPr>
          <p:cNvPr id="143" name="Rectangle 142"/>
          <p:cNvSpPr/>
          <p:nvPr/>
        </p:nvSpPr>
        <p:spPr>
          <a:xfrm>
            <a:off x="457200" y="4857840"/>
            <a:ext cx="11277000" cy="81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870" b="0" u="none" strike="noStrike">
                <a:solidFill>
                  <a:srgbClr val="192A30"/>
                </a:solidFill>
                <a:effectLst/>
                <a:uFillTx/>
                <a:latin typeface="Calibri"/>
                <a:ea typeface="Calibri"/>
              </a:rPr>
              <a:t>22.53 belongs to the whole westbound configuration.</a:t>
            </a:r>
            <a:endParaRPr lang="en-US" sz="1870" b="0" u="none" strike="noStrike">
              <a:solidFill>
                <a:srgbClr val="000000"/>
              </a:solidFill>
              <a:effectLst/>
              <a:uFillTx/>
              <a:latin typeface="Arial"/>
            </a:endParaRPr>
          </a:p>
          <a:p>
            <a:pPr defTabSz="914400">
              <a:lnSpc>
                <a:spcPct val="100000"/>
              </a:lnSpc>
            </a:pPr>
            <a:r>
              <a:rPr lang="en-US" sz="1870" b="0" u="none" strike="noStrike">
                <a:solidFill>
                  <a:srgbClr val="192A30"/>
                </a:solidFill>
                <a:effectLst/>
                <a:uFillTx/>
                <a:latin typeface="Calibri"/>
                <a:ea typeface="Calibri"/>
              </a:rPr>
              <a:t>The westbound left-turn contribution alone is 20.10.</a:t>
            </a:r>
            <a:endParaRPr lang="en-US" sz="1870" b="0" u="none" strike="noStrike">
              <a:solidFill>
                <a:srgbClr val="000000"/>
              </a:solidFill>
              <a:effectLst/>
              <a:uFillTx/>
              <a:latin typeface="Arial"/>
            </a:endParaRPr>
          </a:p>
        </p:txBody>
      </p:sp>
      <p:sp>
        <p:nvSpPr>
          <p:cNvPr id="144" name="Rectangle 143"/>
          <p:cNvSpPr/>
          <p:nvPr/>
        </p:nvSpPr>
        <p:spPr>
          <a:xfrm>
            <a:off x="457200" y="6134040"/>
            <a:ext cx="1127700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200" b="0" u="none" strike="noStrike">
                <a:solidFill>
                  <a:srgbClr val="7F8C8D"/>
                </a:solidFill>
                <a:effectLst/>
                <a:uFillTx/>
                <a:latin typeface="Calibri"/>
                <a:ea typeface="Calibri"/>
              </a:rPr>
              <a:t>Paper Figure 2. Notebook Section 14 checks the arithmetic. These values do not come from the local experiment.</a:t>
            </a:r>
            <a:endParaRPr lang="en-US" sz="120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145" name="Text 0"/>
          <p:cNvSpPr/>
          <p:nvPr/>
        </p:nvSpPr>
        <p:spPr>
          <a:xfrm>
            <a:off x="457200" y="292680"/>
            <a:ext cx="1127376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0" u="none" strike="noStrike">
                <a:solidFill>
                  <a:srgbClr val="192A30"/>
                </a:solidFill>
                <a:effectLst/>
                <a:uFillTx/>
                <a:latin typeface="Calibri"/>
                <a:ea typeface="Calibri"/>
              </a:rPr>
              <a:t>How Deep RL Trains an Interpretable Controller</a:t>
            </a:r>
            <a:endParaRPr lang="en-US" sz="2200" b="0" u="none" strike="noStrike">
              <a:solidFill>
                <a:srgbClr val="000000"/>
              </a:solidFill>
              <a:effectLst/>
              <a:uFillTx/>
              <a:latin typeface="Arial"/>
            </a:endParaRPr>
          </a:p>
        </p:txBody>
      </p:sp>
      <p:sp>
        <p:nvSpPr>
          <p:cNvPr id="146" name="Text 1"/>
          <p:cNvSpPr/>
          <p:nvPr/>
        </p:nvSpPr>
        <p:spPr>
          <a:xfrm>
            <a:off x="457200" y="713160"/>
            <a:ext cx="1127376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192A30"/>
                </a:solidFill>
                <a:effectLst/>
                <a:uFillTx/>
                <a:latin typeface="Calibri"/>
                <a:ea typeface="Calibri"/>
              </a:rPr>
              <a:t>SYSTEM ARCHITECTURE</a:t>
            </a:r>
            <a:endParaRPr lang="en-US" sz="1300" b="0" u="none" strike="noStrike">
              <a:solidFill>
                <a:srgbClr val="000000"/>
              </a:solidFill>
              <a:effectLst/>
              <a:uFillTx/>
              <a:latin typeface="Arial"/>
            </a:endParaRPr>
          </a:p>
        </p:txBody>
      </p:sp>
      <p:sp>
        <p:nvSpPr>
          <p:cNvPr id="147" name="Shape 2"/>
          <p:cNvSpPr/>
          <p:nvPr/>
        </p:nvSpPr>
        <p:spPr>
          <a:xfrm>
            <a:off x="457200" y="1737360"/>
            <a:ext cx="2331000" cy="1050840"/>
          </a:xfrm>
          <a:prstGeom prst="roundRect">
            <a:avLst>
              <a:gd name="adj" fmla="val 8696"/>
            </a:avLst>
          </a:prstGeom>
          <a:solidFill>
            <a:srgbClr val="FFFFFF"/>
          </a:solidFill>
          <a:ln w="0">
            <a:noFill/>
          </a:ln>
          <a:effectLst>
            <a:outerShdw blurRad="63360" dist="25560" dir="54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8" name="Text 3"/>
          <p:cNvSpPr/>
          <p:nvPr/>
        </p:nvSpPr>
        <p:spPr>
          <a:xfrm>
            <a:off x="594360" y="1847160"/>
            <a:ext cx="20566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192A30"/>
                </a:solidFill>
                <a:effectLst/>
                <a:uFillTx/>
                <a:latin typeface="Calibri"/>
                <a:ea typeface="Calibri"/>
              </a:rPr>
              <a:t>Traffic State</a:t>
            </a:r>
            <a:endParaRPr lang="en-US" sz="1250" b="0" u="none" strike="noStrike">
              <a:solidFill>
                <a:srgbClr val="000000"/>
              </a:solidFill>
              <a:effectLst/>
              <a:uFillTx/>
              <a:latin typeface="Arial"/>
            </a:endParaRPr>
          </a:p>
        </p:txBody>
      </p:sp>
      <p:sp>
        <p:nvSpPr>
          <p:cNvPr id="149" name="Text 4"/>
          <p:cNvSpPr/>
          <p:nvPr/>
        </p:nvSpPr>
        <p:spPr>
          <a:xfrm>
            <a:off x="594360" y="2267640"/>
            <a:ext cx="205668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a:solidFill>
                  <a:srgbClr val="7F8C8D"/>
                </a:solidFill>
                <a:effectLst/>
                <a:uFillTx/>
                <a:latin typeface="Calibri"/>
                <a:ea typeface="Calibri"/>
              </a:rPr>
              <a:t>Queues, speed, wait</a:t>
            </a:r>
            <a:endParaRPr lang="en-US" sz="1050" b="0" u="none" strike="noStrike">
              <a:solidFill>
                <a:srgbClr val="000000"/>
              </a:solidFill>
              <a:effectLst/>
              <a:uFillTx/>
              <a:latin typeface="Arial"/>
            </a:endParaRPr>
          </a:p>
        </p:txBody>
      </p:sp>
      <p:sp>
        <p:nvSpPr>
          <p:cNvPr id="150" name="Shape 5"/>
          <p:cNvSpPr/>
          <p:nvPr/>
        </p:nvSpPr>
        <p:spPr>
          <a:xfrm>
            <a:off x="2816280" y="2135160"/>
            <a:ext cx="273600" cy="255240"/>
          </a:xfrm>
          <a:prstGeom prst="chevron">
            <a:avLst>
              <a:gd name="adj" fmla="val 50000"/>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1" name="Shape 6"/>
          <p:cNvSpPr/>
          <p:nvPr/>
        </p:nvSpPr>
        <p:spPr>
          <a:xfrm>
            <a:off x="3108960" y="1737360"/>
            <a:ext cx="2331000" cy="1050840"/>
          </a:xfrm>
          <a:prstGeom prst="roundRect">
            <a:avLst>
              <a:gd name="adj" fmla="val 8696"/>
            </a:avLst>
          </a:prstGeom>
          <a:solidFill>
            <a:srgbClr val="FFFFFF"/>
          </a:solidFill>
          <a:ln w="0">
            <a:noFill/>
          </a:ln>
          <a:effectLst>
            <a:outerShdw blurRad="63360" dist="25560" dir="54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2" name="Text 7"/>
          <p:cNvSpPr/>
          <p:nvPr/>
        </p:nvSpPr>
        <p:spPr>
          <a:xfrm>
            <a:off x="3246120" y="1847160"/>
            <a:ext cx="20566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192A30"/>
                </a:solidFill>
                <a:effectLst/>
                <a:uFillTx/>
                <a:latin typeface="Calibri"/>
                <a:ea typeface="Calibri"/>
              </a:rPr>
              <a:t>Environment</a:t>
            </a:r>
            <a:endParaRPr lang="en-US" sz="1250" b="0" u="none" strike="noStrike">
              <a:solidFill>
                <a:srgbClr val="000000"/>
              </a:solidFill>
              <a:effectLst/>
              <a:uFillTx/>
              <a:latin typeface="Arial"/>
            </a:endParaRPr>
          </a:p>
        </p:txBody>
      </p:sp>
      <p:sp>
        <p:nvSpPr>
          <p:cNvPr id="153" name="Text 8"/>
          <p:cNvSpPr/>
          <p:nvPr/>
        </p:nvSpPr>
        <p:spPr>
          <a:xfrm>
            <a:off x="3246120" y="2267640"/>
            <a:ext cx="205668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a:solidFill>
                  <a:srgbClr val="7F8C8D"/>
                </a:solidFill>
                <a:effectLst/>
                <a:uFillTx/>
                <a:latin typeface="Calibri"/>
                <a:ea typeface="Calibri"/>
              </a:rPr>
              <a:t>SUMO</a:t>
            </a:r>
            <a:endParaRPr lang="en-US" sz="1050" b="0" u="none" strike="noStrike">
              <a:solidFill>
                <a:srgbClr val="000000"/>
              </a:solidFill>
              <a:effectLst/>
              <a:uFillTx/>
              <a:latin typeface="Arial"/>
            </a:endParaRPr>
          </a:p>
        </p:txBody>
      </p:sp>
      <p:sp>
        <p:nvSpPr>
          <p:cNvPr id="154" name="Shape 9"/>
          <p:cNvSpPr/>
          <p:nvPr/>
        </p:nvSpPr>
        <p:spPr>
          <a:xfrm>
            <a:off x="5468040" y="2135160"/>
            <a:ext cx="273600" cy="255240"/>
          </a:xfrm>
          <a:prstGeom prst="chevron">
            <a:avLst>
              <a:gd name="adj" fmla="val 50000"/>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5" name="Shape 10"/>
          <p:cNvSpPr/>
          <p:nvPr/>
        </p:nvSpPr>
        <p:spPr>
          <a:xfrm>
            <a:off x="5760720" y="1737360"/>
            <a:ext cx="2331000" cy="1050840"/>
          </a:xfrm>
          <a:prstGeom prst="roundRect">
            <a:avLst>
              <a:gd name="adj" fmla="val 8696"/>
            </a:avLst>
          </a:prstGeom>
          <a:solidFill>
            <a:srgbClr val="FFFFFF"/>
          </a:solidFill>
          <a:ln w="0">
            <a:noFill/>
          </a:ln>
          <a:effectLst>
            <a:outerShdw blurRad="63360" dist="25560" dir="54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6" name="Text 11"/>
          <p:cNvSpPr/>
          <p:nvPr/>
        </p:nvSpPr>
        <p:spPr>
          <a:xfrm>
            <a:off x="5897880" y="1847160"/>
            <a:ext cx="20566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192A30"/>
                </a:solidFill>
                <a:effectLst/>
                <a:uFillTx/>
                <a:latin typeface="Calibri"/>
                <a:ea typeface="Calibri"/>
              </a:rPr>
              <a:t>DQN Q-Network</a:t>
            </a:r>
            <a:endParaRPr lang="en-US" sz="1250" b="0" u="none" strike="noStrike">
              <a:solidFill>
                <a:srgbClr val="000000"/>
              </a:solidFill>
              <a:effectLst/>
              <a:uFillTx/>
              <a:latin typeface="Arial"/>
            </a:endParaRPr>
          </a:p>
        </p:txBody>
      </p:sp>
      <p:sp>
        <p:nvSpPr>
          <p:cNvPr id="157" name="Text 12"/>
          <p:cNvSpPr/>
          <p:nvPr/>
        </p:nvSpPr>
        <p:spPr>
          <a:xfrm>
            <a:off x="5897880" y="2267640"/>
            <a:ext cx="205668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a:solidFill>
                  <a:srgbClr val="7F8C8D"/>
                </a:solidFill>
                <a:effectLst/>
                <a:uFillTx/>
                <a:latin typeface="Calibri"/>
                <a:ea typeface="Calibri"/>
              </a:rPr>
              <a:t>Learns Q(s,a)</a:t>
            </a:r>
            <a:endParaRPr lang="en-US" sz="1050" b="0" u="none" strike="noStrike">
              <a:solidFill>
                <a:srgbClr val="000000"/>
              </a:solidFill>
              <a:effectLst/>
              <a:uFillTx/>
              <a:latin typeface="Arial"/>
            </a:endParaRPr>
          </a:p>
        </p:txBody>
      </p:sp>
      <p:sp>
        <p:nvSpPr>
          <p:cNvPr id="158" name="Shape 13"/>
          <p:cNvSpPr/>
          <p:nvPr/>
        </p:nvSpPr>
        <p:spPr>
          <a:xfrm>
            <a:off x="8119800" y="2135160"/>
            <a:ext cx="273600" cy="255240"/>
          </a:xfrm>
          <a:prstGeom prst="chevron">
            <a:avLst>
              <a:gd name="adj" fmla="val 50000"/>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9" name="Shape 14"/>
          <p:cNvSpPr/>
          <p:nvPr/>
        </p:nvSpPr>
        <p:spPr>
          <a:xfrm>
            <a:off x="8412480" y="1737360"/>
            <a:ext cx="2331000" cy="1050840"/>
          </a:xfrm>
          <a:prstGeom prst="roundRect">
            <a:avLst>
              <a:gd name="adj" fmla="val 8696"/>
            </a:avLst>
          </a:prstGeom>
          <a:solidFill>
            <a:srgbClr val="FFFFFF"/>
          </a:solidFill>
          <a:ln w="0">
            <a:noFill/>
          </a:ln>
          <a:effectLst>
            <a:outerShdw blurRad="63360" dist="25560" dir="54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0" name="Text 15"/>
          <p:cNvSpPr/>
          <p:nvPr/>
        </p:nvSpPr>
        <p:spPr>
          <a:xfrm>
            <a:off x="8549640" y="1847160"/>
            <a:ext cx="20566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192A30"/>
                </a:solidFill>
                <a:effectLst/>
                <a:uFillTx/>
                <a:latin typeface="Calibri"/>
                <a:ea typeface="Calibri"/>
              </a:rPr>
              <a:t>Best Action</a:t>
            </a:r>
            <a:endParaRPr lang="en-US" sz="1250" b="0" u="none" strike="noStrike">
              <a:solidFill>
                <a:srgbClr val="000000"/>
              </a:solidFill>
              <a:effectLst/>
              <a:uFillTx/>
              <a:latin typeface="Arial"/>
            </a:endParaRPr>
          </a:p>
        </p:txBody>
      </p:sp>
      <p:sp>
        <p:nvSpPr>
          <p:cNvPr id="161" name="Text 16"/>
          <p:cNvSpPr/>
          <p:nvPr/>
        </p:nvSpPr>
        <p:spPr>
          <a:xfrm>
            <a:off x="8549640" y="2267640"/>
            <a:ext cx="205668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a:solidFill>
                  <a:srgbClr val="7F8C8D"/>
                </a:solidFill>
                <a:effectLst/>
                <a:uFillTx/>
                <a:latin typeface="Calibri"/>
                <a:ea typeface="Calibri"/>
              </a:rPr>
              <a:t>argmax Q</a:t>
            </a:r>
            <a:endParaRPr lang="en-US" sz="1050" b="0" u="none" strike="noStrike">
              <a:solidFill>
                <a:srgbClr val="000000"/>
              </a:solidFill>
              <a:effectLst/>
              <a:uFillTx/>
              <a:latin typeface="Arial"/>
            </a:endParaRPr>
          </a:p>
        </p:txBody>
      </p:sp>
      <p:sp>
        <p:nvSpPr>
          <p:cNvPr id="162" name="Shape 17"/>
          <p:cNvSpPr/>
          <p:nvPr/>
        </p:nvSpPr>
        <p:spPr>
          <a:xfrm>
            <a:off x="9450360" y="2862000"/>
            <a:ext cx="255240" cy="365040"/>
          </a:xfrm>
          <a:prstGeom prst="downArrow">
            <a:avLst>
              <a:gd name="adj1" fmla="val 50000"/>
              <a:gd name="adj2" fmla="val 50000"/>
            </a:avLst>
          </a:prstGeom>
          <a:solidFill>
            <a:srgbClr val="8A949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63" name="Shape 18"/>
          <p:cNvSpPr/>
          <p:nvPr/>
        </p:nvSpPr>
        <p:spPr>
          <a:xfrm>
            <a:off x="457200" y="3383280"/>
            <a:ext cx="2331000" cy="1050840"/>
          </a:xfrm>
          <a:prstGeom prst="roundRect">
            <a:avLst>
              <a:gd name="adj" fmla="val 8696"/>
            </a:avLst>
          </a:prstGeom>
          <a:solidFill>
            <a:srgbClr val="FFFFFF"/>
          </a:solidFill>
          <a:ln w="0">
            <a:noFill/>
          </a:ln>
          <a:effectLst>
            <a:outerShdw blurRad="63360" dist="25560" dir="54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4" name="Text 19"/>
          <p:cNvSpPr/>
          <p:nvPr/>
        </p:nvSpPr>
        <p:spPr>
          <a:xfrm>
            <a:off x="594360" y="3493080"/>
            <a:ext cx="20566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192A30"/>
                </a:solidFill>
                <a:effectLst/>
                <a:uFillTx/>
                <a:latin typeface="Calibri"/>
                <a:ea typeface="Calibri"/>
              </a:rPr>
              <a:t>Signal Action</a:t>
            </a:r>
            <a:endParaRPr lang="en-US" sz="1250" b="0" u="none" strike="noStrike">
              <a:solidFill>
                <a:srgbClr val="000000"/>
              </a:solidFill>
              <a:effectLst/>
              <a:uFillTx/>
              <a:latin typeface="Arial"/>
            </a:endParaRPr>
          </a:p>
        </p:txBody>
      </p:sp>
      <p:sp>
        <p:nvSpPr>
          <p:cNvPr id="165" name="Text 20"/>
          <p:cNvSpPr/>
          <p:nvPr/>
        </p:nvSpPr>
        <p:spPr>
          <a:xfrm>
            <a:off x="594360" y="3913560"/>
            <a:ext cx="205668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a:solidFill>
                  <a:srgbClr val="7F8C8D"/>
                </a:solidFill>
                <a:effectLst/>
                <a:uFillTx/>
                <a:latin typeface="Calibri"/>
                <a:ea typeface="Calibri"/>
              </a:rPr>
              <a:t>Valid phase set</a:t>
            </a:r>
            <a:endParaRPr lang="en-US" sz="1050" b="0" u="none" strike="noStrike">
              <a:solidFill>
                <a:srgbClr val="000000"/>
              </a:solidFill>
              <a:effectLst/>
              <a:uFillTx/>
              <a:latin typeface="Arial"/>
            </a:endParaRPr>
          </a:p>
        </p:txBody>
      </p:sp>
      <p:sp>
        <p:nvSpPr>
          <p:cNvPr id="166" name="Shape 21"/>
          <p:cNvSpPr/>
          <p:nvPr/>
        </p:nvSpPr>
        <p:spPr>
          <a:xfrm>
            <a:off x="2807280" y="3790080"/>
            <a:ext cx="273600" cy="236880"/>
          </a:xfrm>
          <a:prstGeom prst="leftArrow">
            <a:avLst>
              <a:gd name="adj1" fmla="val 50000"/>
              <a:gd name="adj2" fmla="val 50000"/>
            </a:avLst>
          </a:prstGeom>
          <a:solidFill>
            <a:srgbClr val="8A949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67" name="Shape 22"/>
          <p:cNvSpPr/>
          <p:nvPr/>
        </p:nvSpPr>
        <p:spPr>
          <a:xfrm>
            <a:off x="3108960" y="3383280"/>
            <a:ext cx="2331000" cy="1050840"/>
          </a:xfrm>
          <a:prstGeom prst="roundRect">
            <a:avLst>
              <a:gd name="adj" fmla="val 8696"/>
            </a:avLst>
          </a:prstGeom>
          <a:solidFill>
            <a:srgbClr val="FFFFFF"/>
          </a:solidFill>
          <a:ln w="0">
            <a:noFill/>
          </a:ln>
          <a:effectLst>
            <a:outerShdw blurRad="63360" dist="25560" dir="54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8" name="Text 23"/>
          <p:cNvSpPr/>
          <p:nvPr/>
        </p:nvSpPr>
        <p:spPr>
          <a:xfrm>
            <a:off x="3246120" y="3493080"/>
            <a:ext cx="20566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192A30"/>
                </a:solidFill>
                <a:effectLst/>
                <a:uFillTx/>
                <a:latin typeface="Calibri"/>
                <a:ea typeface="Calibri"/>
              </a:rPr>
              <a:t>Regulatable G</a:t>
            </a:r>
            <a:endParaRPr lang="en-US" sz="1250" b="0" u="none" strike="noStrike">
              <a:solidFill>
                <a:srgbClr val="000000"/>
              </a:solidFill>
              <a:effectLst/>
              <a:uFillTx/>
              <a:latin typeface="Arial"/>
            </a:endParaRPr>
          </a:p>
        </p:txBody>
      </p:sp>
      <p:sp>
        <p:nvSpPr>
          <p:cNvPr id="169" name="Text 24"/>
          <p:cNvSpPr/>
          <p:nvPr/>
        </p:nvSpPr>
        <p:spPr>
          <a:xfrm>
            <a:off x="3246120" y="3913560"/>
            <a:ext cx="205668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a:solidFill>
                  <a:srgbClr val="7F8C8D"/>
                </a:solidFill>
                <a:effectLst/>
                <a:uFillTx/>
                <a:latin typeface="Calibri"/>
                <a:ea typeface="Calibri"/>
              </a:rPr>
              <a:t>Monotonic policy</a:t>
            </a:r>
            <a:endParaRPr lang="en-US" sz="1050" b="0" u="none" strike="noStrike">
              <a:solidFill>
                <a:srgbClr val="000000"/>
              </a:solidFill>
              <a:effectLst/>
              <a:uFillTx/>
              <a:latin typeface="Arial"/>
            </a:endParaRPr>
          </a:p>
        </p:txBody>
      </p:sp>
      <p:sp>
        <p:nvSpPr>
          <p:cNvPr id="170" name="Shape 25"/>
          <p:cNvSpPr/>
          <p:nvPr/>
        </p:nvSpPr>
        <p:spPr>
          <a:xfrm>
            <a:off x="5459040" y="3790080"/>
            <a:ext cx="273600" cy="236880"/>
          </a:xfrm>
          <a:prstGeom prst="leftArrow">
            <a:avLst>
              <a:gd name="adj1" fmla="val 50000"/>
              <a:gd name="adj2" fmla="val 50000"/>
            </a:avLst>
          </a:prstGeom>
          <a:solidFill>
            <a:srgbClr val="8A949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1" name="Shape 26"/>
          <p:cNvSpPr/>
          <p:nvPr/>
        </p:nvSpPr>
        <p:spPr>
          <a:xfrm>
            <a:off x="5760720" y="3383280"/>
            <a:ext cx="2331000" cy="1050840"/>
          </a:xfrm>
          <a:prstGeom prst="roundRect">
            <a:avLst>
              <a:gd name="adj" fmla="val 8696"/>
            </a:avLst>
          </a:prstGeom>
          <a:solidFill>
            <a:srgbClr val="107C41"/>
          </a:solidFill>
          <a:ln w="0">
            <a:noFill/>
          </a:ln>
          <a:effectLst>
            <a:outerShdw blurRad="63360" dist="25560" dir="54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2" name="Text 27"/>
          <p:cNvSpPr/>
          <p:nvPr/>
        </p:nvSpPr>
        <p:spPr>
          <a:xfrm>
            <a:off x="5897880" y="3493080"/>
            <a:ext cx="20566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FFFFFF"/>
                </a:solidFill>
                <a:effectLst/>
                <a:uFillTx/>
                <a:latin typeface="Calibri"/>
                <a:ea typeface="Calibri"/>
              </a:rPr>
              <a:t>DRHQ Training</a:t>
            </a:r>
            <a:endParaRPr lang="en-US" sz="1250" b="0" u="none" strike="noStrike">
              <a:solidFill>
                <a:srgbClr val="000000"/>
              </a:solidFill>
              <a:effectLst/>
              <a:uFillTx/>
              <a:latin typeface="Arial"/>
            </a:endParaRPr>
          </a:p>
        </p:txBody>
      </p:sp>
      <p:sp>
        <p:nvSpPr>
          <p:cNvPr id="173" name="Text 28"/>
          <p:cNvSpPr/>
          <p:nvPr/>
        </p:nvSpPr>
        <p:spPr>
          <a:xfrm>
            <a:off x="5897880" y="3913560"/>
            <a:ext cx="205668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a:solidFill>
                  <a:srgbClr val="E4F2EA"/>
                </a:solidFill>
                <a:effectLst/>
                <a:uFillTx/>
                <a:latin typeface="Calibri"/>
                <a:ea typeface="Calibri"/>
              </a:rPr>
              <a:t>Cross-entropy SGD</a:t>
            </a:r>
            <a:endParaRPr lang="en-US" sz="1050" b="0" u="none" strike="noStrike">
              <a:solidFill>
                <a:srgbClr val="000000"/>
              </a:solidFill>
              <a:effectLst/>
              <a:uFillTx/>
              <a:latin typeface="Arial"/>
            </a:endParaRPr>
          </a:p>
        </p:txBody>
      </p:sp>
      <p:sp>
        <p:nvSpPr>
          <p:cNvPr id="174" name="Shape 29"/>
          <p:cNvSpPr/>
          <p:nvPr/>
        </p:nvSpPr>
        <p:spPr>
          <a:xfrm>
            <a:off x="457200" y="4754880"/>
            <a:ext cx="10816560" cy="1233720"/>
          </a:xfrm>
          <a:prstGeom prst="roundRect">
            <a:avLst>
              <a:gd name="adj" fmla="val 8889"/>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75" name="Text 30"/>
          <p:cNvSpPr/>
          <p:nvPr/>
        </p:nvSpPr>
        <p:spPr>
          <a:xfrm>
            <a:off x="731520" y="4892040"/>
            <a:ext cx="54856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a:solidFill>
                  <a:srgbClr val="192A30"/>
                </a:solidFill>
                <a:effectLst/>
                <a:uFillTx/>
                <a:latin typeface="Calibri"/>
                <a:ea typeface="Calibri"/>
              </a:rPr>
              <a:t>WHY THIS WORKS</a:t>
            </a:r>
            <a:endParaRPr lang="en-US" sz="1100" b="0" u="none" strike="noStrike">
              <a:solidFill>
                <a:srgbClr val="000000"/>
              </a:solidFill>
              <a:effectLst/>
              <a:uFillTx/>
              <a:latin typeface="Arial"/>
            </a:endParaRPr>
          </a:p>
        </p:txBody>
      </p:sp>
      <p:sp>
        <p:nvSpPr>
          <p:cNvPr id="176" name="Text 31"/>
          <p:cNvSpPr/>
          <p:nvPr/>
        </p:nvSpPr>
        <p:spPr>
          <a:xfrm>
            <a:off x="731520" y="5184720"/>
            <a:ext cx="10240560" cy="776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799"/>
              </a:spcAft>
              <a:buClr>
                <a:srgbClr val="192A30"/>
              </a:buClr>
              <a:buFont typeface="Symbol"/>
              <a:buChar char=""/>
            </a:pPr>
            <a:r>
              <a:rPr lang="en-US" sz="1080" b="0" u="none" strike="noStrike">
                <a:solidFill>
                  <a:srgbClr val="192A30"/>
                </a:solidFill>
                <a:effectLst/>
                <a:uFillTx/>
                <a:latin typeface="Calibri"/>
                <a:ea typeface="Calibri"/>
              </a:rPr>
              <a:t>DQN is off-policy: its Q-network keeps learning from replay even while the regulatable policy G is the one acting in the environment.</a:t>
            </a:r>
            <a:endParaRPr lang="en-US" sz="108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080" b="0" u="none" strike="noStrike">
                <a:solidFill>
                  <a:srgbClr val="192A30"/>
                </a:solidFill>
                <a:effectLst/>
                <a:uFillTx/>
                <a:latin typeface="Calibri"/>
                <a:ea typeface="Calibri"/>
              </a:rPr>
              <a:t>The high-capacity DNN supplies learning signal; G is only used for action selection — separating learning capacity from deployment interpretability.</a:t>
            </a:r>
            <a:endParaRPr lang="en-US" sz="1080" b="0" u="none" strike="noStrike">
              <a:solidFill>
                <a:srgbClr val="000000"/>
              </a:solidFill>
              <a:effectLst/>
              <a:uFillTx/>
              <a:latin typeface="Arial"/>
            </a:endParaRPr>
          </a:p>
        </p:txBody>
      </p:sp>
      <p:sp>
        <p:nvSpPr>
          <p:cNvPr id="177" name="Text 32"/>
          <p:cNvSpPr/>
          <p:nvPr/>
        </p:nvSpPr>
        <p:spPr>
          <a:xfrm>
            <a:off x="457200" y="640080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0" u="none" strike="noStrike">
                <a:solidFill>
                  <a:srgbClr val="7F8C8D"/>
                </a:solidFill>
                <a:effectLst/>
                <a:uFillTx/>
                <a:latin typeface="Arial"/>
                <a:ea typeface="Arial"/>
              </a:rPr>
              <a:t>BITS Pilani | Deep Reinforcement Learning (WILP) | Assignment - I</a:t>
            </a:r>
            <a:endParaRPr lang="en-US" sz="950" b="0" u="none" strike="noStrike">
              <a:solidFill>
                <a:srgbClr val="000000"/>
              </a:solidFill>
              <a:effectLst/>
              <a:uFillTx/>
              <a:latin typeface="Arial"/>
            </a:endParaRPr>
          </a:p>
        </p:txBody>
      </p:sp>
      <p:sp>
        <p:nvSpPr>
          <p:cNvPr id="178" name="Rectangle 177"/>
          <p:cNvSpPr/>
          <p:nvPr/>
        </p:nvSpPr>
        <p:spPr>
          <a:xfrm>
            <a:off x="457200" y="6134040"/>
            <a:ext cx="11277360" cy="28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pPr>
            <a:r>
              <a:rPr lang="en-US" sz="1200" b="0" u="none" strike="noStrike">
                <a:solidFill>
                  <a:srgbClr val="7F8C8D"/>
                </a:solidFill>
                <a:effectLst/>
                <a:uFillTx/>
                <a:latin typeface="Calibri"/>
                <a:ea typeface="Calibri"/>
              </a:rPr>
              <a:t>Paper Algorithm 1, Section 5: G acts while Q learns off-policy and teaches G</a:t>
            </a:r>
            <a:endParaRPr lang="en-US" sz="12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179" name="Rectangle 178"/>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One Training Update</a:t>
            </a:r>
            <a:endParaRPr lang="en-US" sz="2200" b="0" u="none" strike="noStrike">
              <a:solidFill>
                <a:srgbClr val="000000"/>
              </a:solidFill>
              <a:effectLst/>
              <a:uFillTx/>
              <a:latin typeface="Arial"/>
            </a:endParaRPr>
          </a:p>
        </p:txBody>
      </p:sp>
      <p:sp>
        <p:nvSpPr>
          <p:cNvPr id="180" name="Rectangle 179"/>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REPLAY, TARGET NETWORK AND ACTOR TEACHING</a:t>
            </a:r>
            <a:endParaRPr lang="en-US" sz="1300" b="0" u="none" strike="noStrike">
              <a:solidFill>
                <a:srgbClr val="000000"/>
              </a:solidFill>
              <a:effectLst/>
              <a:uFillTx/>
              <a:latin typeface="Arial"/>
            </a:endParaRPr>
          </a:p>
        </p:txBody>
      </p:sp>
      <p:sp>
        <p:nvSpPr>
          <p:cNvPr id="181" name="Rectangle 180"/>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182" name="Rectangle 181"/>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9</a:t>
            </a:r>
            <a:endParaRPr lang="en-US" sz="950" b="0" u="none" strike="noStrike">
              <a:solidFill>
                <a:srgbClr val="000000"/>
              </a:solidFill>
              <a:effectLst/>
              <a:uFillTx/>
              <a:latin typeface="Arial"/>
            </a:endParaRPr>
          </a:p>
        </p:txBody>
      </p:sp>
      <p:sp>
        <p:nvSpPr>
          <p:cNvPr id="183" name="Rectangle: Rounded Corners 182"/>
          <p:cNvSpPr/>
          <p:nvPr/>
        </p:nvSpPr>
        <p:spPr>
          <a:xfrm>
            <a:off x="457200" y="1562040"/>
            <a:ext cx="2361600" cy="856440"/>
          </a:xfrm>
          <a:prstGeom prst="roundRect">
            <a:avLst>
              <a:gd name="adj" fmla="val 8889"/>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4" name="Rectangle 183"/>
          <p:cNvSpPr/>
          <p:nvPr/>
        </p:nvSpPr>
        <p:spPr>
          <a:xfrm>
            <a:off x="581040" y="1695600"/>
            <a:ext cx="2113920" cy="66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1" u="none" strike="noStrike">
                <a:solidFill>
                  <a:srgbClr val="192A30"/>
                </a:solidFill>
                <a:effectLst/>
                <a:uFillTx/>
                <a:latin typeface="Calibri"/>
                <a:ea typeface="Calibri"/>
              </a:rPr>
              <a:t>Observe state</a:t>
            </a:r>
            <a:endParaRPr lang="en-US" sz="1650" b="0" u="none" strike="noStrike">
              <a:solidFill>
                <a:srgbClr val="000000"/>
              </a:solidFill>
              <a:effectLst/>
              <a:uFillTx/>
              <a:latin typeface="Arial"/>
            </a:endParaRPr>
          </a:p>
          <a:p>
            <a:pPr defTabSz="914400">
              <a:lnSpc>
                <a:spcPct val="100000"/>
              </a:lnSpc>
            </a:pPr>
            <a:r>
              <a:rPr lang="en-US" sz="1650" b="1" u="none" strike="noStrike">
                <a:solidFill>
                  <a:srgbClr val="192A30"/>
                </a:solidFill>
                <a:effectLst/>
                <a:uFillTx/>
                <a:latin typeface="Calibri"/>
                <a:ea typeface="Calibri"/>
              </a:rPr>
              <a:t>G selects action</a:t>
            </a:r>
            <a:endParaRPr lang="en-US" sz="1650" b="0" u="none" strike="noStrike">
              <a:solidFill>
                <a:srgbClr val="000000"/>
              </a:solidFill>
              <a:effectLst/>
              <a:uFillTx/>
              <a:latin typeface="Arial"/>
            </a:endParaRPr>
          </a:p>
        </p:txBody>
      </p:sp>
      <p:sp>
        <p:nvSpPr>
          <p:cNvPr id="185" name="Arrow: Right 184"/>
          <p:cNvSpPr/>
          <p:nvPr/>
        </p:nvSpPr>
        <p:spPr>
          <a:xfrm>
            <a:off x="2971800" y="1857240"/>
            <a:ext cx="399240" cy="227880"/>
          </a:xfrm>
          <a:prstGeom prst="rightArrow">
            <a:avLst>
              <a:gd name="adj1" fmla="val 50000"/>
              <a:gd name="adj2" fmla="val 50000"/>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6" name="Rectangle: Rounded Corners 185"/>
          <p:cNvSpPr/>
          <p:nvPr/>
        </p:nvSpPr>
        <p:spPr>
          <a:xfrm>
            <a:off x="3486240" y="1562040"/>
            <a:ext cx="2475720" cy="856440"/>
          </a:xfrm>
          <a:prstGeom prst="roundRect">
            <a:avLst>
              <a:gd name="adj" fmla="val 8889"/>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7" name="Rectangle 186"/>
          <p:cNvSpPr/>
          <p:nvPr/>
        </p:nvSpPr>
        <p:spPr>
          <a:xfrm>
            <a:off x="3610080" y="1695600"/>
            <a:ext cx="2228040" cy="66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1" u="none" strike="noStrike">
                <a:solidFill>
                  <a:srgbClr val="192A30"/>
                </a:solidFill>
                <a:effectLst/>
                <a:uFillTx/>
                <a:latin typeface="Calibri"/>
                <a:ea typeface="Calibri"/>
              </a:rPr>
              <a:t>Execute action</a:t>
            </a:r>
            <a:endParaRPr lang="en-US" sz="1650" b="0" u="none" strike="noStrike">
              <a:solidFill>
                <a:srgbClr val="000000"/>
              </a:solidFill>
              <a:effectLst/>
              <a:uFillTx/>
              <a:latin typeface="Arial"/>
            </a:endParaRPr>
          </a:p>
          <a:p>
            <a:pPr defTabSz="914400">
              <a:lnSpc>
                <a:spcPct val="100000"/>
              </a:lnSpc>
            </a:pPr>
            <a:r>
              <a:rPr lang="en-US" sz="1650" b="1" u="none" strike="noStrike">
                <a:solidFill>
                  <a:srgbClr val="192A30"/>
                </a:solidFill>
                <a:effectLst/>
                <a:uFillTx/>
                <a:latin typeface="Calibri"/>
                <a:ea typeface="Calibri"/>
              </a:rPr>
              <a:t>Store transition</a:t>
            </a:r>
            <a:endParaRPr lang="en-US" sz="1650" b="0" u="none" strike="noStrike">
              <a:solidFill>
                <a:srgbClr val="000000"/>
              </a:solidFill>
              <a:effectLst/>
              <a:uFillTx/>
              <a:latin typeface="Arial"/>
            </a:endParaRPr>
          </a:p>
        </p:txBody>
      </p:sp>
      <p:sp>
        <p:nvSpPr>
          <p:cNvPr id="188" name="Arrow: Right 187"/>
          <p:cNvSpPr/>
          <p:nvPr/>
        </p:nvSpPr>
        <p:spPr>
          <a:xfrm>
            <a:off x="6095880" y="1857240"/>
            <a:ext cx="399240" cy="227880"/>
          </a:xfrm>
          <a:prstGeom prst="rightArrow">
            <a:avLst>
              <a:gd name="adj1" fmla="val 50000"/>
              <a:gd name="adj2" fmla="val 50000"/>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9" name="Rectangle: Rounded Corners 188"/>
          <p:cNvSpPr/>
          <p:nvPr/>
        </p:nvSpPr>
        <p:spPr>
          <a:xfrm>
            <a:off x="6629400" y="1562040"/>
            <a:ext cx="2361600" cy="856440"/>
          </a:xfrm>
          <a:prstGeom prst="roundRect">
            <a:avLst>
              <a:gd name="adj" fmla="val 8889"/>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0" name="Rectangle 189"/>
          <p:cNvSpPr/>
          <p:nvPr/>
        </p:nvSpPr>
        <p:spPr>
          <a:xfrm>
            <a:off x="6753240" y="1695600"/>
            <a:ext cx="2113920" cy="66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1" u="none" strike="noStrike">
                <a:solidFill>
                  <a:srgbClr val="192A30"/>
                </a:solidFill>
                <a:effectLst/>
                <a:uFillTx/>
                <a:latin typeface="Calibri"/>
                <a:ea typeface="Calibri"/>
              </a:rPr>
              <a:t>Sample replay</a:t>
            </a:r>
            <a:endParaRPr lang="en-US" sz="1650" b="0" u="none" strike="noStrike">
              <a:solidFill>
                <a:srgbClr val="000000"/>
              </a:solidFill>
              <a:effectLst/>
              <a:uFillTx/>
              <a:latin typeface="Arial"/>
            </a:endParaRPr>
          </a:p>
          <a:p>
            <a:pPr defTabSz="914400">
              <a:lnSpc>
                <a:spcPct val="100000"/>
              </a:lnSpc>
            </a:pPr>
            <a:r>
              <a:rPr lang="en-US" sz="1650" b="1" u="none" strike="noStrike">
                <a:solidFill>
                  <a:srgbClr val="192A30"/>
                </a:solidFill>
                <a:effectLst/>
                <a:uFillTx/>
                <a:latin typeface="Calibri"/>
                <a:ea typeface="Calibri"/>
              </a:rPr>
              <a:t>Batch size 32</a:t>
            </a:r>
            <a:endParaRPr lang="en-US" sz="1650" b="0" u="none" strike="noStrike">
              <a:solidFill>
                <a:srgbClr val="000000"/>
              </a:solidFill>
              <a:effectLst/>
              <a:uFillTx/>
              <a:latin typeface="Arial"/>
            </a:endParaRPr>
          </a:p>
        </p:txBody>
      </p:sp>
      <p:sp>
        <p:nvSpPr>
          <p:cNvPr id="191" name="Arrow: Right 190"/>
          <p:cNvSpPr/>
          <p:nvPr/>
        </p:nvSpPr>
        <p:spPr>
          <a:xfrm>
            <a:off x="9153360" y="1857240"/>
            <a:ext cx="399240" cy="227880"/>
          </a:xfrm>
          <a:prstGeom prst="rightArrow">
            <a:avLst>
              <a:gd name="adj1" fmla="val 50000"/>
              <a:gd name="adj2" fmla="val 50000"/>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2" name="Rectangle: Rounded Corners 191"/>
          <p:cNvSpPr/>
          <p:nvPr/>
        </p:nvSpPr>
        <p:spPr>
          <a:xfrm>
            <a:off x="9563040" y="1562040"/>
            <a:ext cx="2171160" cy="856440"/>
          </a:xfrm>
          <a:prstGeom prst="roundRect">
            <a:avLst>
              <a:gd name="adj" fmla="val 8889"/>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3" name="Rectangle 192"/>
          <p:cNvSpPr/>
          <p:nvPr/>
        </p:nvSpPr>
        <p:spPr>
          <a:xfrm>
            <a:off x="9686880" y="1695600"/>
            <a:ext cx="1923480" cy="66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1" u="none" strike="noStrike">
                <a:solidFill>
                  <a:srgbClr val="192A30"/>
                </a:solidFill>
                <a:effectLst/>
                <a:uFillTx/>
                <a:latin typeface="Calibri"/>
                <a:ea typeface="Calibri"/>
              </a:rPr>
              <a:t>Update Q</a:t>
            </a:r>
            <a:endParaRPr lang="en-US" sz="1650" b="0" u="none" strike="noStrike">
              <a:solidFill>
                <a:srgbClr val="000000"/>
              </a:solidFill>
              <a:effectLst/>
              <a:uFillTx/>
              <a:latin typeface="Arial"/>
            </a:endParaRPr>
          </a:p>
          <a:p>
            <a:pPr defTabSz="914400">
              <a:lnSpc>
                <a:spcPct val="100000"/>
              </a:lnSpc>
            </a:pPr>
            <a:r>
              <a:rPr lang="en-US" sz="1650" b="1" u="none" strike="noStrike">
                <a:solidFill>
                  <a:srgbClr val="192A30"/>
                </a:solidFill>
                <a:effectLst/>
                <a:uFillTx/>
                <a:latin typeface="Calibri"/>
                <a:ea typeface="Calibri"/>
              </a:rPr>
              <a:t>Huber + Adam</a:t>
            </a:r>
            <a:endParaRPr lang="en-US" sz="1650" b="0" u="none" strike="noStrike">
              <a:solidFill>
                <a:srgbClr val="000000"/>
              </a:solidFill>
              <a:effectLst/>
              <a:uFillTx/>
              <a:latin typeface="Arial"/>
            </a:endParaRPr>
          </a:p>
        </p:txBody>
      </p:sp>
      <p:sp>
        <p:nvSpPr>
          <p:cNvPr id="194" name="Rectangle 193"/>
          <p:cNvSpPr/>
          <p:nvPr/>
        </p:nvSpPr>
        <p:spPr>
          <a:xfrm>
            <a:off x="457200" y="2685960"/>
            <a:ext cx="1127736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020" b="1" u="none" strike="noStrike">
                <a:solidFill>
                  <a:srgbClr val="107C41"/>
                </a:solidFill>
                <a:effectLst/>
                <a:uFillTx/>
                <a:latin typeface="Calibri"/>
                <a:ea typeface="Calibri"/>
              </a:rPr>
              <a:t>Local reward: r = −Δqueue waiting / 100</a:t>
            </a:r>
            <a:endParaRPr lang="en-US" sz="2020" b="0" u="none" strike="noStrike">
              <a:solidFill>
                <a:srgbClr val="000000"/>
              </a:solidFill>
              <a:effectLst/>
              <a:uFillTx/>
              <a:latin typeface="Arial"/>
            </a:endParaRPr>
          </a:p>
          <a:p>
            <a:pPr defTabSz="914400">
              <a:lnSpc>
                <a:spcPct val="100000"/>
              </a:lnSpc>
            </a:pPr>
            <a:r>
              <a:rPr lang="en-US" sz="2020" b="1" u="none" strike="noStrike">
                <a:solidFill>
                  <a:srgbClr val="107C41"/>
                </a:solidFill>
                <a:effectLst/>
                <a:uFillTx/>
                <a:latin typeface="Calibri"/>
                <a:ea typeface="Calibri"/>
              </a:rPr>
              <a:t>Teacher: y = r + γ × (1 − terminal) × max Qtarget(s′)</a:t>
            </a:r>
            <a:endParaRPr lang="en-US" sz="2020" b="0" u="none" strike="noStrike">
              <a:solidFill>
                <a:srgbClr val="000000"/>
              </a:solidFill>
              <a:effectLst/>
              <a:uFillTx/>
              <a:latin typeface="Arial"/>
            </a:endParaRPr>
          </a:p>
        </p:txBody>
      </p:sp>
      <p:sp>
        <p:nvSpPr>
          <p:cNvPr id="195" name="Rectangle 194"/>
          <p:cNvSpPr/>
          <p:nvPr/>
        </p:nvSpPr>
        <p:spPr>
          <a:xfrm>
            <a:off x="462951" y="3549231"/>
            <a:ext cx="11277360" cy="77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729" b="0" u="none" strike="noStrike">
                <a:solidFill>
                  <a:srgbClr val="192A30"/>
                </a:solidFill>
                <a:effectLst/>
                <a:uFillTx/>
                <a:latin typeface="Calibri"/>
                <a:ea typeface="Calibri"/>
              </a:rPr>
              <a:t>Illustration: 40 vehicle-seconds added waiting gives r = −0.40.</a:t>
            </a:r>
            <a:endParaRPr lang="en-US" sz="1729" b="0" u="none" strike="noStrike">
              <a:solidFill>
                <a:srgbClr val="000000"/>
              </a:solidFill>
              <a:effectLst/>
              <a:uFillTx/>
              <a:latin typeface="Arial"/>
            </a:endParaRPr>
          </a:p>
          <a:p>
            <a:pPr defTabSz="914400">
              <a:lnSpc>
                <a:spcPct val="100000"/>
              </a:lnSpc>
            </a:pPr>
            <a:r>
              <a:rPr lang="en-US" sz="1729" b="0" u="none" strike="noStrike">
                <a:solidFill>
                  <a:srgbClr val="192A30"/>
                </a:solidFill>
                <a:effectLst/>
                <a:uFillTx/>
                <a:latin typeface="Calibri"/>
                <a:ea typeface="Calibri"/>
              </a:rPr>
              <a:t>γ = 0.95, max Qtarget = −2.0: y = −2.30; terminal y = −0.40.</a:t>
            </a:r>
            <a:endParaRPr lang="en-US" sz="1729" b="0" u="none" strike="noStrike">
              <a:solidFill>
                <a:srgbClr val="000000"/>
              </a:solidFill>
              <a:effectLst/>
              <a:uFillTx/>
              <a:latin typeface="Arial"/>
            </a:endParaRPr>
          </a:p>
        </p:txBody>
      </p:sp>
      <p:sp>
        <p:nvSpPr>
          <p:cNvPr id="196" name="Rectangle 195"/>
          <p:cNvSpPr/>
          <p:nvPr/>
        </p:nvSpPr>
        <p:spPr>
          <a:xfrm>
            <a:off x="457200" y="4591080"/>
            <a:ext cx="11277000" cy="81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100" b="1" u="none" strike="noStrike">
                <a:solidFill>
                  <a:srgbClr val="107C41"/>
                </a:solidFill>
                <a:effectLst/>
                <a:uFillTx/>
                <a:latin typeface="Calibri"/>
                <a:ea typeface="Calibri"/>
              </a:rPr>
              <a:t>DRHQ target = one-hot(argmax Q)     z = softmax(G)</a:t>
            </a:r>
            <a:endParaRPr lang="en-US" sz="2100" b="0" u="none" strike="noStrike">
              <a:solidFill>
                <a:srgbClr val="000000"/>
              </a:solidFill>
              <a:effectLst/>
              <a:uFillTx/>
              <a:latin typeface="Arial"/>
            </a:endParaRPr>
          </a:p>
          <a:p>
            <a:pPr defTabSz="914400">
              <a:lnSpc>
                <a:spcPct val="100000"/>
              </a:lnSpc>
            </a:pPr>
            <a:r>
              <a:rPr lang="en-US" sz="2100" b="1" u="none" strike="noStrike">
                <a:solidFill>
                  <a:srgbClr val="107C41"/>
                </a:solidFill>
                <a:effectLst/>
                <a:uFillTx/>
                <a:latin typeface="Calibri"/>
                <a:ea typeface="Calibri"/>
              </a:rPr>
              <a:t>Actor loss = −Σa target(a) log z(a)</a:t>
            </a:r>
            <a:endParaRPr lang="en-US" sz="2100" b="0" u="none" strike="noStrike">
              <a:solidFill>
                <a:srgbClr val="000000"/>
              </a:solidFill>
              <a:effectLst/>
              <a:uFillTx/>
              <a:latin typeface="Arial"/>
            </a:endParaRPr>
          </a:p>
        </p:txBody>
      </p:sp>
      <p:sp>
        <p:nvSpPr>
          <p:cNvPr id="197" name="Rectangle 196"/>
          <p:cNvSpPr/>
          <p:nvPr/>
        </p:nvSpPr>
        <p:spPr>
          <a:xfrm>
            <a:off x="457200" y="5667480"/>
            <a:ext cx="11277000" cy="323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0" u="none" strike="noStrike" dirty="0">
                <a:solidFill>
                  <a:srgbClr val="192A30"/>
                </a:solidFill>
                <a:effectLst/>
                <a:uFillTx/>
                <a:latin typeface="Calibri"/>
                <a:ea typeface="Calibri"/>
              </a:rPr>
              <a:t>Q = [−2, −1], G = [0.5, 1.5]: z = [0.269, 0.731]. Target EW gives loss 0.313.</a:t>
            </a:r>
            <a:endParaRPr lang="en-US" sz="1650" b="0" u="none" strike="noStrike" dirty="0">
              <a:solidFill>
                <a:srgbClr val="000000"/>
              </a:solidFill>
              <a:effectLst/>
              <a:uFillTx/>
              <a:latin typeface="Arial"/>
            </a:endParaRPr>
          </a:p>
        </p:txBody>
      </p:sp>
      <p:sp>
        <p:nvSpPr>
          <p:cNvPr id="198" name="Rectangle 197"/>
          <p:cNvSpPr/>
          <p:nvPr/>
        </p:nvSpPr>
        <p:spPr>
          <a:xfrm>
            <a:off x="457200" y="6134040"/>
            <a:ext cx="1127700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200" b="0" u="none" strike="noStrike">
                <a:solidFill>
                  <a:srgbClr val="7F8C8D"/>
                </a:solidFill>
                <a:effectLst/>
                <a:uFillTx/>
                <a:latin typeface="Calibri"/>
                <a:ea typeface="Calibri"/>
              </a:rPr>
              <a:t>Paper Algorithm 1; local environment.py / training.py. Reward scaling affects learning; reported delay stays in seconds.</a:t>
            </a:r>
            <a:endParaRPr lang="en-US" sz="120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199" name="Text 0"/>
          <p:cNvSpPr/>
          <p:nvPr/>
        </p:nvSpPr>
        <p:spPr>
          <a:xfrm>
            <a:off x="457200" y="292680"/>
            <a:ext cx="1127376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0" u="none" strike="noStrike">
                <a:solidFill>
                  <a:srgbClr val="192A30"/>
                </a:solidFill>
                <a:effectLst/>
                <a:uFillTx/>
                <a:latin typeface="Calibri"/>
                <a:ea typeface="Calibri"/>
              </a:rPr>
              <a:t>DRQ vs DRSQ vs DRHQ</a:t>
            </a:r>
            <a:endParaRPr lang="en-US" sz="2200" b="0" u="none" strike="noStrike">
              <a:solidFill>
                <a:srgbClr val="000000"/>
              </a:solidFill>
              <a:effectLst/>
              <a:uFillTx/>
              <a:latin typeface="Arial"/>
            </a:endParaRPr>
          </a:p>
        </p:txBody>
      </p:sp>
      <p:sp>
        <p:nvSpPr>
          <p:cNvPr id="200" name="Text 1"/>
          <p:cNvSpPr/>
          <p:nvPr/>
        </p:nvSpPr>
        <p:spPr>
          <a:xfrm>
            <a:off x="457200" y="713160"/>
            <a:ext cx="1127376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192A30"/>
                </a:solidFill>
                <a:effectLst/>
                <a:uFillTx/>
                <a:latin typeface="Calibri"/>
                <a:ea typeface="Calibri"/>
              </a:rPr>
              <a:t>THREE WAYS TO TRAIN THE REGULATABLE POLICY</a:t>
            </a:r>
            <a:endParaRPr lang="en-US" sz="1300" b="0" u="none" strike="noStrike">
              <a:solidFill>
                <a:srgbClr val="000000"/>
              </a:solidFill>
              <a:effectLst/>
              <a:uFillTx/>
              <a:latin typeface="Arial"/>
            </a:endParaRPr>
          </a:p>
        </p:txBody>
      </p:sp>
      <p:sp>
        <p:nvSpPr>
          <p:cNvPr id="201" name="Shape 2"/>
          <p:cNvSpPr/>
          <p:nvPr/>
        </p:nvSpPr>
        <p:spPr>
          <a:xfrm>
            <a:off x="457200" y="1600200"/>
            <a:ext cx="3455640" cy="4205520"/>
          </a:xfrm>
          <a:prstGeom prst="roundRect">
            <a:avLst>
              <a:gd name="adj" fmla="val 3175"/>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2" name="Shape 3"/>
          <p:cNvSpPr/>
          <p:nvPr/>
        </p:nvSpPr>
        <p:spPr>
          <a:xfrm>
            <a:off x="658440" y="1801440"/>
            <a:ext cx="346680" cy="34668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3" name="Text 4"/>
          <p:cNvSpPr/>
          <p:nvPr/>
        </p:nvSpPr>
        <p:spPr>
          <a:xfrm>
            <a:off x="658440" y="18014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204" name="Text 5"/>
          <p:cNvSpPr/>
          <p:nvPr/>
        </p:nvSpPr>
        <p:spPr>
          <a:xfrm>
            <a:off x="1115640" y="1764720"/>
            <a:ext cx="263268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2000"/>
              </a:lnSpc>
              <a:tabLst>
                <a:tab pos="0" algn="l"/>
              </a:tabLst>
            </a:pPr>
            <a:r>
              <a:rPr lang="en-US" sz="1250" b="1" u="none" strike="noStrike">
                <a:solidFill>
                  <a:srgbClr val="192A30"/>
                </a:solidFill>
                <a:effectLst/>
                <a:uFillTx/>
                <a:latin typeface="Calibri"/>
                <a:ea typeface="Calibri"/>
              </a:rPr>
              <a:t>DRQ — Match Q-Values</a:t>
            </a:r>
            <a:endParaRPr lang="en-US" sz="1250" b="0" u="none" strike="noStrike">
              <a:solidFill>
                <a:srgbClr val="000000"/>
              </a:solidFill>
              <a:effectLst/>
              <a:uFillTx/>
              <a:latin typeface="Arial"/>
            </a:endParaRPr>
          </a:p>
        </p:txBody>
      </p:sp>
      <p:sp>
        <p:nvSpPr>
          <p:cNvPr id="205" name="Text 6"/>
          <p:cNvSpPr/>
          <p:nvPr/>
        </p:nvSpPr>
        <p:spPr>
          <a:xfrm>
            <a:off x="713160" y="2468880"/>
            <a:ext cx="2998440" cy="319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799"/>
              </a:spcAft>
              <a:buClr>
                <a:srgbClr val="192A30"/>
              </a:buClr>
              <a:buFont typeface="Symbol"/>
              <a:buChar char=""/>
            </a:pPr>
            <a:r>
              <a:rPr lang="en-US" sz="1060" b="0" u="none" strike="noStrike">
                <a:solidFill>
                  <a:srgbClr val="192A30"/>
                </a:solidFill>
                <a:effectLst/>
                <a:uFillTx/>
                <a:latin typeface="Calibri"/>
                <a:ea typeface="Calibri"/>
              </a:rPr>
              <a:t>Goal: make G approximate DQN’s action values directly.</a:t>
            </a:r>
            <a:endParaRPr lang="en-US" sz="106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060" b="0" u="none" strike="noStrike">
                <a:solidFill>
                  <a:srgbClr val="192A30"/>
                </a:solidFill>
                <a:effectLst/>
                <a:uFillTx/>
                <a:latin typeface="Calibri"/>
                <a:ea typeface="Calibri"/>
              </a:rPr>
              <a:t>Loss: squared error (yj − G(s,a))².</a:t>
            </a:r>
            <a:endParaRPr lang="en-US" sz="106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060" b="0" u="none" strike="noStrike">
                <a:solidFill>
                  <a:srgbClr val="192A30"/>
                </a:solidFill>
                <a:effectLst/>
                <a:uFillTx/>
                <a:latin typeface="Calibri"/>
                <a:ea typeface="Calibri"/>
              </a:rPr>
              <a:t>Limitation: G is far more constrained than a DNN — exact value-fitting is infeasible and performs poorly in practice.</a:t>
            </a:r>
            <a:endParaRPr lang="en-US" sz="1060" b="0" u="none" strike="noStrike">
              <a:solidFill>
                <a:srgbClr val="000000"/>
              </a:solidFill>
              <a:effectLst/>
              <a:uFillTx/>
              <a:latin typeface="Arial"/>
            </a:endParaRPr>
          </a:p>
        </p:txBody>
      </p:sp>
      <p:sp>
        <p:nvSpPr>
          <p:cNvPr id="206" name="Shape 7"/>
          <p:cNvSpPr/>
          <p:nvPr/>
        </p:nvSpPr>
        <p:spPr>
          <a:xfrm>
            <a:off x="4096440" y="1600200"/>
            <a:ext cx="3455640" cy="4205520"/>
          </a:xfrm>
          <a:prstGeom prst="roundRect">
            <a:avLst>
              <a:gd name="adj" fmla="val 3175"/>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7" name="Shape 8"/>
          <p:cNvSpPr/>
          <p:nvPr/>
        </p:nvSpPr>
        <p:spPr>
          <a:xfrm>
            <a:off x="4297680" y="1801440"/>
            <a:ext cx="346680" cy="34668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8" name="Text 9"/>
          <p:cNvSpPr/>
          <p:nvPr/>
        </p:nvSpPr>
        <p:spPr>
          <a:xfrm>
            <a:off x="4297680" y="18014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209" name="Text 10"/>
          <p:cNvSpPr/>
          <p:nvPr/>
        </p:nvSpPr>
        <p:spPr>
          <a:xfrm>
            <a:off x="4754880" y="1764720"/>
            <a:ext cx="263268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2000"/>
              </a:lnSpc>
              <a:tabLst>
                <a:tab pos="0" algn="l"/>
              </a:tabLst>
            </a:pPr>
            <a:r>
              <a:rPr lang="en-US" sz="1250" b="1" u="none" strike="noStrike">
                <a:solidFill>
                  <a:srgbClr val="192A30"/>
                </a:solidFill>
                <a:effectLst/>
                <a:uFillTx/>
                <a:latin typeface="Calibri"/>
                <a:ea typeface="Calibri"/>
              </a:rPr>
              <a:t>DRSQ — Match Preferences</a:t>
            </a:r>
            <a:endParaRPr lang="en-US" sz="1250" b="0" u="none" strike="noStrike">
              <a:solidFill>
                <a:srgbClr val="000000"/>
              </a:solidFill>
              <a:effectLst/>
              <a:uFillTx/>
              <a:latin typeface="Arial"/>
            </a:endParaRPr>
          </a:p>
        </p:txBody>
      </p:sp>
      <p:sp>
        <p:nvSpPr>
          <p:cNvPr id="210" name="Text 11"/>
          <p:cNvSpPr/>
          <p:nvPr/>
        </p:nvSpPr>
        <p:spPr>
          <a:xfrm>
            <a:off x="4352400" y="2468880"/>
            <a:ext cx="2998440" cy="319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799"/>
              </a:spcAft>
              <a:buClr>
                <a:srgbClr val="192A30"/>
              </a:buClr>
              <a:buFont typeface="Symbol"/>
              <a:buChar char=""/>
            </a:pPr>
            <a:r>
              <a:rPr lang="en-US" sz="1060" b="0" u="none" strike="noStrike">
                <a:solidFill>
                  <a:srgbClr val="192A30"/>
                </a:solidFill>
                <a:effectLst/>
                <a:uFillTx/>
                <a:latin typeface="Calibri"/>
                <a:ea typeface="Calibri"/>
              </a:rPr>
              <a:t>Goal: match softmax-normalized preferences of Q and G.</a:t>
            </a:r>
            <a:endParaRPr lang="en-US" sz="106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060" b="0" u="none" strike="noStrike">
                <a:solidFill>
                  <a:srgbClr val="192A30"/>
                </a:solidFill>
                <a:effectLst/>
                <a:uFillTx/>
                <a:latin typeface="Calibri"/>
                <a:ea typeface="Calibri"/>
              </a:rPr>
              <a:t>Loss: cross-entropy between softmax(Q) and softmax(G).</a:t>
            </a:r>
            <a:endParaRPr lang="en-US" sz="106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060" b="0" u="none" strike="noStrike">
                <a:solidFill>
                  <a:srgbClr val="192A30"/>
                </a:solidFill>
                <a:effectLst/>
                <a:uFillTx/>
                <a:latin typeface="Calibri"/>
                <a:ea typeface="Calibri"/>
              </a:rPr>
              <a:t>Benefit: doesn’t need exact numerical equivalence — only relative ranking.</a:t>
            </a:r>
            <a:endParaRPr lang="en-US" sz="1060" b="0" u="none" strike="noStrike">
              <a:solidFill>
                <a:srgbClr val="000000"/>
              </a:solidFill>
              <a:effectLst/>
              <a:uFillTx/>
              <a:latin typeface="Arial"/>
            </a:endParaRPr>
          </a:p>
        </p:txBody>
      </p:sp>
      <p:sp>
        <p:nvSpPr>
          <p:cNvPr id="211" name="Shape 12"/>
          <p:cNvSpPr/>
          <p:nvPr/>
        </p:nvSpPr>
        <p:spPr>
          <a:xfrm>
            <a:off x="7735680" y="1600200"/>
            <a:ext cx="3455640" cy="4205520"/>
          </a:xfrm>
          <a:prstGeom prst="roundRect">
            <a:avLst>
              <a:gd name="adj" fmla="val 3175"/>
            </a:avLst>
          </a:prstGeom>
          <a:solidFill>
            <a:srgbClr val="0D2B1C"/>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12" name="Shape 13"/>
          <p:cNvSpPr/>
          <p:nvPr/>
        </p:nvSpPr>
        <p:spPr>
          <a:xfrm>
            <a:off x="7936920" y="1801440"/>
            <a:ext cx="346680" cy="34668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13" name="Text 14"/>
          <p:cNvSpPr/>
          <p:nvPr/>
        </p:nvSpPr>
        <p:spPr>
          <a:xfrm>
            <a:off x="7936920" y="18014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214" name="Text 15"/>
          <p:cNvSpPr/>
          <p:nvPr/>
        </p:nvSpPr>
        <p:spPr>
          <a:xfrm>
            <a:off x="8394120" y="1764720"/>
            <a:ext cx="263268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2000"/>
              </a:lnSpc>
              <a:tabLst>
                <a:tab pos="0" algn="l"/>
              </a:tabLst>
            </a:pPr>
            <a:r>
              <a:rPr lang="en-US" sz="1250" b="1" u="none" strike="noStrike">
                <a:solidFill>
                  <a:srgbClr val="FFFFFF"/>
                </a:solidFill>
                <a:effectLst/>
                <a:uFillTx/>
                <a:latin typeface="Calibri"/>
                <a:ea typeface="Calibri"/>
              </a:rPr>
              <a:t>DRHQ — Match Best Action Only</a:t>
            </a:r>
            <a:endParaRPr lang="en-US" sz="1250" b="0" u="none" strike="noStrike">
              <a:solidFill>
                <a:srgbClr val="000000"/>
              </a:solidFill>
              <a:effectLst/>
              <a:uFillTx/>
              <a:latin typeface="Arial"/>
            </a:endParaRPr>
          </a:p>
        </p:txBody>
      </p:sp>
      <p:sp>
        <p:nvSpPr>
          <p:cNvPr id="215" name="Text 16"/>
          <p:cNvSpPr/>
          <p:nvPr/>
        </p:nvSpPr>
        <p:spPr>
          <a:xfrm>
            <a:off x="7992000" y="2468880"/>
            <a:ext cx="2998440" cy="319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799"/>
              </a:spcAft>
              <a:buClr>
                <a:srgbClr val="E4F2EA"/>
              </a:buClr>
              <a:buFont typeface="Symbol"/>
              <a:buChar char=""/>
            </a:pPr>
            <a:r>
              <a:rPr lang="en-US" sz="1060" b="0" u="none" strike="noStrike">
                <a:solidFill>
                  <a:srgbClr val="E4F2EA"/>
                </a:solidFill>
                <a:effectLst/>
                <a:uFillTx/>
                <a:latin typeface="Calibri"/>
                <a:ea typeface="Calibri"/>
              </a:rPr>
              <a:t>Goal: match only argmaxₐ Q(s,a) — the single best action.</a:t>
            </a:r>
            <a:endParaRPr lang="en-US" sz="1060" b="0" u="none" strike="noStrike">
              <a:solidFill>
                <a:srgbClr val="000000"/>
              </a:solidFill>
              <a:effectLst/>
              <a:uFillTx/>
              <a:latin typeface="Arial"/>
            </a:endParaRPr>
          </a:p>
          <a:p>
            <a:pPr marL="343080" indent="-343080" defTabSz="914400">
              <a:lnSpc>
                <a:spcPct val="108000"/>
              </a:lnSpc>
              <a:spcAft>
                <a:spcPts val="799"/>
              </a:spcAft>
              <a:buClr>
                <a:srgbClr val="E4F2EA"/>
              </a:buClr>
              <a:buFont typeface="Symbol"/>
              <a:buChar char=""/>
            </a:pPr>
            <a:r>
              <a:rPr lang="en-US" sz="1060" b="0" u="none" strike="noStrike">
                <a:solidFill>
                  <a:srgbClr val="E4F2EA"/>
                </a:solidFill>
                <a:effectLst/>
                <a:uFillTx/>
                <a:latin typeface="Calibri"/>
                <a:ea typeface="Calibri"/>
              </a:rPr>
              <a:t>Target: one-hot hardmax vector; loss vs softmax(G).</a:t>
            </a:r>
            <a:endParaRPr lang="en-US" sz="1060" b="0" u="none" strike="noStrike">
              <a:solidFill>
                <a:srgbClr val="000000"/>
              </a:solidFill>
              <a:effectLst/>
              <a:uFillTx/>
              <a:latin typeface="Arial"/>
            </a:endParaRPr>
          </a:p>
          <a:p>
            <a:pPr marL="343080" indent="-343080" defTabSz="914400">
              <a:lnSpc>
                <a:spcPct val="108000"/>
              </a:lnSpc>
              <a:spcAft>
                <a:spcPts val="799"/>
              </a:spcAft>
              <a:buClr>
                <a:srgbClr val="E4F2EA"/>
              </a:buClr>
              <a:buFont typeface="Symbol"/>
              <a:buChar char=""/>
            </a:pPr>
            <a:r>
              <a:rPr lang="en-US" sz="1060" b="0" u="none" strike="noStrike">
                <a:solidFill>
                  <a:srgbClr val="E4F2EA"/>
                </a:solidFill>
                <a:effectLst/>
                <a:uFillTx/>
                <a:latin typeface="Calibri"/>
                <a:ea typeface="Calibri"/>
              </a:rPr>
              <a:t>Key insight: policy equivalence only needs the same best action, not the same full Q-function — the paper’s strongest variant.</a:t>
            </a:r>
            <a:endParaRPr lang="en-US" sz="1060" b="0" u="none" strike="noStrike">
              <a:solidFill>
                <a:srgbClr val="000000"/>
              </a:solidFill>
              <a:effectLst/>
              <a:uFillTx/>
              <a:latin typeface="Arial"/>
            </a:endParaRPr>
          </a:p>
        </p:txBody>
      </p:sp>
      <p:sp>
        <p:nvSpPr>
          <p:cNvPr id="216" name="Text 17"/>
          <p:cNvSpPr/>
          <p:nvPr/>
        </p:nvSpPr>
        <p:spPr>
          <a:xfrm>
            <a:off x="457200" y="640080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0" u="none" strike="noStrike">
                <a:solidFill>
                  <a:srgbClr val="7F8C8D"/>
                </a:solidFill>
                <a:effectLst/>
                <a:uFillTx/>
                <a:latin typeface="Arial"/>
                <a:ea typeface="Arial"/>
              </a:rPr>
              <a:t>BITS Pilani | Deep Reinforcement Learning (WILP) | Assignment - I</a:t>
            </a:r>
            <a:endParaRPr lang="en-US" sz="950" b="0" u="none" strike="noStrike">
              <a:solidFill>
                <a:srgbClr val="000000"/>
              </a:solidFill>
              <a:effectLst/>
              <a:uFillTx/>
              <a:latin typeface="Arial"/>
            </a:endParaRPr>
          </a:p>
        </p:txBody>
      </p:sp>
      <p:sp>
        <p:nvSpPr>
          <p:cNvPr id="217" name="Rectangle 216"/>
          <p:cNvSpPr/>
          <p:nvPr/>
        </p:nvSpPr>
        <p:spPr>
          <a:xfrm>
            <a:off x="457200" y="6134040"/>
            <a:ext cx="11277360" cy="28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pPr>
            <a:r>
              <a:rPr lang="en-US" sz="1200" b="0" u="none" strike="noStrike">
                <a:solidFill>
                  <a:srgbClr val="7F8C8D"/>
                </a:solidFill>
                <a:effectLst/>
                <a:uFillTx/>
                <a:latin typeface="Calibri"/>
                <a:ea typeface="Calibri"/>
              </a:rPr>
              <a:t>Paper Algorithm 1, Sections 5.1–5.3: DRQ, DRSQ and DRHQ losses</a:t>
            </a:r>
            <a:endParaRPr lang="en-US" sz="12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218" name="Text 0"/>
          <p:cNvSpPr/>
          <p:nvPr/>
        </p:nvSpPr>
        <p:spPr>
          <a:xfrm>
            <a:off x="457200" y="292680"/>
            <a:ext cx="1127376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0" u="none" strike="noStrike">
                <a:solidFill>
                  <a:srgbClr val="192A30"/>
                </a:solidFill>
                <a:effectLst/>
                <a:uFillTx/>
                <a:latin typeface="Calibri"/>
                <a:ea typeface="Calibri"/>
              </a:rPr>
              <a:t>CMA-ES vs PPO vs Q-Learning</a:t>
            </a:r>
            <a:endParaRPr lang="en-US" sz="2200" b="0" u="none" strike="noStrike">
              <a:solidFill>
                <a:srgbClr val="000000"/>
              </a:solidFill>
              <a:effectLst/>
              <a:uFillTx/>
              <a:latin typeface="Arial"/>
            </a:endParaRPr>
          </a:p>
        </p:txBody>
      </p:sp>
      <p:sp>
        <p:nvSpPr>
          <p:cNvPr id="219" name="Text 1"/>
          <p:cNvSpPr/>
          <p:nvPr/>
        </p:nvSpPr>
        <p:spPr>
          <a:xfrm>
            <a:off x="457200" y="713160"/>
            <a:ext cx="1127376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192A30"/>
                </a:solidFill>
                <a:effectLst/>
                <a:uFillTx/>
                <a:latin typeface="Calibri"/>
                <a:ea typeface="Calibri"/>
              </a:rPr>
              <a:t>ONLINE OPTIMIZATION, COMPARED</a:t>
            </a:r>
            <a:endParaRPr lang="en-US" sz="1300" b="0" u="none" strike="noStrike">
              <a:solidFill>
                <a:srgbClr val="000000"/>
              </a:solidFill>
              <a:effectLst/>
              <a:uFillTx/>
              <a:latin typeface="Arial"/>
            </a:endParaRPr>
          </a:p>
        </p:txBody>
      </p:sp>
      <p:graphicFrame>
        <p:nvGraphicFramePr>
          <p:cNvPr id="220" name="Table 0"/>
          <p:cNvGraphicFramePr/>
          <p:nvPr/>
        </p:nvGraphicFramePr>
        <p:xfrm>
          <a:off x="457200" y="1600200"/>
          <a:ext cx="11274480"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277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1051560">
                <a:tc>
                  <a:txBody>
                    <a:bodyPr/>
                    <a:lstStyle/>
                    <a:p>
                      <a:pPr defTabSz="914400">
                        <a:lnSpc>
                          <a:spcPct val="100000"/>
                        </a:lnSpc>
                        <a:tabLst>
                          <a:tab pos="0" algn="l"/>
                        </a:tabLst>
                      </a:pPr>
                      <a:r>
                        <a:rPr lang="en-US" sz="1100" b="1" u="none" strike="noStrike">
                          <a:solidFill>
                            <a:srgbClr val="FFFFFF"/>
                          </a:solidFill>
                          <a:effectLst/>
                          <a:uFillTx/>
                          <a:latin typeface="Calibri"/>
                          <a:ea typeface="Calibri"/>
                        </a:rPr>
                        <a:t>Method</a:t>
                      </a:r>
                      <a:endParaRPr lang="en-US" sz="1100" b="0" u="none" strike="noStrike">
                        <a:solidFill>
                          <a:srgbClr val="FFFFFF"/>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192A30"/>
                    </a:solidFill>
                  </a:tcPr>
                </a:tc>
                <a:tc>
                  <a:txBody>
                    <a:bodyPr/>
                    <a:lstStyle/>
                    <a:p>
                      <a:pPr defTabSz="914400">
                        <a:lnSpc>
                          <a:spcPct val="100000"/>
                        </a:lnSpc>
                        <a:tabLst>
                          <a:tab pos="0" algn="l"/>
                        </a:tabLst>
                      </a:pPr>
                      <a:r>
                        <a:rPr lang="en-US" sz="1100" b="1" u="none" strike="noStrike">
                          <a:solidFill>
                            <a:srgbClr val="FFFFFF"/>
                          </a:solidFill>
                          <a:effectLst/>
                          <a:uFillTx/>
                          <a:latin typeface="Calibri"/>
                          <a:ea typeface="Calibri"/>
                        </a:rPr>
                        <a:t>Sample Efficiency</a:t>
                      </a:r>
                      <a:endParaRPr lang="en-US" sz="1100" b="0" u="none" strike="noStrike">
                        <a:solidFill>
                          <a:srgbClr val="FFFFFF"/>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192A30"/>
                    </a:solidFill>
                  </a:tcPr>
                </a:tc>
                <a:tc>
                  <a:txBody>
                    <a:bodyPr/>
                    <a:lstStyle/>
                    <a:p>
                      <a:pPr defTabSz="914400">
                        <a:lnSpc>
                          <a:spcPct val="100000"/>
                        </a:lnSpc>
                        <a:tabLst>
                          <a:tab pos="0" algn="l"/>
                        </a:tabLst>
                      </a:pPr>
                      <a:r>
                        <a:rPr lang="en-US" sz="1100" b="1" u="none" strike="noStrike">
                          <a:solidFill>
                            <a:srgbClr val="FFFFFF"/>
                          </a:solidFill>
                          <a:effectLst/>
                          <a:uFillTx/>
                          <a:latin typeface="Calibri"/>
                          <a:ea typeface="Calibri"/>
                        </a:rPr>
                        <a:t>Behaviour During Tuning</a:t>
                      </a:r>
                      <a:endParaRPr lang="en-US" sz="1100" b="0" u="none" strike="noStrike">
                        <a:solidFill>
                          <a:srgbClr val="FFFFFF"/>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192A30"/>
                    </a:solidFill>
                  </a:tcPr>
                </a:tc>
                <a:tc>
                  <a:txBody>
                    <a:bodyPr/>
                    <a:lstStyle/>
                    <a:p>
                      <a:pPr defTabSz="914400">
                        <a:lnSpc>
                          <a:spcPct val="100000"/>
                        </a:lnSpc>
                        <a:tabLst>
                          <a:tab pos="0" algn="l"/>
                        </a:tabLst>
                      </a:pPr>
                      <a:r>
                        <a:rPr lang="en-US" sz="1100" b="1" u="none" strike="noStrike">
                          <a:solidFill>
                            <a:srgbClr val="FFFFFF"/>
                          </a:solidFill>
                          <a:effectLst/>
                          <a:uFillTx/>
                          <a:latin typeface="Calibri"/>
                          <a:ea typeface="Calibri"/>
                        </a:rPr>
                        <a:t>Verdict</a:t>
                      </a:r>
                      <a:endParaRPr lang="en-US" sz="1100" b="0" u="none" strike="noStrike">
                        <a:solidFill>
                          <a:srgbClr val="FFFFFF"/>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192A30"/>
                    </a:solidFill>
                  </a:tcPr>
                </a:tc>
                <a:extLst>
                  <a:ext uri="{0D108BD9-81ED-4DB2-BD59-A6C34878D82A}">
                    <a16:rowId xmlns:a16="http://schemas.microsoft.com/office/drawing/2014/main" val="10000"/>
                  </a:ext>
                </a:extLst>
              </a:tr>
              <a:tr h="1051560">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CMA-ES</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Very poor — 24 full episodes per update; needs ~4,000 episodes (≈11 years of traffic) to stabilize.</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Erratic exploration: some sampled parameter sets fail to clear traffic entirely.</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Not viable online — used only as an offline performance ceiling / validation benchmark.</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extLst>
                  <a:ext uri="{0D108BD9-81ED-4DB2-BD59-A6C34878D82A}">
                    <a16:rowId xmlns:a16="http://schemas.microsoft.com/office/drawing/2014/main" val="10001"/>
                  </a:ext>
                </a:extLst>
              </a:tr>
              <a:tr h="1051560">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PPO</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Smooth, monotonic learning curve, smoothest or most bounded exploration.</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~15 episodes to reach actuated-level performance in low/medium demand; never reaches it in high demand.</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Bounded updates reduce large policy changes, but risks settling in a sub-optimal local minimum.</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extLst>
                  <a:ext uri="{0D108BD9-81ED-4DB2-BD59-A6C34878D82A}">
                    <a16:rowId xmlns:a16="http://schemas.microsoft.com/office/drawing/2014/main" val="10002"/>
                  </a:ext>
                </a:extLst>
              </a:tr>
              <a:tr h="1051560">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DQN-based (DRQ/DRSQ/DRHQ)</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Fastest convergence: DRSQ/DRHQ beat the actuated baseline after a single episode (low/medium demand).</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Off-policy learning lets the high-capacity Q-network guide a constrained regulatable policy.</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tc>
                  <a:txBody>
                    <a:bodyPr/>
                    <a:lstStyle/>
                    <a:p>
                      <a:pPr defTabSz="914400">
                        <a:lnSpc>
                          <a:spcPct val="100000"/>
                        </a:lnSpc>
                        <a:tabLst>
                          <a:tab pos="0" algn="l"/>
                        </a:tabLst>
                      </a:pPr>
                      <a:r>
                        <a:rPr lang="en-US" sz="1100" b="0" u="none" strike="noStrike">
                          <a:solidFill>
                            <a:srgbClr val="192A30"/>
                          </a:solidFill>
                          <a:effectLst/>
                          <a:uFillTx/>
                          <a:latin typeface="Calibri"/>
                          <a:ea typeface="Calibri"/>
                        </a:rPr>
                        <a:t>Chosen approach, best balance of convergence speed, final performance, and interpretability.</a:t>
                      </a:r>
                      <a:endParaRPr lang="en-US" sz="1100" b="0" u="none" strike="noStrike">
                        <a:solidFill>
                          <a:srgbClr val="000000"/>
                        </a:solidFill>
                        <a:effectLst/>
                        <a:uFillTx/>
                        <a:latin typeface="Arial"/>
                      </a:endParaRPr>
                    </a:p>
                  </a:txBody>
                  <a:tcPr anchor="ctr">
                    <a:lnL w="9360">
                      <a:solidFill>
                        <a:srgbClr val="D9DEDE"/>
                      </a:solidFill>
                      <a:prstDash val="solid"/>
                    </a:lnL>
                    <a:lnR w="9360">
                      <a:solidFill>
                        <a:srgbClr val="D9DEDE"/>
                      </a:solidFill>
                      <a:prstDash val="solid"/>
                    </a:lnR>
                    <a:lnT w="9360">
                      <a:solidFill>
                        <a:srgbClr val="D9DEDE"/>
                      </a:solidFill>
                      <a:prstDash val="solid"/>
                    </a:lnT>
                    <a:lnB w="9360">
                      <a:solidFill>
                        <a:srgbClr val="D9DE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221" name="Text 2"/>
          <p:cNvSpPr/>
          <p:nvPr/>
        </p:nvSpPr>
        <p:spPr>
          <a:xfrm>
            <a:off x="457200" y="640080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0" u="none" strike="noStrike">
                <a:solidFill>
                  <a:srgbClr val="7F8C8D"/>
                </a:solidFill>
                <a:effectLst/>
                <a:uFillTx/>
                <a:latin typeface="Arial"/>
                <a:ea typeface="Arial"/>
              </a:rPr>
              <a:t>BITS Pilani | Deep Reinforcement Learning (WILP) | Assignment - I</a:t>
            </a:r>
            <a:endParaRPr lang="en-US" sz="950" b="0" u="none" strike="noStrike">
              <a:solidFill>
                <a:srgbClr val="000000"/>
              </a:solidFill>
              <a:effectLst/>
              <a:uFillTx/>
              <a:latin typeface="Arial"/>
            </a:endParaRPr>
          </a:p>
        </p:txBody>
      </p:sp>
      <p:sp>
        <p:nvSpPr>
          <p:cNvPr id="222" name="Rectangle 221"/>
          <p:cNvSpPr/>
          <p:nvPr/>
        </p:nvSpPr>
        <p:spPr>
          <a:xfrm>
            <a:off x="457200" y="6134040"/>
            <a:ext cx="11277360" cy="28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pPr>
            <a:r>
              <a:rPr lang="en-US" sz="1200" b="0" u="none" strike="noStrike">
                <a:solidFill>
                  <a:srgbClr val="7F8C8D"/>
                </a:solidFill>
                <a:effectLst/>
                <a:uFillTx/>
                <a:latin typeface="Calibri"/>
                <a:ea typeface="Calibri"/>
              </a:rPr>
              <a:t>Paper Sections 6.2–6.4, Figures 4–5: optimizer comparisons</a:t>
            </a:r>
            <a:endParaRPr lang="en-US" sz="12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223" name="Text 0"/>
          <p:cNvSpPr/>
          <p:nvPr/>
        </p:nvSpPr>
        <p:spPr>
          <a:xfrm>
            <a:off x="457200" y="292680"/>
            <a:ext cx="1127376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0" u="none" strike="noStrike">
                <a:solidFill>
                  <a:srgbClr val="192A30"/>
                </a:solidFill>
                <a:effectLst/>
                <a:uFillTx/>
                <a:latin typeface="Calibri"/>
                <a:ea typeface="Calibri"/>
              </a:rPr>
              <a:t>Experimental Setup</a:t>
            </a:r>
            <a:endParaRPr lang="en-US" sz="2200" b="0" u="none" strike="noStrike">
              <a:solidFill>
                <a:srgbClr val="000000"/>
              </a:solidFill>
              <a:effectLst/>
              <a:uFillTx/>
              <a:latin typeface="Arial"/>
            </a:endParaRPr>
          </a:p>
        </p:txBody>
      </p:sp>
      <p:sp>
        <p:nvSpPr>
          <p:cNvPr id="224" name="Text 1"/>
          <p:cNvSpPr/>
          <p:nvPr/>
        </p:nvSpPr>
        <p:spPr>
          <a:xfrm>
            <a:off x="457200" y="713160"/>
            <a:ext cx="1127376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192A30"/>
                </a:solidFill>
                <a:effectLst/>
                <a:uFillTx/>
                <a:latin typeface="Calibri"/>
                <a:ea typeface="Calibri"/>
              </a:rPr>
              <a:t>SUMO + REAL TRAFFIC DEMAND</a:t>
            </a:r>
            <a:endParaRPr lang="en-US" sz="1300" b="0" u="none" strike="noStrike">
              <a:solidFill>
                <a:srgbClr val="000000"/>
              </a:solidFill>
              <a:effectLst/>
              <a:uFillTx/>
              <a:latin typeface="Arial"/>
            </a:endParaRPr>
          </a:p>
        </p:txBody>
      </p:sp>
      <p:sp>
        <p:nvSpPr>
          <p:cNvPr id="225" name="Shape 2"/>
          <p:cNvSpPr/>
          <p:nvPr/>
        </p:nvSpPr>
        <p:spPr>
          <a:xfrm>
            <a:off x="457200" y="1600200"/>
            <a:ext cx="5211360" cy="4205520"/>
          </a:xfrm>
          <a:prstGeom prst="roundRect">
            <a:avLst>
              <a:gd name="adj" fmla="val 2609"/>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6" name="Shape 3"/>
          <p:cNvSpPr/>
          <p:nvPr/>
        </p:nvSpPr>
        <p:spPr>
          <a:xfrm>
            <a:off x="658440" y="1801440"/>
            <a:ext cx="346680" cy="34668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27" name="Text 4"/>
          <p:cNvSpPr/>
          <p:nvPr/>
        </p:nvSpPr>
        <p:spPr>
          <a:xfrm>
            <a:off x="658440" y="18014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228" name="Text 5"/>
          <p:cNvSpPr/>
          <p:nvPr/>
        </p:nvSpPr>
        <p:spPr>
          <a:xfrm>
            <a:off x="1115640" y="1783080"/>
            <a:ext cx="4388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92A30"/>
                </a:solidFill>
                <a:effectLst/>
                <a:uFillTx/>
                <a:latin typeface="Calibri"/>
                <a:ea typeface="Calibri"/>
              </a:rPr>
              <a:t>Real-World Traffic Data</a:t>
            </a:r>
            <a:endParaRPr lang="en-US" sz="1300" b="0" u="none" strike="noStrike">
              <a:solidFill>
                <a:srgbClr val="000000"/>
              </a:solidFill>
              <a:effectLst/>
              <a:uFillTx/>
              <a:latin typeface="Arial"/>
            </a:endParaRPr>
          </a:p>
        </p:txBody>
      </p:sp>
      <p:sp>
        <p:nvSpPr>
          <p:cNvPr id="229" name="Text 6"/>
          <p:cNvSpPr/>
          <p:nvPr/>
        </p:nvSpPr>
        <p:spPr>
          <a:xfrm>
            <a:off x="749880" y="2377440"/>
            <a:ext cx="4617000" cy="329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Intersection: State St &amp; E 4500 S, Murray, Utah — over 50,000 vehicles/day, peaking at 95 cars/minute.</a:t>
            </a:r>
            <a:endParaRPr lang="en-US" sz="12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UDOT counts (2,092 signalized intersections, public dataset) aggregated in 5-minute windows and replayed in SUMO.</a:t>
            </a:r>
            <a:endParaRPr lang="en-US" sz="12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Three 14-hour demand profiles (7 AM–9 PM): Low 45,112 vehicles, Medium 51,298 vehicles, High 61,261 vehicles.</a:t>
            </a:r>
            <a:endParaRPr lang="en-US" sz="1250" b="0" u="none" strike="noStrike">
              <a:solidFill>
                <a:srgbClr val="000000"/>
              </a:solidFill>
              <a:effectLst/>
              <a:uFillTx/>
              <a:latin typeface="Arial"/>
            </a:endParaRPr>
          </a:p>
        </p:txBody>
      </p:sp>
      <p:sp>
        <p:nvSpPr>
          <p:cNvPr id="230" name="Shape 7"/>
          <p:cNvSpPr/>
          <p:nvPr/>
        </p:nvSpPr>
        <p:spPr>
          <a:xfrm>
            <a:off x="6035040" y="1600200"/>
            <a:ext cx="5211360" cy="4205520"/>
          </a:xfrm>
          <a:prstGeom prst="roundRect">
            <a:avLst>
              <a:gd name="adj" fmla="val 2609"/>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1" name="Shape 8"/>
          <p:cNvSpPr/>
          <p:nvPr/>
        </p:nvSpPr>
        <p:spPr>
          <a:xfrm>
            <a:off x="6236280" y="1801440"/>
            <a:ext cx="346680" cy="34668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2" name="Text 9"/>
          <p:cNvSpPr/>
          <p:nvPr/>
        </p:nvSpPr>
        <p:spPr>
          <a:xfrm>
            <a:off x="6236280" y="18014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233" name="Text 10"/>
          <p:cNvSpPr/>
          <p:nvPr/>
        </p:nvSpPr>
        <p:spPr>
          <a:xfrm>
            <a:off x="6693480" y="1783080"/>
            <a:ext cx="4388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92A30"/>
                </a:solidFill>
                <a:effectLst/>
                <a:uFillTx/>
                <a:latin typeface="Calibri"/>
                <a:ea typeface="Calibri"/>
              </a:rPr>
              <a:t>Model &amp; Baseline Configuration</a:t>
            </a:r>
            <a:endParaRPr lang="en-US" sz="1300" b="0" u="none" strike="noStrike">
              <a:solidFill>
                <a:srgbClr val="000000"/>
              </a:solidFill>
              <a:effectLst/>
              <a:uFillTx/>
              <a:latin typeface="Arial"/>
            </a:endParaRPr>
          </a:p>
        </p:txBody>
      </p:sp>
      <p:sp>
        <p:nvSpPr>
          <p:cNvPr id="234" name="Text 11"/>
          <p:cNvSpPr/>
          <p:nvPr/>
        </p:nvSpPr>
        <p:spPr>
          <a:xfrm>
            <a:off x="6327720" y="2377440"/>
            <a:ext cx="4617000" cy="329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10 phases → 11 valid non-conflicting phase combinations; minimum phase length 3s; 352 tunable parameters.</a:t>
            </a:r>
            <a:endParaRPr lang="en-US" sz="12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DQN/DRQ variants: replay buffer 100,000; minibatch 32; ε reduced 0.05→0 after 20 episodes; discount 0.8 (0.9 under high demand).</a:t>
            </a:r>
            <a:endParaRPr lang="en-US" sz="12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250" b="0" u="none" strike="noStrike">
                <a:solidFill>
                  <a:srgbClr val="192A30"/>
                </a:solidFill>
                <a:effectLst/>
                <a:uFillTx/>
                <a:latin typeface="Calibri"/>
                <a:ea typeface="Calibri"/>
              </a:rPr>
              <a:t>Baseline: the commonly deployed actuated controller provided natively by SUMO (max green 300s) — not the weaker fixed-timing baseline used in earlier papers.</a:t>
            </a:r>
            <a:endParaRPr lang="en-US" sz="1250" b="0" u="none" strike="noStrike">
              <a:solidFill>
                <a:srgbClr val="000000"/>
              </a:solidFill>
              <a:effectLst/>
              <a:uFillTx/>
              <a:latin typeface="Arial"/>
            </a:endParaRPr>
          </a:p>
        </p:txBody>
      </p:sp>
      <p:sp>
        <p:nvSpPr>
          <p:cNvPr id="235" name="Text 12"/>
          <p:cNvSpPr/>
          <p:nvPr/>
        </p:nvSpPr>
        <p:spPr>
          <a:xfrm>
            <a:off x="457200" y="640080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0" u="none" strike="noStrike">
                <a:solidFill>
                  <a:srgbClr val="7F8C8D"/>
                </a:solidFill>
                <a:effectLst/>
                <a:uFillTx/>
                <a:latin typeface="Arial"/>
                <a:ea typeface="Arial"/>
              </a:rPr>
              <a:t>BITS Pilani | Deep Reinforcement Learning (WILP) | Assignment - I</a:t>
            </a:r>
            <a:endParaRPr lang="en-US" sz="950" b="0" u="none" strike="noStrike">
              <a:solidFill>
                <a:srgbClr val="000000"/>
              </a:solidFill>
              <a:effectLst/>
              <a:uFillTx/>
              <a:latin typeface="Arial"/>
            </a:endParaRPr>
          </a:p>
        </p:txBody>
      </p:sp>
      <p:sp>
        <p:nvSpPr>
          <p:cNvPr id="236" name="Rectangle 235"/>
          <p:cNvSpPr/>
          <p:nvPr/>
        </p:nvSpPr>
        <p:spPr>
          <a:xfrm>
            <a:off x="457200" y="6134040"/>
            <a:ext cx="11277360" cy="28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pPr>
            <a:r>
              <a:rPr lang="en-US" sz="1200" b="0" u="none" strike="noStrike">
                <a:solidFill>
                  <a:srgbClr val="7F8C8D"/>
                </a:solidFill>
                <a:effectLst/>
                <a:uFillTx/>
                <a:latin typeface="Calibri"/>
                <a:ea typeface="Calibri"/>
              </a:rPr>
              <a:t>Paper Section 6.1, Table 1: demand, hyperparameters and SUMO baseline</a:t>
            </a:r>
            <a:endParaRPr lang="en-US" sz="12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237" name="Rectangle 236"/>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Results: Performance vs Interpretability</a:t>
            </a:r>
            <a:endParaRPr lang="en-US" sz="2200" b="0" u="none" strike="noStrike">
              <a:solidFill>
                <a:srgbClr val="000000"/>
              </a:solidFill>
              <a:effectLst/>
              <a:uFillTx/>
              <a:latin typeface="Arial"/>
            </a:endParaRPr>
          </a:p>
        </p:txBody>
      </p:sp>
      <p:sp>
        <p:nvSpPr>
          <p:cNvPr id="238" name="Rectangle 237"/>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VERIFIED PAPER FINDINGS</a:t>
            </a:r>
            <a:endParaRPr lang="en-US" sz="1300" b="0" u="none" strike="noStrike">
              <a:solidFill>
                <a:srgbClr val="000000"/>
              </a:solidFill>
              <a:effectLst/>
              <a:uFillTx/>
              <a:latin typeface="Arial"/>
            </a:endParaRPr>
          </a:p>
        </p:txBody>
      </p:sp>
      <p:sp>
        <p:nvSpPr>
          <p:cNvPr id="239" name="Rectangle 238"/>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240" name="Rectangle 239"/>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13</a:t>
            </a:r>
            <a:endParaRPr lang="en-US" sz="950" b="0" u="none" strike="noStrike">
              <a:solidFill>
                <a:srgbClr val="000000"/>
              </a:solidFill>
              <a:effectLst/>
              <a:uFillTx/>
              <a:latin typeface="Arial"/>
            </a:endParaRPr>
          </a:p>
        </p:txBody>
      </p:sp>
      <p:sp>
        <p:nvSpPr>
          <p:cNvPr id="241" name="Rectangle 240"/>
          <p:cNvSpPr/>
          <p:nvPr/>
        </p:nvSpPr>
        <p:spPr>
          <a:xfrm>
            <a:off x="457200" y="1447920"/>
            <a:ext cx="4285440" cy="1237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6680" b="1" u="none" strike="noStrike">
                <a:solidFill>
                  <a:srgbClr val="107C41"/>
                </a:solidFill>
                <a:effectLst/>
                <a:uFillTx/>
                <a:latin typeface="Calibri"/>
                <a:ea typeface="Calibri"/>
              </a:rPr>
              <a:t>19.4%</a:t>
            </a:r>
            <a:endParaRPr lang="en-US" sz="6680" b="0" u="none" strike="noStrike">
              <a:solidFill>
                <a:srgbClr val="000000"/>
              </a:solidFill>
              <a:effectLst/>
              <a:uFillTx/>
              <a:latin typeface="Arial"/>
            </a:endParaRPr>
          </a:p>
        </p:txBody>
      </p:sp>
      <p:sp>
        <p:nvSpPr>
          <p:cNvPr id="242" name="Rectangle 241"/>
          <p:cNvSpPr/>
          <p:nvPr/>
        </p:nvSpPr>
        <p:spPr>
          <a:xfrm>
            <a:off x="457200" y="2714760"/>
            <a:ext cx="10572120" cy="780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100" b="0" u="none" strike="noStrike">
                <a:solidFill>
                  <a:srgbClr val="192A30"/>
                </a:solidFill>
                <a:effectLst/>
                <a:uFillTx/>
                <a:latin typeface="Calibri"/>
                <a:ea typeface="Calibri"/>
              </a:rPr>
              <a:t>Maximum DRHQ delay reduction reported</a:t>
            </a: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192A30"/>
                </a:solidFill>
                <a:effectLst/>
                <a:uFillTx/>
                <a:latin typeface="Calibri"/>
                <a:ea typeface="Calibri"/>
              </a:rPr>
              <a:t>against the paper’s actuated controller</a:t>
            </a:r>
            <a:endParaRPr lang="en-US" sz="2100" b="0" u="none" strike="noStrike">
              <a:solidFill>
                <a:srgbClr val="000000"/>
              </a:solidFill>
              <a:effectLst/>
              <a:uFillTx/>
              <a:latin typeface="Arial"/>
            </a:endParaRPr>
          </a:p>
        </p:txBody>
      </p:sp>
      <p:graphicFrame>
        <p:nvGraphicFramePr>
          <p:cNvPr id="243" name="Table 242"/>
          <p:cNvGraphicFramePr/>
          <p:nvPr/>
        </p:nvGraphicFramePr>
        <p:xfrm>
          <a:off x="457200" y="3828960"/>
          <a:ext cx="11277000" cy="1713600"/>
        </p:xfrm>
        <a:graphic>
          <a:graphicData uri="http://schemas.openxmlformats.org/drawingml/2006/table">
            <a:tbl>
              <a:tblPr/>
              <a:tblGrid>
                <a:gridCol w="2381040">
                  <a:extLst>
                    <a:ext uri="{9D8B030D-6E8A-4147-A177-3AD203B41FA5}">
                      <a16:colId xmlns:a16="http://schemas.microsoft.com/office/drawing/2014/main" val="20000"/>
                    </a:ext>
                  </a:extLst>
                </a:gridCol>
                <a:gridCol w="4190760">
                  <a:extLst>
                    <a:ext uri="{9D8B030D-6E8A-4147-A177-3AD203B41FA5}">
                      <a16:colId xmlns:a16="http://schemas.microsoft.com/office/drawing/2014/main" val="20001"/>
                    </a:ext>
                  </a:extLst>
                </a:gridCol>
                <a:gridCol w="4705200">
                  <a:extLst>
                    <a:ext uri="{9D8B030D-6E8A-4147-A177-3AD203B41FA5}">
                      <a16:colId xmlns:a16="http://schemas.microsoft.com/office/drawing/2014/main" val="20002"/>
                    </a:ext>
                  </a:extLst>
                </a:gridCol>
              </a:tblGrid>
              <a:tr h="428400">
                <a:tc>
                  <a:txBody>
                    <a:bodyPr/>
                    <a:lstStyle/>
                    <a:p>
                      <a:pPr>
                        <a:lnSpc>
                          <a:spcPct val="100000"/>
                        </a:lnSpc>
                      </a:pPr>
                      <a:r>
                        <a:rPr lang="en-US" sz="1500" b="1" u="none" strike="noStrike">
                          <a:solidFill>
                            <a:srgbClr val="FFFFFF"/>
                          </a:solidFill>
                          <a:effectLst/>
                          <a:uFillTx/>
                          <a:latin typeface="Calibri"/>
                          <a:ea typeface="Calibri"/>
                        </a:rPr>
                        <a:t>Demand profile</a:t>
                      </a:r>
                      <a:endParaRPr lang="en-US" sz="15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500" b="1" u="none" strike="noStrike">
                          <a:solidFill>
                            <a:srgbClr val="FFFFFF"/>
                          </a:solidFill>
                          <a:effectLst/>
                          <a:uFillTx/>
                          <a:latin typeface="Calibri"/>
                          <a:ea typeface="Calibri"/>
                        </a:rPr>
                        <a:t>DRSQ / DRHQ beat Actuated</a:t>
                      </a:r>
                      <a:endParaRPr lang="en-US" sz="15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500" b="1" u="none" strike="noStrike">
                          <a:solidFill>
                            <a:srgbClr val="FFFFFF"/>
                          </a:solidFill>
                          <a:effectLst/>
                          <a:uFillTx/>
                          <a:latin typeface="Calibri"/>
                          <a:ea typeface="Calibri"/>
                        </a:rPr>
                        <a:t>Interpretation</a:t>
                      </a:r>
                      <a:endParaRPr lang="en-US" sz="15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extLst>
                  <a:ext uri="{0D108BD9-81ED-4DB2-BD59-A6C34878D82A}">
                    <a16:rowId xmlns:a16="http://schemas.microsoft.com/office/drawing/2014/main" val="10000"/>
                  </a:ext>
                </a:extLst>
              </a:tr>
              <a:tr h="428400">
                <a:tc>
                  <a:txBody>
                    <a:bodyPr/>
                    <a:lstStyle/>
                    <a:p>
                      <a:pPr>
                        <a:lnSpc>
                          <a:spcPct val="100000"/>
                        </a:lnSpc>
                      </a:pPr>
                      <a:r>
                        <a:rPr lang="en-US" sz="1500" b="0" u="none" strike="noStrike">
                          <a:solidFill>
                            <a:srgbClr val="192A30"/>
                          </a:solidFill>
                          <a:effectLst/>
                          <a:uFillTx/>
                          <a:latin typeface="Calibri"/>
                          <a:ea typeface="Calibri"/>
                        </a:rPr>
                        <a:t>Low</a:t>
                      </a:r>
                      <a:endParaRPr lang="en-US" sz="15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500" b="0" u="none" strike="noStrike">
                          <a:solidFill>
                            <a:srgbClr val="192A30"/>
                          </a:solidFill>
                          <a:effectLst/>
                          <a:uFillTx/>
                          <a:latin typeface="Calibri"/>
                          <a:ea typeface="Calibri"/>
                        </a:rPr>
                        <a:t>After 1 episode</a:t>
                      </a:r>
                      <a:endParaRPr lang="en-US" sz="15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500" b="0" u="none" strike="noStrike">
                          <a:solidFill>
                            <a:srgbClr val="192A30"/>
                          </a:solidFill>
                          <a:effectLst/>
                          <a:uFillTx/>
                          <a:latin typeface="Calibri"/>
                          <a:ea typeface="Calibri"/>
                        </a:rPr>
                        <a:t>DRHQ slightly better than DRSQ</a:t>
                      </a:r>
                      <a:endParaRPr lang="en-US" sz="15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1"/>
                  </a:ext>
                </a:extLst>
              </a:tr>
              <a:tr h="428400">
                <a:tc>
                  <a:txBody>
                    <a:bodyPr/>
                    <a:lstStyle/>
                    <a:p>
                      <a:pPr>
                        <a:lnSpc>
                          <a:spcPct val="100000"/>
                        </a:lnSpc>
                      </a:pPr>
                      <a:r>
                        <a:rPr lang="en-US" sz="1500" b="0" u="none" strike="noStrike">
                          <a:solidFill>
                            <a:srgbClr val="192A30"/>
                          </a:solidFill>
                          <a:effectLst/>
                          <a:uFillTx/>
                          <a:latin typeface="Calibri"/>
                          <a:ea typeface="Calibri"/>
                        </a:rPr>
                        <a:t>Medium</a:t>
                      </a:r>
                      <a:endParaRPr lang="en-US" sz="15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500" b="0" u="none" strike="noStrike">
                          <a:solidFill>
                            <a:srgbClr val="192A30"/>
                          </a:solidFill>
                          <a:effectLst/>
                          <a:uFillTx/>
                          <a:latin typeface="Calibri"/>
                          <a:ea typeface="Calibri"/>
                        </a:rPr>
                        <a:t>After 1 episode</a:t>
                      </a:r>
                      <a:endParaRPr lang="en-US" sz="15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500" b="0" u="none" strike="noStrike">
                          <a:solidFill>
                            <a:srgbClr val="192A30"/>
                          </a:solidFill>
                          <a:effectLst/>
                          <a:uFillTx/>
                          <a:latin typeface="Calibri"/>
                          <a:ea typeface="Calibri"/>
                        </a:rPr>
                        <a:t>DRHQ and DRSQ similar</a:t>
                      </a:r>
                      <a:endParaRPr lang="en-US" sz="15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extLst>
                  <a:ext uri="{0D108BD9-81ED-4DB2-BD59-A6C34878D82A}">
                    <a16:rowId xmlns:a16="http://schemas.microsoft.com/office/drawing/2014/main" val="10002"/>
                  </a:ext>
                </a:extLst>
              </a:tr>
              <a:tr h="428400">
                <a:tc>
                  <a:txBody>
                    <a:bodyPr/>
                    <a:lstStyle/>
                    <a:p>
                      <a:pPr>
                        <a:lnSpc>
                          <a:spcPct val="100000"/>
                        </a:lnSpc>
                      </a:pPr>
                      <a:r>
                        <a:rPr lang="en-US" sz="1500" b="0" u="none" strike="noStrike">
                          <a:solidFill>
                            <a:srgbClr val="192A30"/>
                          </a:solidFill>
                          <a:effectLst/>
                          <a:uFillTx/>
                          <a:latin typeface="Calibri"/>
                          <a:ea typeface="Calibri"/>
                        </a:rPr>
                        <a:t>High</a:t>
                      </a:r>
                      <a:endParaRPr lang="en-US" sz="15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500" b="0" u="none" strike="noStrike">
                          <a:solidFill>
                            <a:srgbClr val="192A30"/>
                          </a:solidFill>
                          <a:effectLst/>
                          <a:uFillTx/>
                          <a:latin typeface="Calibri"/>
                          <a:ea typeface="Calibri"/>
                        </a:rPr>
                        <a:t>About 20 episodes</a:t>
                      </a:r>
                      <a:endParaRPr lang="en-US" sz="15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500" b="0" u="none" strike="noStrike">
                          <a:solidFill>
                            <a:srgbClr val="192A30"/>
                          </a:solidFill>
                          <a:effectLst/>
                          <a:uFillTx/>
                          <a:latin typeface="Calibri"/>
                          <a:ea typeface="Calibri"/>
                        </a:rPr>
                        <a:t>Longer horizon and reduced exploration</a:t>
                      </a:r>
                      <a:endParaRPr lang="en-US" sz="15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244" name="Rectangle 243"/>
          <p:cNvSpPr/>
          <p:nvPr/>
        </p:nvSpPr>
        <p:spPr>
          <a:xfrm>
            <a:off x="457200" y="5686560"/>
            <a:ext cx="11277000" cy="39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0" u="none" strike="noStrike">
                <a:solidFill>
                  <a:srgbClr val="192A30"/>
                </a:solidFill>
                <a:effectLst/>
                <a:uFillTx/>
                <a:latin typeface="Calibri"/>
                <a:ea typeface="Calibri"/>
              </a:rPr>
              <a:t>DQN has lower delay but uses a neural actuator. CMA-ES reaches up to 30%, with costly tuning.</a:t>
            </a:r>
            <a:endParaRPr lang="en-US" sz="1650" b="0" u="none" strike="noStrike">
              <a:solidFill>
                <a:srgbClr val="000000"/>
              </a:solidFill>
              <a:effectLst/>
              <a:uFillTx/>
              <a:latin typeface="Arial"/>
            </a:endParaRPr>
          </a:p>
        </p:txBody>
      </p:sp>
      <p:sp>
        <p:nvSpPr>
          <p:cNvPr id="245" name="Rectangle 244"/>
          <p:cNvSpPr/>
          <p:nvPr/>
        </p:nvSpPr>
        <p:spPr>
          <a:xfrm>
            <a:off x="457200" y="6134040"/>
            <a:ext cx="1127700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200" b="0" u="none" strike="noStrike">
                <a:solidFill>
                  <a:srgbClr val="7F8C8D"/>
                </a:solidFill>
                <a:effectLst/>
                <a:uFillTx/>
                <a:latin typeface="Calibri"/>
                <a:ea typeface="Calibri"/>
              </a:rPr>
              <a:t>Authors’ reported findings, Sections 6–7 and Figure 4. Figure 4 intervals cover 30 seeded trials. Local results follow later.</a:t>
            </a:r>
            <a:endParaRPr lang="en-US" sz="12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246" name="Rectangle 245"/>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Our Local Experiment</a:t>
            </a:r>
            <a:endParaRPr lang="en-US" sz="2200" b="0" u="none" strike="noStrike">
              <a:solidFill>
                <a:srgbClr val="000000"/>
              </a:solidFill>
              <a:effectLst/>
              <a:uFillTx/>
              <a:latin typeface="Arial"/>
            </a:endParaRPr>
          </a:p>
        </p:txBody>
      </p:sp>
      <p:sp>
        <p:nvSpPr>
          <p:cNvPr id="247" name="Rectangle 246"/>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REPRODUCIBLE ALGORITHM DEMONSTRATION</a:t>
            </a:r>
            <a:endParaRPr lang="en-US" sz="1300" b="0" u="none" strike="noStrike">
              <a:solidFill>
                <a:srgbClr val="000000"/>
              </a:solidFill>
              <a:effectLst/>
              <a:uFillTx/>
              <a:latin typeface="Arial"/>
            </a:endParaRPr>
          </a:p>
        </p:txBody>
      </p:sp>
      <p:sp>
        <p:nvSpPr>
          <p:cNvPr id="248" name="Rectangle 247"/>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249" name="Rectangle 248"/>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14</a:t>
            </a:r>
            <a:endParaRPr lang="en-US" sz="950" b="0" u="none" strike="noStrike">
              <a:solidFill>
                <a:srgbClr val="000000"/>
              </a:solidFill>
              <a:effectLst/>
              <a:uFillTx/>
              <a:latin typeface="Arial"/>
            </a:endParaRPr>
          </a:p>
        </p:txBody>
      </p:sp>
      <p:graphicFrame>
        <p:nvGraphicFramePr>
          <p:cNvPr id="250" name="Table 249"/>
          <p:cNvGraphicFramePr/>
          <p:nvPr/>
        </p:nvGraphicFramePr>
        <p:xfrm>
          <a:off x="457200" y="1486080"/>
          <a:ext cx="6953040" cy="2482368"/>
        </p:xfrm>
        <a:graphic>
          <a:graphicData uri="http://schemas.openxmlformats.org/drawingml/2006/table">
            <a:tbl>
              <a:tblPr/>
              <a:tblGrid>
                <a:gridCol w="1476360">
                  <a:extLst>
                    <a:ext uri="{9D8B030D-6E8A-4147-A177-3AD203B41FA5}">
                      <a16:colId xmlns:a16="http://schemas.microsoft.com/office/drawing/2014/main" val="20000"/>
                    </a:ext>
                  </a:extLst>
                </a:gridCol>
                <a:gridCol w="2619360">
                  <a:extLst>
                    <a:ext uri="{9D8B030D-6E8A-4147-A177-3AD203B41FA5}">
                      <a16:colId xmlns:a16="http://schemas.microsoft.com/office/drawing/2014/main" val="20001"/>
                    </a:ext>
                  </a:extLst>
                </a:gridCol>
                <a:gridCol w="2857320">
                  <a:extLst>
                    <a:ext uri="{9D8B030D-6E8A-4147-A177-3AD203B41FA5}">
                      <a16:colId xmlns:a16="http://schemas.microsoft.com/office/drawing/2014/main" val="20002"/>
                    </a:ext>
                  </a:extLst>
                </a:gridCol>
              </a:tblGrid>
              <a:tr h="475920">
                <a:tc>
                  <a:txBody>
                    <a:bodyPr/>
                    <a:lstStyle/>
                    <a:p>
                      <a:pPr>
                        <a:lnSpc>
                          <a:spcPct val="100000"/>
                        </a:lnSpc>
                      </a:pPr>
                      <a:r>
                        <a:rPr lang="en-US" sz="1430" b="1" u="none" strike="noStrike">
                          <a:solidFill>
                            <a:srgbClr val="FFFFFF"/>
                          </a:solidFill>
                          <a:effectLst/>
                          <a:uFillTx/>
                          <a:latin typeface="Calibri"/>
                          <a:ea typeface="Calibri"/>
                        </a:rPr>
                        <a:t>Aspect</a:t>
                      </a:r>
                      <a:endParaRPr lang="en-US" sz="143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430" b="1" u="none" strike="noStrike">
                          <a:solidFill>
                            <a:srgbClr val="FFFFFF"/>
                          </a:solidFill>
                          <a:effectLst/>
                          <a:uFillTx/>
                          <a:latin typeface="Calibri"/>
                          <a:ea typeface="Calibri"/>
                        </a:rPr>
                        <a:t>Paper study</a:t>
                      </a:r>
                      <a:endParaRPr lang="en-US" sz="143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430" b="1" u="none" strike="noStrike">
                          <a:solidFill>
                            <a:srgbClr val="FFFFFF"/>
                          </a:solidFill>
                          <a:effectLst/>
                          <a:uFillTx/>
                          <a:latin typeface="Calibri"/>
                          <a:ea typeface="Calibri"/>
                        </a:rPr>
                        <a:t>Local demonstration</a:t>
                      </a:r>
                      <a:endParaRPr lang="en-US" sz="143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extLst>
                  <a:ext uri="{0D108BD9-81ED-4DB2-BD59-A6C34878D82A}">
                    <a16:rowId xmlns:a16="http://schemas.microsoft.com/office/drawing/2014/main" val="10000"/>
                  </a:ext>
                </a:extLst>
              </a:tr>
              <a:tr h="475920">
                <a:tc>
                  <a:txBody>
                    <a:bodyPr/>
                    <a:lstStyle/>
                    <a:p>
                      <a:pPr>
                        <a:lnSpc>
                          <a:spcPct val="100000"/>
                        </a:lnSpc>
                      </a:pPr>
                      <a:r>
                        <a:rPr lang="en-US" sz="1430" b="0" u="none" strike="noStrike">
                          <a:solidFill>
                            <a:srgbClr val="192A30"/>
                          </a:solidFill>
                          <a:effectLst/>
                          <a:uFillTx/>
                          <a:latin typeface="Calibri"/>
                          <a:ea typeface="Calibri"/>
                        </a:rPr>
                        <a:t>Traffic</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430" b="0" u="none" strike="noStrike">
                          <a:solidFill>
                            <a:srgbClr val="192A30"/>
                          </a:solidFill>
                          <a:effectLst/>
                          <a:uFillTx/>
                          <a:latin typeface="Calibri"/>
                          <a:ea typeface="Calibri"/>
                        </a:rPr>
                        <a:t>Observed UDOT demand in SUMO</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430" b="0" u="none" strike="noStrike">
                          <a:solidFill>
                            <a:srgbClr val="192A30"/>
                          </a:solidFill>
                          <a:effectLst/>
                          <a:uFillTx/>
                          <a:latin typeface="Calibri"/>
                          <a:ea typeface="Calibri"/>
                        </a:rPr>
                        <a:t>Synthetic FIFO queues</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1"/>
                  </a:ext>
                </a:extLst>
              </a:tr>
              <a:tr h="475920">
                <a:tc>
                  <a:txBody>
                    <a:bodyPr/>
                    <a:lstStyle/>
                    <a:p>
                      <a:pPr>
                        <a:lnSpc>
                          <a:spcPct val="100000"/>
                        </a:lnSpc>
                      </a:pPr>
                      <a:r>
                        <a:rPr lang="en-US" sz="1430" b="0" u="none" strike="noStrike">
                          <a:solidFill>
                            <a:srgbClr val="192A30"/>
                          </a:solidFill>
                          <a:effectLst/>
                          <a:uFillTx/>
                          <a:latin typeface="Calibri"/>
                          <a:ea typeface="Calibri"/>
                        </a:rPr>
                        <a:t>Control</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430" b="0" u="none" strike="noStrike">
                          <a:solidFill>
                            <a:srgbClr val="192A30"/>
                          </a:solidFill>
                          <a:effectLst/>
                          <a:uFillTx/>
                          <a:latin typeface="Calibri"/>
                          <a:ea typeface="Calibri"/>
                        </a:rPr>
                        <a:t>11 valid phase pairs</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430" b="0" u="none" strike="noStrike">
                          <a:solidFill>
                            <a:srgbClr val="192A30"/>
                          </a:solidFill>
                          <a:effectLst/>
                          <a:uFillTx/>
                          <a:latin typeface="Calibri"/>
                          <a:ea typeface="Calibri"/>
                        </a:rPr>
                        <a:t>2 through groups, 32 inputs</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extLst>
                  <a:ext uri="{0D108BD9-81ED-4DB2-BD59-A6C34878D82A}">
                    <a16:rowId xmlns:a16="http://schemas.microsoft.com/office/drawing/2014/main" val="10002"/>
                  </a:ext>
                </a:extLst>
              </a:tr>
              <a:tr h="475920">
                <a:tc>
                  <a:txBody>
                    <a:bodyPr/>
                    <a:lstStyle/>
                    <a:p>
                      <a:pPr>
                        <a:lnSpc>
                          <a:spcPct val="100000"/>
                        </a:lnSpc>
                      </a:pPr>
                      <a:r>
                        <a:rPr lang="en-US" sz="1430" b="0" u="none" strike="noStrike">
                          <a:solidFill>
                            <a:srgbClr val="192A30"/>
                          </a:solidFill>
                          <a:effectLst/>
                          <a:uFillTx/>
                          <a:latin typeface="Calibri"/>
                          <a:ea typeface="Calibri"/>
                        </a:rPr>
                        <a:t>Actor</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430" b="0" u="none" strike="noStrike">
                          <a:solidFill>
                            <a:srgbClr val="192A30"/>
                          </a:solidFill>
                          <a:effectLst/>
                          <a:uFillTx/>
                          <a:latin typeface="Calibri"/>
                          <a:ea typeface="Calibri"/>
                        </a:rPr>
                        <a:t>352 tuned parameters</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430" b="0" u="none" strike="noStrike">
                          <a:solidFill>
                            <a:srgbClr val="192A30"/>
                          </a:solidFill>
                          <a:effectLst/>
                          <a:uFillTx/>
                          <a:latin typeface="Calibri"/>
                          <a:ea typeface="Calibri"/>
                        </a:rPr>
                        <a:t>56 tuned parameters</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3"/>
                  </a:ext>
                </a:extLst>
              </a:tr>
              <a:tr h="475920">
                <a:tc>
                  <a:txBody>
                    <a:bodyPr/>
                    <a:lstStyle/>
                    <a:p>
                      <a:pPr>
                        <a:lnSpc>
                          <a:spcPct val="100000"/>
                        </a:lnSpc>
                      </a:pPr>
                      <a:r>
                        <a:rPr lang="en-US" sz="1430" b="0" u="none" strike="noStrike">
                          <a:solidFill>
                            <a:srgbClr val="192A30"/>
                          </a:solidFill>
                          <a:effectLst/>
                          <a:uFillTx/>
                          <a:latin typeface="Calibri"/>
                          <a:ea typeface="Calibri"/>
                        </a:rPr>
                        <a:t>Executed methods</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430" b="0" u="none" strike="noStrike">
                          <a:solidFill>
                            <a:srgbClr val="192A30"/>
                          </a:solidFill>
                          <a:effectLst/>
                          <a:uFillTx/>
                          <a:latin typeface="Calibri"/>
                          <a:ea typeface="Calibri"/>
                        </a:rPr>
                        <a:t>CMA-ES, PPO, DQN variants</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430" b="0" u="none" strike="noStrike">
                          <a:solidFill>
                            <a:srgbClr val="192A30"/>
                          </a:solidFill>
                          <a:effectLst/>
                          <a:uFillTx/>
                          <a:latin typeface="Calibri"/>
                          <a:ea typeface="Calibri"/>
                        </a:rPr>
                        <a:t>DQN, DRQ, DRSQ, DRHQ</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extLst>
                  <a:ext uri="{0D108BD9-81ED-4DB2-BD59-A6C34878D82A}">
                    <a16:rowId xmlns:a16="http://schemas.microsoft.com/office/drawing/2014/main" val="10004"/>
                  </a:ext>
                </a:extLst>
              </a:tr>
            </a:tbl>
          </a:graphicData>
        </a:graphic>
      </p:graphicFrame>
      <p:sp>
        <p:nvSpPr>
          <p:cNvPr id="251" name="Rectangle 250"/>
          <p:cNvSpPr/>
          <p:nvPr/>
        </p:nvSpPr>
        <p:spPr>
          <a:xfrm>
            <a:off x="7819920" y="1486080"/>
            <a:ext cx="391392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1" u="none" strike="noStrike">
                <a:solidFill>
                  <a:srgbClr val="107C41"/>
                </a:solidFill>
                <a:effectLst/>
                <a:uFillTx/>
                <a:latin typeface="Calibri"/>
                <a:ea typeface="Calibri"/>
              </a:rPr>
              <a:t>Two through groups</a:t>
            </a:r>
            <a:endParaRPr lang="en-US" sz="1650" b="0" u="none" strike="noStrike">
              <a:solidFill>
                <a:srgbClr val="000000"/>
              </a:solidFill>
              <a:effectLst/>
              <a:uFillTx/>
              <a:latin typeface="Arial"/>
            </a:endParaRPr>
          </a:p>
        </p:txBody>
      </p:sp>
      <p:sp>
        <p:nvSpPr>
          <p:cNvPr id="252" name="Rectangle 251"/>
          <p:cNvSpPr/>
          <p:nvPr/>
        </p:nvSpPr>
        <p:spPr>
          <a:xfrm>
            <a:off x="9229680" y="2133720"/>
            <a:ext cx="532800" cy="1275480"/>
          </a:xfrm>
          <a:prstGeom prst="rect">
            <a:avLst/>
          </a:prstGeom>
          <a:solidFill>
            <a:srgbClr val="E1E7E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3" name="Rectangle 252"/>
          <p:cNvSpPr/>
          <p:nvPr/>
        </p:nvSpPr>
        <p:spPr>
          <a:xfrm>
            <a:off x="8610480" y="2514600"/>
            <a:ext cx="1770840" cy="532800"/>
          </a:xfrm>
          <a:prstGeom prst="rect">
            <a:avLst/>
          </a:prstGeom>
          <a:solidFill>
            <a:srgbClr val="E1E7E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4" name="Arrow: Down 253"/>
          <p:cNvSpPr/>
          <p:nvPr/>
        </p:nvSpPr>
        <p:spPr>
          <a:xfrm>
            <a:off x="9277200" y="2162160"/>
            <a:ext cx="161280" cy="428040"/>
          </a:xfrm>
          <a:prstGeom prst="downArrow">
            <a:avLst>
              <a:gd name="adj1" fmla="val 50000"/>
              <a:gd name="adj2" fmla="val 50000"/>
            </a:avLst>
          </a:prstGeom>
          <a:solidFill>
            <a:srgbClr val="107C41"/>
          </a:solidFill>
          <a:ln w="0">
            <a:noFill/>
          </a:ln>
        </p:spPr>
        <p:style>
          <a:lnRef idx="0">
            <a:scrgbClr r="0" g="0" b="0"/>
          </a:lnRef>
          <a:fillRef idx="0">
            <a:scrgbClr r="0" g="0" b="0"/>
          </a:fillRef>
          <a:effectRef idx="0">
            <a:scrgbClr r="0" g="0" b="0"/>
          </a:effectRef>
          <a:fontRef idx="minor"/>
        </p:style>
        <p:txBody>
          <a:bodyPr lIns="80640" tIns="45000" rIns="80640" bIns="45000" anchor="t">
            <a:noAutofit/>
          </a:bodyPr>
          <a:lstStyle/>
          <a:p>
            <a:endParaRPr lang="en-US" sz="1800" b="0" u="none" strike="noStrike">
              <a:solidFill>
                <a:srgbClr val="FFFFFF"/>
              </a:solidFill>
              <a:effectLst/>
              <a:uFillTx/>
              <a:latin typeface="Arial"/>
            </a:endParaRPr>
          </a:p>
        </p:txBody>
      </p:sp>
      <p:sp>
        <p:nvSpPr>
          <p:cNvPr id="255" name="Arrow: Up 254"/>
          <p:cNvSpPr/>
          <p:nvPr/>
        </p:nvSpPr>
        <p:spPr>
          <a:xfrm>
            <a:off x="9534600" y="2952720"/>
            <a:ext cx="161280" cy="428040"/>
          </a:xfrm>
          <a:prstGeom prst="upArrow">
            <a:avLst>
              <a:gd name="adj1" fmla="val 50000"/>
              <a:gd name="adj2" fmla="val 50000"/>
            </a:avLst>
          </a:prstGeom>
          <a:solidFill>
            <a:srgbClr val="107C41"/>
          </a:solidFill>
          <a:ln w="0">
            <a:noFill/>
          </a:ln>
        </p:spPr>
        <p:style>
          <a:lnRef idx="0">
            <a:scrgbClr r="0" g="0" b="0"/>
          </a:lnRef>
          <a:fillRef idx="0">
            <a:scrgbClr r="0" g="0" b="0"/>
          </a:fillRef>
          <a:effectRef idx="0">
            <a:scrgbClr r="0" g="0" b="0"/>
          </a:effectRef>
          <a:fontRef idx="minor"/>
        </p:style>
        <p:txBody>
          <a:bodyPr lIns="80640" tIns="45000" rIns="80640" bIns="45000" anchor="t">
            <a:noAutofit/>
          </a:bodyPr>
          <a:lstStyle/>
          <a:p>
            <a:endParaRPr lang="en-US" sz="1800" b="0" u="none" strike="noStrike">
              <a:solidFill>
                <a:srgbClr val="FFFFFF"/>
              </a:solidFill>
              <a:effectLst/>
              <a:uFillTx/>
              <a:latin typeface="Arial"/>
            </a:endParaRPr>
          </a:p>
        </p:txBody>
      </p:sp>
      <p:sp>
        <p:nvSpPr>
          <p:cNvPr id="256" name="Arrow: Right 255"/>
          <p:cNvSpPr/>
          <p:nvPr/>
        </p:nvSpPr>
        <p:spPr>
          <a:xfrm>
            <a:off x="8639280" y="2781360"/>
            <a:ext cx="428040" cy="161280"/>
          </a:xfrm>
          <a:prstGeom prst="rightArrow">
            <a:avLst>
              <a:gd name="adj1" fmla="val 50000"/>
              <a:gd name="adj2" fmla="val 50000"/>
            </a:avLst>
          </a:prstGeom>
          <a:solidFill>
            <a:srgbClr val="4072B8"/>
          </a:solidFill>
          <a:ln w="0">
            <a:noFill/>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FFFFFF"/>
              </a:solidFill>
              <a:effectLst/>
              <a:uFillTx/>
              <a:latin typeface="Arial"/>
            </a:endParaRPr>
          </a:p>
        </p:txBody>
      </p:sp>
      <p:sp>
        <p:nvSpPr>
          <p:cNvPr id="257" name="Arrow: Left 256"/>
          <p:cNvSpPr/>
          <p:nvPr/>
        </p:nvSpPr>
        <p:spPr>
          <a:xfrm>
            <a:off x="9925200" y="2600280"/>
            <a:ext cx="428040" cy="161280"/>
          </a:xfrm>
          <a:prstGeom prst="leftArrow">
            <a:avLst>
              <a:gd name="adj1" fmla="val 50000"/>
              <a:gd name="adj2" fmla="val 50000"/>
            </a:avLst>
          </a:prstGeom>
          <a:solidFill>
            <a:srgbClr val="4072B8"/>
          </a:solidFill>
          <a:ln w="0">
            <a:noFill/>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FFFFFF"/>
              </a:solidFill>
              <a:effectLst/>
              <a:uFillTx/>
              <a:latin typeface="Arial"/>
            </a:endParaRPr>
          </a:p>
        </p:txBody>
      </p:sp>
      <p:sp>
        <p:nvSpPr>
          <p:cNvPr id="258" name="Rectangle 257"/>
          <p:cNvSpPr/>
          <p:nvPr/>
        </p:nvSpPr>
        <p:spPr>
          <a:xfrm>
            <a:off x="9372600" y="1876320"/>
            <a:ext cx="4280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192A30"/>
                </a:solidFill>
                <a:effectLst/>
                <a:uFillTx/>
                <a:latin typeface="Calibri"/>
                <a:ea typeface="Calibri"/>
              </a:rPr>
              <a:t>N</a:t>
            </a:r>
            <a:endParaRPr lang="en-US" sz="1500" b="0" u="none" strike="noStrike">
              <a:solidFill>
                <a:srgbClr val="000000"/>
              </a:solidFill>
              <a:effectLst/>
              <a:uFillTx/>
              <a:latin typeface="Arial"/>
            </a:endParaRPr>
          </a:p>
        </p:txBody>
      </p:sp>
      <p:sp>
        <p:nvSpPr>
          <p:cNvPr id="259" name="Rectangle 258"/>
          <p:cNvSpPr/>
          <p:nvPr/>
        </p:nvSpPr>
        <p:spPr>
          <a:xfrm>
            <a:off x="9372600" y="3438360"/>
            <a:ext cx="4280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192A30"/>
                </a:solidFill>
                <a:effectLst/>
                <a:uFillTx/>
                <a:latin typeface="Calibri"/>
                <a:ea typeface="Calibri"/>
              </a:rPr>
              <a:t>S</a:t>
            </a:r>
            <a:endParaRPr lang="en-US" sz="1500" b="0" u="none" strike="noStrike">
              <a:solidFill>
                <a:srgbClr val="000000"/>
              </a:solidFill>
              <a:effectLst/>
              <a:uFillTx/>
              <a:latin typeface="Arial"/>
            </a:endParaRPr>
          </a:p>
        </p:txBody>
      </p:sp>
      <p:sp>
        <p:nvSpPr>
          <p:cNvPr id="260" name="Rectangle 259"/>
          <p:cNvSpPr/>
          <p:nvPr/>
        </p:nvSpPr>
        <p:spPr>
          <a:xfrm>
            <a:off x="8325000" y="2629080"/>
            <a:ext cx="28512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192A30"/>
                </a:solidFill>
                <a:effectLst/>
                <a:uFillTx/>
                <a:latin typeface="Calibri"/>
                <a:ea typeface="Calibri"/>
              </a:rPr>
              <a:t>W</a:t>
            </a:r>
            <a:endParaRPr lang="en-US" sz="1500" b="0" u="none" strike="noStrike">
              <a:solidFill>
                <a:srgbClr val="000000"/>
              </a:solidFill>
              <a:effectLst/>
              <a:uFillTx/>
              <a:latin typeface="Arial"/>
            </a:endParaRPr>
          </a:p>
        </p:txBody>
      </p:sp>
      <p:sp>
        <p:nvSpPr>
          <p:cNvPr id="261" name="Rectangle 260"/>
          <p:cNvSpPr/>
          <p:nvPr/>
        </p:nvSpPr>
        <p:spPr>
          <a:xfrm>
            <a:off x="10439280" y="2629080"/>
            <a:ext cx="28512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192A30"/>
                </a:solidFill>
                <a:effectLst/>
                <a:uFillTx/>
                <a:latin typeface="Calibri"/>
                <a:ea typeface="Calibri"/>
              </a:rPr>
              <a:t>E</a:t>
            </a:r>
            <a:endParaRPr lang="en-US" sz="1500" b="0" u="none" strike="noStrike">
              <a:solidFill>
                <a:srgbClr val="000000"/>
              </a:solidFill>
              <a:effectLst/>
              <a:uFillTx/>
              <a:latin typeface="Arial"/>
            </a:endParaRPr>
          </a:p>
        </p:txBody>
      </p:sp>
      <p:sp>
        <p:nvSpPr>
          <p:cNvPr id="262" name="Rectangle 261"/>
          <p:cNvSpPr/>
          <p:nvPr/>
        </p:nvSpPr>
        <p:spPr>
          <a:xfrm>
            <a:off x="7763040" y="3753000"/>
            <a:ext cx="397116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430" b="0" u="none" strike="noStrike">
                <a:solidFill>
                  <a:srgbClr val="192A30"/>
                </a:solidFill>
                <a:effectLst/>
                <a:uFillTx/>
                <a:latin typeface="Calibri"/>
                <a:ea typeface="Calibri"/>
              </a:rPr>
              <a:t>NS or EW. One group green at a time.</a:t>
            </a:r>
            <a:endParaRPr lang="en-US" sz="1430" b="0" u="none" strike="noStrike">
              <a:solidFill>
                <a:srgbClr val="000000"/>
              </a:solidFill>
              <a:effectLst/>
              <a:uFillTx/>
              <a:latin typeface="Arial"/>
            </a:endParaRPr>
          </a:p>
        </p:txBody>
      </p:sp>
      <p:sp>
        <p:nvSpPr>
          <p:cNvPr id="263" name="Rectangle: Rounded Corners 262"/>
          <p:cNvSpPr/>
          <p:nvPr/>
        </p:nvSpPr>
        <p:spPr>
          <a:xfrm>
            <a:off x="457200" y="4191120"/>
            <a:ext cx="3428280" cy="1113840"/>
          </a:xfrm>
          <a:prstGeom prst="roundRect">
            <a:avLst>
              <a:gd name="adj" fmla="val 6838"/>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64" name="Rectangle 263"/>
          <p:cNvSpPr/>
          <p:nvPr/>
        </p:nvSpPr>
        <p:spPr>
          <a:xfrm>
            <a:off x="581040" y="4324320"/>
            <a:ext cx="3180600" cy="92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1" u="none" strike="noStrike">
                <a:solidFill>
                  <a:srgbClr val="192A30"/>
                </a:solidFill>
                <a:effectLst/>
                <a:uFillTx/>
                <a:latin typeface="Calibri"/>
                <a:ea typeface="Calibri"/>
              </a:rPr>
              <a:t>TRAIN</a:t>
            </a:r>
            <a:endParaRPr lang="en-US" sz="1650" b="0" u="none" strike="noStrike">
              <a:solidFill>
                <a:srgbClr val="000000"/>
              </a:solidFill>
              <a:effectLst/>
              <a:uFillTx/>
              <a:latin typeface="Arial"/>
            </a:endParaRPr>
          </a:p>
          <a:p>
            <a:pPr defTabSz="914400">
              <a:lnSpc>
                <a:spcPct val="100000"/>
              </a:lnSpc>
            </a:pPr>
            <a:r>
              <a:rPr lang="en-US" sz="1650" b="1" u="none" strike="noStrike">
                <a:solidFill>
                  <a:srgbClr val="192A30"/>
                </a:solidFill>
                <a:effectLst/>
                <a:uFillTx/>
                <a:latin typeface="Calibri"/>
                <a:ea typeface="Calibri"/>
              </a:rPr>
              <a:t>4 methods × 3 seeds × 50</a:t>
            </a:r>
            <a:endParaRPr lang="en-US" sz="1650" b="0" u="none" strike="noStrike">
              <a:solidFill>
                <a:srgbClr val="000000"/>
              </a:solidFill>
              <a:effectLst/>
              <a:uFillTx/>
              <a:latin typeface="Arial"/>
            </a:endParaRPr>
          </a:p>
          <a:p>
            <a:pPr defTabSz="914400">
              <a:lnSpc>
                <a:spcPct val="100000"/>
              </a:lnSpc>
            </a:pPr>
            <a:r>
              <a:rPr lang="en-US" sz="1650" b="1" u="none" strike="noStrike">
                <a:solidFill>
                  <a:srgbClr val="192A30"/>
                </a:solidFill>
                <a:effectLst/>
                <a:uFillTx/>
                <a:latin typeface="Calibri"/>
                <a:ea typeface="Calibri"/>
              </a:rPr>
              <a:t>600 episodes</a:t>
            </a:r>
            <a:endParaRPr lang="en-US" sz="1650" b="0" u="none" strike="noStrike">
              <a:solidFill>
                <a:srgbClr val="000000"/>
              </a:solidFill>
              <a:effectLst/>
              <a:uFillTx/>
              <a:latin typeface="Arial"/>
            </a:endParaRPr>
          </a:p>
        </p:txBody>
      </p:sp>
      <p:sp>
        <p:nvSpPr>
          <p:cNvPr id="265" name="Arrow: Right 264"/>
          <p:cNvSpPr/>
          <p:nvPr/>
        </p:nvSpPr>
        <p:spPr>
          <a:xfrm>
            <a:off x="4057560" y="4610160"/>
            <a:ext cx="399240" cy="227880"/>
          </a:xfrm>
          <a:prstGeom prst="rightArrow">
            <a:avLst>
              <a:gd name="adj1" fmla="val 50000"/>
              <a:gd name="adj2" fmla="val 50000"/>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6" name="Rectangle: Rounded Corners 265"/>
          <p:cNvSpPr/>
          <p:nvPr/>
        </p:nvSpPr>
        <p:spPr>
          <a:xfrm>
            <a:off x="4600440" y="4191120"/>
            <a:ext cx="2999520" cy="1113840"/>
          </a:xfrm>
          <a:prstGeom prst="roundRect">
            <a:avLst>
              <a:gd name="adj" fmla="val 6838"/>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67" name="Rectangle 266"/>
          <p:cNvSpPr/>
          <p:nvPr/>
        </p:nvSpPr>
        <p:spPr>
          <a:xfrm>
            <a:off x="4724280" y="4324320"/>
            <a:ext cx="2751840" cy="92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1" u="none" strike="noStrike">
                <a:solidFill>
                  <a:srgbClr val="192A30"/>
                </a:solidFill>
                <a:effectLst/>
                <a:uFillTx/>
                <a:latin typeface="Calibri"/>
                <a:ea typeface="Calibri"/>
              </a:rPr>
              <a:t>FREEZE</a:t>
            </a:r>
            <a:endParaRPr lang="en-US" sz="1650" b="0" u="none" strike="noStrike">
              <a:solidFill>
                <a:srgbClr val="000000"/>
              </a:solidFill>
              <a:effectLst/>
              <a:uFillTx/>
              <a:latin typeface="Arial"/>
            </a:endParaRPr>
          </a:p>
          <a:p>
            <a:pPr defTabSz="914400">
              <a:lnSpc>
                <a:spcPct val="100000"/>
              </a:lnSpc>
            </a:pPr>
            <a:r>
              <a:rPr lang="en-US" sz="1650" b="1" u="none" strike="noStrike">
                <a:solidFill>
                  <a:srgbClr val="192A30"/>
                </a:solidFill>
                <a:effectLst/>
                <a:uFillTx/>
                <a:latin typeface="Calibri"/>
                <a:ea typeface="Calibri"/>
              </a:rPr>
              <a:t>No parameter updates</a:t>
            </a:r>
            <a:endParaRPr lang="en-US" sz="1650" b="0" u="none" strike="noStrike">
              <a:solidFill>
                <a:srgbClr val="000000"/>
              </a:solidFill>
              <a:effectLst/>
              <a:uFillTx/>
              <a:latin typeface="Arial"/>
            </a:endParaRPr>
          </a:p>
          <a:p>
            <a:pPr defTabSz="914400">
              <a:lnSpc>
                <a:spcPct val="100000"/>
              </a:lnSpc>
            </a:pPr>
            <a:r>
              <a:rPr lang="en-US" sz="1650" b="1" u="none" strike="noStrike">
                <a:solidFill>
                  <a:srgbClr val="192A30"/>
                </a:solidFill>
                <a:effectLst/>
                <a:uFillTx/>
                <a:latin typeface="Calibri"/>
                <a:ea typeface="Calibri"/>
              </a:rPr>
              <a:t>No best-seed selection</a:t>
            </a:r>
            <a:endParaRPr lang="en-US" sz="1650" b="0" u="none" strike="noStrike">
              <a:solidFill>
                <a:srgbClr val="000000"/>
              </a:solidFill>
              <a:effectLst/>
              <a:uFillTx/>
              <a:latin typeface="Arial"/>
            </a:endParaRPr>
          </a:p>
        </p:txBody>
      </p:sp>
      <p:sp>
        <p:nvSpPr>
          <p:cNvPr id="268" name="Arrow: Right 267"/>
          <p:cNvSpPr/>
          <p:nvPr/>
        </p:nvSpPr>
        <p:spPr>
          <a:xfrm>
            <a:off x="7781760" y="4610160"/>
            <a:ext cx="399240" cy="227880"/>
          </a:xfrm>
          <a:prstGeom prst="rightArrow">
            <a:avLst>
              <a:gd name="adj1" fmla="val 50000"/>
              <a:gd name="adj2" fmla="val 50000"/>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9" name="Rectangle: Rounded Corners 268"/>
          <p:cNvSpPr/>
          <p:nvPr/>
        </p:nvSpPr>
        <p:spPr>
          <a:xfrm>
            <a:off x="8362800" y="4191120"/>
            <a:ext cx="3371040" cy="1113840"/>
          </a:xfrm>
          <a:prstGeom prst="roundRect">
            <a:avLst>
              <a:gd name="adj" fmla="val 6838"/>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70" name="Rectangle 269"/>
          <p:cNvSpPr/>
          <p:nvPr/>
        </p:nvSpPr>
        <p:spPr>
          <a:xfrm>
            <a:off x="8486640" y="4324320"/>
            <a:ext cx="3123360" cy="92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1" u="none" strike="noStrike">
                <a:solidFill>
                  <a:srgbClr val="192A30"/>
                </a:solidFill>
                <a:effectLst/>
                <a:uFillTx/>
                <a:latin typeface="Calibri"/>
                <a:ea typeface="Calibri"/>
              </a:rPr>
              <a:t>EVALUATE</a:t>
            </a:r>
            <a:endParaRPr lang="en-US" sz="1650" b="0" u="none" strike="noStrike">
              <a:solidFill>
                <a:srgbClr val="000000"/>
              </a:solidFill>
              <a:effectLst/>
              <a:uFillTx/>
              <a:latin typeface="Arial"/>
            </a:endParaRPr>
          </a:p>
          <a:p>
            <a:pPr defTabSz="914400">
              <a:lnSpc>
                <a:spcPct val="100000"/>
              </a:lnSpc>
            </a:pPr>
            <a:r>
              <a:rPr lang="en-US" sz="1650" b="1" u="none" strike="noStrike">
                <a:solidFill>
                  <a:srgbClr val="192A30"/>
                </a:solidFill>
                <a:effectLst/>
                <a:uFillTx/>
                <a:latin typeface="Calibri"/>
                <a:ea typeface="Calibri"/>
              </a:rPr>
              <a:t>2 scenarios × 10 streams</a:t>
            </a:r>
            <a:endParaRPr lang="en-US" sz="1650" b="0" u="none" strike="noStrike">
              <a:solidFill>
                <a:srgbClr val="000000"/>
              </a:solidFill>
              <a:effectLst/>
              <a:uFillTx/>
              <a:latin typeface="Arial"/>
            </a:endParaRPr>
          </a:p>
          <a:p>
            <a:pPr defTabSz="914400">
              <a:lnSpc>
                <a:spcPct val="100000"/>
              </a:lnSpc>
            </a:pPr>
            <a:r>
              <a:rPr lang="en-US" sz="1650" b="1" u="none" strike="noStrike">
                <a:solidFill>
                  <a:srgbClr val="192A30"/>
                </a:solidFill>
                <a:effectLst/>
                <a:uFillTx/>
                <a:latin typeface="Calibri"/>
                <a:ea typeface="Calibri"/>
              </a:rPr>
              <a:t>300 rollouts</a:t>
            </a:r>
            <a:endParaRPr lang="en-US" sz="1650" b="0" u="none" strike="noStrike">
              <a:solidFill>
                <a:srgbClr val="000000"/>
              </a:solidFill>
              <a:effectLst/>
              <a:uFillTx/>
              <a:latin typeface="Arial"/>
            </a:endParaRPr>
          </a:p>
        </p:txBody>
      </p:sp>
      <p:sp>
        <p:nvSpPr>
          <p:cNvPr id="271" name="Rectangle 270"/>
          <p:cNvSpPr/>
          <p:nvPr/>
        </p:nvSpPr>
        <p:spPr>
          <a:xfrm>
            <a:off x="457200" y="5667480"/>
            <a:ext cx="1127700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0" u="none" strike="noStrike">
                <a:solidFill>
                  <a:srgbClr val="192A30"/>
                </a:solidFill>
                <a:effectLst/>
                <a:uFillTx/>
                <a:latin typeface="Calibri"/>
                <a:ea typeface="Calibri"/>
              </a:rPr>
              <a:t>This demonstrates the learning approach; it does not reproduce the original SUMO experiment.</a:t>
            </a:r>
            <a:endParaRPr lang="en-US" sz="1650" b="0" u="none" strike="noStrike">
              <a:solidFill>
                <a:srgbClr val="000000"/>
              </a:solidFill>
              <a:effectLst/>
              <a:uFillTx/>
              <a:latin typeface="Arial"/>
            </a:endParaRPr>
          </a:p>
        </p:txBody>
      </p:sp>
      <p:sp>
        <p:nvSpPr>
          <p:cNvPr id="272" name="Rectangle 271"/>
          <p:cNvSpPr/>
          <p:nvPr/>
        </p:nvSpPr>
        <p:spPr>
          <a:xfrm>
            <a:off x="457200" y="6134040"/>
            <a:ext cx="1127700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200" b="0" u="none" strike="noStrike">
                <a:solidFill>
                  <a:srgbClr val="7F8C8D"/>
                </a:solidFill>
                <a:effectLst/>
                <a:uFillTx/>
                <a:latin typeface="Calibri"/>
                <a:ea typeface="Calibri"/>
              </a:rPr>
              <a:t>Local: 1,200 s waiting / all arrivals; identical demand streams. 10 s decisions, 2 s yellow + 1 s all-red; max green 60 s.</a:t>
            </a:r>
            <a:endParaRPr lang="en-US" sz="1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273" name="Text 0"/>
          <p:cNvSpPr/>
          <p:nvPr/>
        </p:nvSpPr>
        <p:spPr>
          <a:xfrm>
            <a:off x="457200" y="292680"/>
            <a:ext cx="1127376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0" u="none" strike="noStrike">
                <a:solidFill>
                  <a:srgbClr val="192A30"/>
                </a:solidFill>
                <a:effectLst/>
                <a:uFillTx/>
                <a:latin typeface="Calibri"/>
                <a:ea typeface="Calibri"/>
              </a:rPr>
              <a:t>Limitations, Open Questions &amp; Our Critical Reflection</a:t>
            </a:r>
            <a:endParaRPr lang="en-US" sz="2200" b="0" u="none" strike="noStrike">
              <a:solidFill>
                <a:srgbClr val="000000"/>
              </a:solidFill>
              <a:effectLst/>
              <a:uFillTx/>
              <a:latin typeface="Arial"/>
            </a:endParaRPr>
          </a:p>
        </p:txBody>
      </p:sp>
      <p:sp>
        <p:nvSpPr>
          <p:cNvPr id="274" name="Text 1"/>
          <p:cNvSpPr/>
          <p:nvPr/>
        </p:nvSpPr>
        <p:spPr>
          <a:xfrm>
            <a:off x="457200" y="713160"/>
            <a:ext cx="1127376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192A30"/>
                </a:solidFill>
                <a:effectLst/>
                <a:uFillTx/>
                <a:latin typeface="Calibri"/>
                <a:ea typeface="Calibri"/>
              </a:rPr>
              <a:t>LIMITATIONS &amp; REFLECTION</a:t>
            </a:r>
            <a:endParaRPr lang="en-US" sz="1300" b="0" u="none" strike="noStrike">
              <a:solidFill>
                <a:srgbClr val="000000"/>
              </a:solidFill>
              <a:effectLst/>
              <a:uFillTx/>
              <a:latin typeface="Arial"/>
            </a:endParaRPr>
          </a:p>
        </p:txBody>
      </p:sp>
      <p:sp>
        <p:nvSpPr>
          <p:cNvPr id="275" name="Shape 2"/>
          <p:cNvSpPr/>
          <p:nvPr/>
        </p:nvSpPr>
        <p:spPr>
          <a:xfrm>
            <a:off x="457200" y="1600200"/>
            <a:ext cx="5211360" cy="4205520"/>
          </a:xfrm>
          <a:prstGeom prst="roundRect">
            <a:avLst>
              <a:gd name="adj" fmla="val 2609"/>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76" name="Shape 3"/>
          <p:cNvSpPr/>
          <p:nvPr/>
        </p:nvSpPr>
        <p:spPr>
          <a:xfrm>
            <a:off x="658440" y="1801440"/>
            <a:ext cx="346680" cy="34668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77" name="Text 4"/>
          <p:cNvSpPr/>
          <p:nvPr/>
        </p:nvSpPr>
        <p:spPr>
          <a:xfrm>
            <a:off x="658440" y="18014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278" name="Text 5"/>
          <p:cNvSpPr/>
          <p:nvPr/>
        </p:nvSpPr>
        <p:spPr>
          <a:xfrm>
            <a:off x="1115640" y="1783080"/>
            <a:ext cx="4388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92A30"/>
                </a:solidFill>
                <a:effectLst/>
                <a:uFillTx/>
                <a:latin typeface="Calibri"/>
                <a:ea typeface="Calibri"/>
              </a:rPr>
              <a:t>Limitations / Open Questions Identified from the Study</a:t>
            </a:r>
            <a:endParaRPr lang="en-US" sz="1300" b="0" u="none" strike="noStrike">
              <a:solidFill>
                <a:srgbClr val="000000"/>
              </a:solidFill>
              <a:effectLst/>
              <a:uFillTx/>
              <a:latin typeface="Arial"/>
            </a:endParaRPr>
          </a:p>
        </p:txBody>
      </p:sp>
      <p:sp>
        <p:nvSpPr>
          <p:cNvPr id="279" name="Text 6"/>
          <p:cNvSpPr/>
          <p:nvPr/>
        </p:nvSpPr>
        <p:spPr>
          <a:xfrm>
            <a:off x="749880" y="2377440"/>
            <a:ext cx="4617000" cy="329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0000"/>
              </a:lnSpc>
              <a:spcAft>
                <a:spcPts val="799"/>
              </a:spcAft>
              <a:buClr>
                <a:srgbClr val="192A30"/>
              </a:buClr>
              <a:buFont typeface="Symbol"/>
              <a:buChar char=""/>
            </a:pPr>
            <a:r>
              <a:rPr lang="en-US" sz="1150" b="0" u="none" strike="noStrike">
                <a:solidFill>
                  <a:srgbClr val="192A30"/>
                </a:solidFill>
                <a:effectLst/>
                <a:uFillTx/>
                <a:latin typeface="Calibri"/>
                <a:ea typeface="Calibri"/>
              </a:rPr>
              <a:t>Authors stated future work: warm-start learning by observing an existing deployed controller.</a:t>
            </a:r>
            <a:endParaRPr lang="en-US" sz="11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150" b="0" u="none" strike="noStrike">
                <a:solidFill>
                  <a:srgbClr val="192A30"/>
                </a:solidFill>
                <a:effectLst/>
                <a:uFillTx/>
                <a:latin typeface="Calibri"/>
                <a:ea typeface="Calibri"/>
              </a:rPr>
              <a:t>Main evaluation is one intersection, generalization to other geometries and city networks is not established.</a:t>
            </a:r>
            <a:endParaRPr lang="en-US" sz="11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150" b="0" u="none" strike="noStrike">
                <a:solidFill>
                  <a:srgbClr val="192A30"/>
                </a:solidFill>
                <a:effectLst/>
                <a:uFillTx/>
                <a:latin typeface="Calibri"/>
                <a:ea typeface="Calibri"/>
              </a:rPr>
              <a:t>Results remain simulation-based despite using real observed demand.</a:t>
            </a:r>
            <a:endParaRPr lang="en-US" sz="11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150" b="0" u="none" strike="noStrike">
                <a:solidFill>
                  <a:srgbClr val="192A30"/>
                </a:solidFill>
                <a:effectLst/>
                <a:uFillTx/>
                <a:latin typeface="Calibri"/>
                <a:ea typeface="Calibri"/>
              </a:rPr>
              <a:t>Rich, reliable per-lane sensing is assumed.</a:t>
            </a:r>
            <a:endParaRPr lang="en-US" sz="11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150" b="0" u="none" strike="noStrike">
                <a:solidFill>
                  <a:srgbClr val="192A30"/>
                </a:solidFill>
                <a:effectLst/>
                <a:uFillTx/>
                <a:latin typeface="Calibri"/>
                <a:ea typeface="Calibri"/>
              </a:rPr>
              <a:t>High-demand online learning still needs many episodes before beating a simple baseline.</a:t>
            </a:r>
            <a:endParaRPr lang="en-US" sz="11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150" b="0" u="none" strike="noStrike">
                <a:solidFill>
                  <a:srgbClr val="192A30"/>
                </a:solidFill>
                <a:effectLst/>
                <a:uFillTx/>
                <a:latin typeface="Calibri"/>
                <a:ea typeface="Calibri"/>
              </a:rPr>
              <a:t>Interpretability is defined narrowly through monotonicity, not a complete formal-safety or human-factors analysis.</a:t>
            </a:r>
            <a:endParaRPr lang="en-US" sz="1150" b="0" u="none" strike="noStrike">
              <a:solidFill>
                <a:srgbClr val="000000"/>
              </a:solidFill>
              <a:effectLst/>
              <a:uFillTx/>
              <a:latin typeface="Arial"/>
            </a:endParaRPr>
          </a:p>
        </p:txBody>
      </p:sp>
      <p:sp>
        <p:nvSpPr>
          <p:cNvPr id="280" name="Shape 7"/>
          <p:cNvSpPr/>
          <p:nvPr/>
        </p:nvSpPr>
        <p:spPr>
          <a:xfrm>
            <a:off x="6035040" y="1600200"/>
            <a:ext cx="5211360" cy="4205520"/>
          </a:xfrm>
          <a:prstGeom prst="roundRect">
            <a:avLst>
              <a:gd name="adj" fmla="val 2609"/>
            </a:avLst>
          </a:prstGeom>
          <a:solidFill>
            <a:srgbClr val="FFFFFF"/>
          </a:solidFill>
          <a:ln w="0">
            <a:noFill/>
          </a:ln>
          <a:effectLst>
            <a:outerShdw blurRad="76320" dist="381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1" name="Shape 8"/>
          <p:cNvSpPr/>
          <p:nvPr/>
        </p:nvSpPr>
        <p:spPr>
          <a:xfrm>
            <a:off x="6236280" y="1801440"/>
            <a:ext cx="346680" cy="346680"/>
          </a:xfrm>
          <a:prstGeom prst="ellipse">
            <a:avLst/>
          </a:prstGeom>
          <a:solidFill>
            <a:srgbClr val="107C4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82" name="Text 9"/>
          <p:cNvSpPr/>
          <p:nvPr/>
        </p:nvSpPr>
        <p:spPr>
          <a:xfrm>
            <a:off x="6236280" y="18014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283" name="Text 10"/>
          <p:cNvSpPr/>
          <p:nvPr/>
        </p:nvSpPr>
        <p:spPr>
          <a:xfrm>
            <a:off x="6693480" y="1783080"/>
            <a:ext cx="4388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92A30"/>
                </a:solidFill>
                <a:effectLst/>
                <a:uFillTx/>
                <a:latin typeface="Calibri"/>
                <a:ea typeface="Calibri"/>
              </a:rPr>
              <a:t>Our Critical Reflection (Beyond the Paper)</a:t>
            </a:r>
            <a:endParaRPr lang="en-US" sz="1300" b="0" u="none" strike="noStrike">
              <a:solidFill>
                <a:srgbClr val="000000"/>
              </a:solidFill>
              <a:effectLst/>
              <a:uFillTx/>
              <a:latin typeface="Arial"/>
            </a:endParaRPr>
          </a:p>
        </p:txBody>
      </p:sp>
      <p:sp>
        <p:nvSpPr>
          <p:cNvPr id="284" name="Text 11"/>
          <p:cNvSpPr/>
          <p:nvPr/>
        </p:nvSpPr>
        <p:spPr>
          <a:xfrm>
            <a:off x="6327720" y="2377440"/>
            <a:ext cx="4617000" cy="329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799"/>
              </a:spcAft>
              <a:buClr>
                <a:srgbClr val="192A30"/>
              </a:buClr>
              <a:buFont typeface="Symbol"/>
              <a:buChar char=""/>
            </a:pPr>
            <a:r>
              <a:rPr lang="en-US" sz="1150" b="0" u="none" strike="noStrike">
                <a:solidFill>
                  <a:srgbClr val="192A30"/>
                </a:solidFill>
                <a:effectLst/>
                <a:uFillTx/>
                <a:latin typeface="Calibri"/>
                <a:ea typeface="Calibri"/>
              </a:rPr>
              <a:t>The strongest contribution isn’t “DQN for traffic”, it’s separating a high-capacity learner from a constrained, auditable deployed policy.</a:t>
            </a:r>
            <a:endParaRPr lang="en-US" sz="11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150" b="0" u="none" strike="noStrike">
                <a:solidFill>
                  <a:srgbClr val="192A30"/>
                </a:solidFill>
                <a:effectLst/>
                <a:uFillTx/>
                <a:latin typeface="Calibri"/>
                <a:ea typeface="Calibri"/>
              </a:rPr>
              <a:t>DRHQ optimizes exactly what deployment needs (the selected action), not the entire Q-function, a clever reduction in what must be learned.</a:t>
            </a:r>
            <a:endParaRPr lang="en-US" sz="11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150" b="0" u="none" strike="noStrike">
                <a:solidFill>
                  <a:srgbClr val="192A30"/>
                </a:solidFill>
                <a:effectLst/>
                <a:uFillTx/>
                <a:latin typeface="Calibri"/>
                <a:ea typeface="Calibri"/>
              </a:rPr>
              <a:t>A regulatable policy is not automatically a formally safe one. Deployment still needs explicit safety constraints, robustness testing, and multi-intersection validation.</a:t>
            </a:r>
            <a:endParaRPr lang="en-US" sz="1150" b="0" u="none" strike="noStrike">
              <a:solidFill>
                <a:srgbClr val="000000"/>
              </a:solidFill>
              <a:effectLst/>
              <a:uFillTx/>
              <a:latin typeface="Arial"/>
            </a:endParaRPr>
          </a:p>
          <a:p>
            <a:pPr marL="343080" indent="-343080" defTabSz="914400">
              <a:lnSpc>
                <a:spcPct val="108000"/>
              </a:lnSpc>
              <a:spcAft>
                <a:spcPts val="799"/>
              </a:spcAft>
              <a:buClr>
                <a:srgbClr val="192A30"/>
              </a:buClr>
              <a:buFont typeface="Symbol"/>
              <a:buChar char=""/>
            </a:pPr>
            <a:r>
              <a:rPr lang="en-US" sz="1150" b="0" u="none" strike="noStrike">
                <a:solidFill>
                  <a:srgbClr val="192A30"/>
                </a:solidFill>
                <a:effectLst/>
                <a:uFillTx/>
                <a:latin typeface="Calibri"/>
                <a:ea typeface="Calibri"/>
              </a:rPr>
              <a:t>The 19.4% vs 30% gap suggests real headroom remains if faster, safer online tuning methods are found.</a:t>
            </a:r>
            <a:endParaRPr lang="en-US" sz="1150" b="0" u="none" strike="noStrike">
              <a:solidFill>
                <a:srgbClr val="000000"/>
              </a:solidFill>
              <a:effectLst/>
              <a:uFillTx/>
              <a:latin typeface="Arial"/>
            </a:endParaRPr>
          </a:p>
        </p:txBody>
      </p:sp>
      <p:sp>
        <p:nvSpPr>
          <p:cNvPr id="285" name="Text 12"/>
          <p:cNvSpPr/>
          <p:nvPr/>
        </p:nvSpPr>
        <p:spPr>
          <a:xfrm>
            <a:off x="457200" y="640080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0" u="none" strike="noStrike">
                <a:solidFill>
                  <a:srgbClr val="7F8C8D"/>
                </a:solidFill>
                <a:effectLst/>
                <a:uFillTx/>
                <a:latin typeface="Arial"/>
                <a:ea typeface="Arial"/>
              </a:rPr>
              <a:t>BITS Pilani | Deep Reinforcement Learning (WILP) | Assignment - I</a:t>
            </a:r>
            <a:endParaRPr lang="en-US" sz="950" b="0" u="none" strike="noStrike">
              <a:solidFill>
                <a:srgbClr val="000000"/>
              </a:solidFill>
              <a:effectLst/>
              <a:uFillTx/>
              <a:latin typeface="Arial"/>
            </a:endParaRPr>
          </a:p>
        </p:txBody>
      </p:sp>
      <p:sp>
        <p:nvSpPr>
          <p:cNvPr id="286" name="Rectangle 285"/>
          <p:cNvSpPr/>
          <p:nvPr/>
        </p:nvSpPr>
        <p:spPr>
          <a:xfrm>
            <a:off x="457200" y="6134040"/>
            <a:ext cx="11277360" cy="28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pPr>
            <a:r>
              <a:rPr lang="en-US" sz="1200" b="0" u="none" strike="noStrike">
                <a:solidFill>
                  <a:srgbClr val="7F8C8D"/>
                </a:solidFill>
                <a:effectLst/>
                <a:uFillTx/>
                <a:latin typeface="Calibri"/>
                <a:ea typeface="Calibri"/>
              </a:rPr>
              <a:t>Paper Sections 6–7; deployment limitations are identified as our critical reflection</a:t>
            </a:r>
            <a:endParaRPr lang="en-US" sz="120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287" name="Rectangle 286"/>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Colab Run and Correctness Proof</a:t>
            </a:r>
            <a:endParaRPr lang="en-US" sz="2200" b="0" u="none" strike="noStrike">
              <a:solidFill>
                <a:srgbClr val="000000"/>
              </a:solidFill>
              <a:effectLst/>
              <a:uFillTx/>
              <a:latin typeface="Arial"/>
            </a:endParaRPr>
          </a:p>
        </p:txBody>
      </p:sp>
      <p:sp>
        <p:nvSpPr>
          <p:cNvPr id="288" name="Rectangle 287"/>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EXECUTION AND CORRECTNESS</a:t>
            </a:r>
            <a:endParaRPr lang="en-US" sz="1300" b="0" u="none" strike="noStrike">
              <a:solidFill>
                <a:srgbClr val="000000"/>
              </a:solidFill>
              <a:effectLst/>
              <a:uFillTx/>
              <a:latin typeface="Arial"/>
            </a:endParaRPr>
          </a:p>
        </p:txBody>
      </p:sp>
      <p:sp>
        <p:nvSpPr>
          <p:cNvPr id="289" name="Rectangle 288"/>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290" name="Rectangle 289"/>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16</a:t>
            </a:r>
            <a:endParaRPr lang="en-US" sz="950" b="0" u="none" strike="noStrike">
              <a:solidFill>
                <a:srgbClr val="000000"/>
              </a:solidFill>
              <a:effectLst/>
              <a:uFillTx/>
              <a:latin typeface="Arial"/>
            </a:endParaRPr>
          </a:p>
        </p:txBody>
      </p:sp>
      <p:sp>
        <p:nvSpPr>
          <p:cNvPr id="291" name="Rectangle 290"/>
          <p:cNvSpPr/>
          <p:nvPr/>
        </p:nvSpPr>
        <p:spPr>
          <a:xfrm>
            <a:off x="457200" y="1495440"/>
            <a:ext cx="7143120" cy="58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930" b="1" u="none" strike="noStrike">
                <a:solidFill>
                  <a:srgbClr val="107C41"/>
                </a:solidFill>
                <a:effectLst/>
                <a:uFillTx/>
                <a:latin typeface="Calibri"/>
                <a:ea typeface="Calibri"/>
              </a:rPr>
              <a:t>13 tests passed</a:t>
            </a:r>
            <a:endParaRPr lang="en-US" sz="2930" b="0" u="none" strike="noStrike">
              <a:solidFill>
                <a:srgbClr val="000000"/>
              </a:solidFill>
              <a:effectLst/>
              <a:uFillTx/>
              <a:latin typeface="Arial"/>
            </a:endParaRPr>
          </a:p>
        </p:txBody>
      </p:sp>
      <p:sp>
        <p:nvSpPr>
          <p:cNvPr id="292" name="Rectangle 291"/>
          <p:cNvSpPr/>
          <p:nvPr/>
        </p:nvSpPr>
        <p:spPr>
          <a:xfrm>
            <a:off x="457200" y="2286000"/>
            <a:ext cx="7238160" cy="79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870" b="0" u="none" strike="noStrike">
                <a:solidFill>
                  <a:srgbClr val="192A30"/>
                </a:solidFill>
                <a:effectLst/>
                <a:uFillTx/>
                <a:latin typeface="Calibri"/>
                <a:ea typeface="Calibri"/>
              </a:rPr>
              <a:t>Clearance, accounting, finite-difference gradients,</a:t>
            </a:r>
            <a:endParaRPr lang="en-US" sz="1870" b="0" u="none" strike="noStrike">
              <a:solidFill>
                <a:srgbClr val="000000"/>
              </a:solidFill>
              <a:effectLst/>
              <a:uFillTx/>
              <a:latin typeface="Arial"/>
            </a:endParaRPr>
          </a:p>
          <a:p>
            <a:pPr defTabSz="914400">
              <a:lnSpc>
                <a:spcPct val="100000"/>
              </a:lnSpc>
            </a:pPr>
            <a:r>
              <a:rPr lang="en-US" sz="1870" b="0" u="none" strike="noStrike">
                <a:solidFill>
                  <a:srgbClr val="192A30"/>
                </a:solidFill>
                <a:effectLst/>
                <a:uFillTx/>
                <a:latin typeface="Calibri"/>
                <a:ea typeface="Calibri"/>
              </a:rPr>
              <a:t>terminal targets, replay and checkpoint roundtrips</a:t>
            </a:r>
            <a:endParaRPr lang="en-US" sz="1870" b="0" u="none" strike="noStrike">
              <a:solidFill>
                <a:srgbClr val="000000"/>
              </a:solidFill>
              <a:effectLst/>
              <a:uFillTx/>
              <a:latin typeface="Arial"/>
            </a:endParaRPr>
          </a:p>
        </p:txBody>
      </p:sp>
      <p:sp>
        <p:nvSpPr>
          <p:cNvPr id="293" name="Rectangle 292"/>
          <p:cNvSpPr/>
          <p:nvPr/>
        </p:nvSpPr>
        <p:spPr>
          <a:xfrm>
            <a:off x="457200" y="3610080"/>
            <a:ext cx="7238160" cy="126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320" b="0" u="none" strike="noStrike">
                <a:solidFill>
                  <a:srgbClr val="192A30"/>
                </a:solidFill>
                <a:effectLst/>
                <a:uFillTx/>
                <a:latin typeface="Calibri"/>
                <a:ea typeface="Calibri"/>
              </a:rPr>
              <a:t>600 training episodes</a:t>
            </a:r>
            <a:endParaRPr lang="en-US" sz="2320" b="0" u="none" strike="noStrike">
              <a:solidFill>
                <a:srgbClr val="000000"/>
              </a:solidFill>
              <a:effectLst/>
              <a:uFillTx/>
              <a:latin typeface="Arial"/>
            </a:endParaRPr>
          </a:p>
          <a:p>
            <a:pPr defTabSz="914400">
              <a:lnSpc>
                <a:spcPct val="100000"/>
              </a:lnSpc>
            </a:pPr>
            <a:r>
              <a:rPr lang="en-US" sz="2320" b="0" u="none" strike="noStrike">
                <a:solidFill>
                  <a:srgbClr val="192A30"/>
                </a:solidFill>
                <a:effectLst/>
                <a:uFillTx/>
                <a:latin typeface="Calibri"/>
                <a:ea typeface="Calibri"/>
              </a:rPr>
              <a:t>300 frozen evaluation rollouts</a:t>
            </a:r>
            <a:endParaRPr lang="en-US" sz="2320" b="0" u="none" strike="noStrike">
              <a:solidFill>
                <a:srgbClr val="000000"/>
              </a:solidFill>
              <a:effectLst/>
              <a:uFillTx/>
              <a:latin typeface="Arial"/>
            </a:endParaRPr>
          </a:p>
          <a:p>
            <a:pPr defTabSz="914400">
              <a:lnSpc>
                <a:spcPct val="100000"/>
              </a:lnSpc>
            </a:pPr>
            <a:r>
              <a:rPr lang="en-US" sz="2320" b="0" u="none" strike="noStrike">
                <a:solidFill>
                  <a:srgbClr val="192A30"/>
                </a:solidFill>
                <a:effectLst/>
                <a:uFillTx/>
                <a:latin typeface="Calibri"/>
                <a:ea typeface="Calibri"/>
              </a:rPr>
              <a:t>16 diagnostic rollouts</a:t>
            </a:r>
            <a:endParaRPr lang="en-US" sz="2320" b="0" u="none" strike="noStrike">
              <a:solidFill>
                <a:srgbClr val="000000"/>
              </a:solidFill>
              <a:effectLst/>
              <a:uFillTx/>
              <a:latin typeface="Arial"/>
            </a:endParaRPr>
          </a:p>
        </p:txBody>
      </p:sp>
      <p:sp>
        <p:nvSpPr>
          <p:cNvPr id="294" name="Rectangle 293"/>
          <p:cNvSpPr/>
          <p:nvPr/>
        </p:nvSpPr>
        <p:spPr>
          <a:xfrm>
            <a:off x="457200" y="5315040"/>
            <a:ext cx="7238160" cy="608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0" u="none" strike="noStrike">
                <a:solidFill>
                  <a:srgbClr val="192A30"/>
                </a:solidFill>
                <a:effectLst/>
                <a:uFillTx/>
                <a:latin typeface="Calibri"/>
                <a:ea typeface="Calibri"/>
              </a:rPr>
              <a:t>Empty traffic, one-sided burst, reversal and overload.</a:t>
            </a:r>
            <a:endParaRPr lang="en-US" sz="1650" b="0" u="none" strike="noStrike">
              <a:solidFill>
                <a:srgbClr val="000000"/>
              </a:solidFill>
              <a:effectLst/>
              <a:uFillTx/>
              <a:latin typeface="Arial"/>
            </a:endParaRPr>
          </a:p>
          <a:p>
            <a:pPr defTabSz="914400">
              <a:lnSpc>
                <a:spcPct val="100000"/>
              </a:lnSpc>
            </a:pPr>
            <a:r>
              <a:rPr lang="en-US" sz="1650" b="0" u="none" strike="noStrike">
                <a:solidFill>
                  <a:srgbClr val="192A30"/>
                </a:solidFill>
                <a:effectLst/>
                <a:uFillTx/>
                <a:latin typeface="Calibri"/>
                <a:ea typeface="Calibri"/>
              </a:rPr>
              <a:t>Parameters stay unchanged during diagnostics.</a:t>
            </a:r>
            <a:endParaRPr lang="en-US" sz="1650" b="0" u="none" strike="noStrike">
              <a:solidFill>
                <a:srgbClr val="000000"/>
              </a:solidFill>
              <a:effectLst/>
              <a:uFillTx/>
              <a:latin typeface="Arial"/>
            </a:endParaRPr>
          </a:p>
        </p:txBody>
      </p:sp>
      <p:sp>
        <p:nvSpPr>
          <p:cNvPr id="295" name="Rectangle: Rounded Corners 294"/>
          <p:cNvSpPr/>
          <p:nvPr/>
        </p:nvSpPr>
        <p:spPr>
          <a:xfrm>
            <a:off x="8220240" y="1476360"/>
            <a:ext cx="3513960" cy="4409280"/>
          </a:xfrm>
          <a:prstGeom prst="roundRect">
            <a:avLst>
              <a:gd name="adj" fmla="val 2168"/>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6" name="Rectangle 295"/>
          <p:cNvSpPr/>
          <p:nvPr/>
        </p:nvSpPr>
        <p:spPr>
          <a:xfrm>
            <a:off x="8391600" y="1666800"/>
            <a:ext cx="31712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1" u="none" strike="noStrike">
                <a:solidFill>
                  <a:srgbClr val="107C41"/>
                </a:solidFill>
                <a:effectLst/>
                <a:uFillTx/>
                <a:latin typeface="Calibri"/>
                <a:ea typeface="Calibri"/>
              </a:rPr>
              <a:t>YOUR COLAB SCREENSHOT</a:t>
            </a:r>
            <a:endParaRPr lang="en-US" sz="1580" b="0" u="none" strike="noStrike">
              <a:solidFill>
                <a:srgbClr val="000000"/>
              </a:solidFill>
              <a:effectLst/>
              <a:uFillTx/>
              <a:latin typeface="Arial"/>
            </a:endParaRPr>
          </a:p>
        </p:txBody>
      </p:sp>
      <p:sp>
        <p:nvSpPr>
          <p:cNvPr id="297" name="Rectangle 296"/>
          <p:cNvSpPr/>
          <p:nvPr/>
        </p:nvSpPr>
        <p:spPr>
          <a:xfrm>
            <a:off x="8391600" y="2190600"/>
            <a:ext cx="3171240" cy="3456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7F8C8D"/>
                </a:solidFill>
                <a:effectLst/>
                <a:uFillTx/>
                <a:latin typeface="Calibri"/>
                <a:ea typeface="Calibri"/>
              </a:rPr>
              <a:t>Attach Section 8 test summary and Section 13 proof summary.</a:t>
            </a:r>
            <a:endParaRPr lang="en-US" sz="1500" b="0" u="none" strike="noStrike">
              <a:solidFill>
                <a:srgbClr val="000000"/>
              </a:solidFill>
              <a:effectLst/>
              <a:uFillTx/>
              <a:latin typeface="Arial"/>
            </a:endParaRPr>
          </a:p>
          <a:p>
            <a:pPr defTabSz="914400">
              <a:lnSpc>
                <a:spcPct val="100000"/>
              </a:lnSpc>
            </a:pP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7F8C8D"/>
                </a:solidFill>
                <a:effectLst/>
                <a:uFillTx/>
                <a:latin typeface="Calibri"/>
                <a:ea typeface="Calibri"/>
              </a:rPr>
              <a:t>Capture the notebook title and completed outputs.</a:t>
            </a:r>
            <a:endParaRPr lang="en-US" sz="1500" b="0" u="none" strike="noStrike">
              <a:solidFill>
                <a:srgbClr val="000000"/>
              </a:solidFill>
              <a:effectLst/>
              <a:uFillTx/>
              <a:latin typeface="Arial"/>
            </a:endParaRPr>
          </a:p>
          <a:p>
            <a:pPr defTabSz="914400">
              <a:lnSpc>
                <a:spcPct val="100000"/>
              </a:lnSpc>
            </a:pP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7F8C8D"/>
                </a:solidFill>
                <a:effectLst/>
                <a:uFillTx/>
                <a:latin typeface="Calibri"/>
                <a:ea typeface="Calibri"/>
              </a:rPr>
              <a:t>Keep FULL_RUN = True.</a:t>
            </a:r>
            <a:endParaRPr lang="en-US" sz="1500" b="0" u="none" strike="noStrike">
              <a:solidFill>
                <a:srgbClr val="000000"/>
              </a:solidFill>
              <a:effectLst/>
              <a:uFillTx/>
              <a:latin typeface="Arial"/>
            </a:endParaRPr>
          </a:p>
        </p:txBody>
      </p:sp>
      <p:sp>
        <p:nvSpPr>
          <p:cNvPr id="298" name="Rectangle 297"/>
          <p:cNvSpPr/>
          <p:nvPr/>
        </p:nvSpPr>
        <p:spPr>
          <a:xfrm>
            <a:off x="457200" y="6134040"/>
            <a:ext cx="1127700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200" b="0" u="none" strike="noStrike">
                <a:solidFill>
                  <a:srgbClr val="7F8C8D"/>
                </a:solidFill>
                <a:effectLst/>
                <a:uFillTx/>
                <a:latin typeface="Calibri"/>
                <a:ea typeface="Calibri"/>
              </a:rPr>
              <a:t>Verified local CPU reference run. Replace the proof panel with your own completed Colab output.</a:t>
            </a:r>
            <a:endParaRPr lang="en-US" sz="1200" b="0" u="none" strike="noStrike">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299" name="Rectangle 298"/>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Measured Learning Curves</a:t>
            </a:r>
            <a:endParaRPr lang="en-US" sz="2200" b="0" u="none" strike="noStrike">
              <a:solidFill>
                <a:srgbClr val="000000"/>
              </a:solidFill>
              <a:effectLst/>
              <a:uFillTx/>
              <a:latin typeface="Arial"/>
            </a:endParaRPr>
          </a:p>
        </p:txBody>
      </p:sp>
      <p:sp>
        <p:nvSpPr>
          <p:cNvPr id="300" name="Rectangle 299"/>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TRAINING EVIDENCE</a:t>
            </a:r>
            <a:endParaRPr lang="en-US" sz="1300" b="0" u="none" strike="noStrike">
              <a:solidFill>
                <a:srgbClr val="000000"/>
              </a:solidFill>
              <a:effectLst/>
              <a:uFillTx/>
              <a:latin typeface="Arial"/>
            </a:endParaRPr>
          </a:p>
        </p:txBody>
      </p:sp>
      <p:sp>
        <p:nvSpPr>
          <p:cNvPr id="301" name="Rectangle 300"/>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302" name="Rectangle 301"/>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17</a:t>
            </a:r>
            <a:endParaRPr lang="en-US" sz="950" b="0" u="none" strike="noStrike">
              <a:solidFill>
                <a:srgbClr val="000000"/>
              </a:solidFill>
              <a:effectLst/>
              <a:uFillTx/>
              <a:latin typeface="Arial"/>
            </a:endParaRPr>
          </a:p>
        </p:txBody>
      </p:sp>
      <p:graphicFrame>
        <p:nvGraphicFramePr>
          <p:cNvPr id="303" name="Chart"/>
          <p:cNvGraphicFramePr/>
          <p:nvPr/>
        </p:nvGraphicFramePr>
        <p:xfrm>
          <a:off x="457200" y="1581120"/>
          <a:ext cx="7381080" cy="3876120"/>
        </p:xfrm>
        <a:graphic>
          <a:graphicData uri="http://schemas.openxmlformats.org/drawingml/2006/chart">
            <c:chart xmlns:c="http://schemas.openxmlformats.org/drawingml/2006/chart" xmlns:r="http://schemas.openxmlformats.org/officeDocument/2006/relationships" r:id="rId3"/>
          </a:graphicData>
        </a:graphic>
      </p:graphicFrame>
      <p:sp>
        <p:nvSpPr>
          <p:cNvPr id="304" name="Rectangle: Rounded Corners 303"/>
          <p:cNvSpPr/>
          <p:nvPr/>
        </p:nvSpPr>
        <p:spPr>
          <a:xfrm>
            <a:off x="8220240" y="1581120"/>
            <a:ext cx="3513960" cy="3876120"/>
          </a:xfrm>
          <a:prstGeom prst="roundRect">
            <a:avLst>
              <a:gd name="adj" fmla="val 2168"/>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05" name="Rectangle 304"/>
          <p:cNvSpPr/>
          <p:nvPr/>
        </p:nvSpPr>
        <p:spPr>
          <a:xfrm>
            <a:off x="8391600" y="1771560"/>
            <a:ext cx="31712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1" u="none" strike="noStrike">
                <a:solidFill>
                  <a:srgbClr val="107C41"/>
                </a:solidFill>
                <a:effectLst/>
                <a:uFillTx/>
                <a:latin typeface="Calibri"/>
                <a:ea typeface="Calibri"/>
              </a:rPr>
              <a:t>YOUR COLAB SCREENSHOT</a:t>
            </a:r>
            <a:endParaRPr lang="en-US" sz="1580" b="0" u="none" strike="noStrike">
              <a:solidFill>
                <a:srgbClr val="000000"/>
              </a:solidFill>
              <a:effectLst/>
              <a:uFillTx/>
              <a:latin typeface="Arial"/>
            </a:endParaRPr>
          </a:p>
        </p:txBody>
      </p:sp>
      <p:sp>
        <p:nvSpPr>
          <p:cNvPr id="306" name="Rectangle 305"/>
          <p:cNvSpPr/>
          <p:nvPr/>
        </p:nvSpPr>
        <p:spPr>
          <a:xfrm>
            <a:off x="8391600" y="2295360"/>
            <a:ext cx="3171240" cy="2923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7F8C8D"/>
                </a:solidFill>
                <a:effectLst/>
                <a:uFillTx/>
                <a:latin typeface="Calibri"/>
                <a:ea typeface="Calibri"/>
              </a:rPr>
              <a:t>Attach Section 9 completed progress or Section 10 learning curves.</a:t>
            </a:r>
            <a:endParaRPr lang="en-US" sz="1500" b="0" u="none" strike="noStrike">
              <a:solidFill>
                <a:srgbClr val="000000"/>
              </a:solidFill>
              <a:effectLst/>
              <a:uFillTx/>
              <a:latin typeface="Arial"/>
            </a:endParaRPr>
          </a:p>
          <a:p>
            <a:pPr defTabSz="914400">
              <a:lnSpc>
                <a:spcPct val="100000"/>
              </a:lnSpc>
            </a:pP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7F8C8D"/>
                </a:solidFill>
                <a:effectLst/>
                <a:uFillTx/>
                <a:latin typeface="Calibri"/>
                <a:ea typeface="Calibri"/>
              </a:rPr>
              <a:t>Show algorithms and seeds.</a:t>
            </a:r>
            <a:endParaRPr lang="en-US" sz="1500" b="0" u="none" strike="noStrike">
              <a:solidFill>
                <a:srgbClr val="000000"/>
              </a:solidFill>
              <a:effectLst/>
              <a:uFillTx/>
              <a:latin typeface="Arial"/>
            </a:endParaRPr>
          </a:p>
        </p:txBody>
      </p:sp>
      <p:sp>
        <p:nvSpPr>
          <p:cNvPr id="307" name="Rectangle 306"/>
          <p:cNvSpPr/>
          <p:nvPr/>
        </p:nvSpPr>
        <p:spPr>
          <a:xfrm>
            <a:off x="457200" y="5705640"/>
            <a:ext cx="11277000" cy="33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650" b="0" u="none" strike="noStrike">
                <a:solidFill>
                  <a:srgbClr val="192A30"/>
                </a:solidFill>
                <a:effectLst/>
                <a:uFillTx/>
                <a:latin typeface="Calibri"/>
                <a:ea typeface="Calibri"/>
              </a:rPr>
              <a:t>Exploration: 0.30 to 0.03. Curves average three training seeds. Evaluation follows.</a:t>
            </a:r>
            <a:endParaRPr lang="en-US" sz="1650" b="0" u="none" strike="noStrike">
              <a:solidFill>
                <a:srgbClr val="000000"/>
              </a:solidFill>
              <a:effectLst/>
              <a:uFillTx/>
              <a:latin typeface="Arial"/>
            </a:endParaRPr>
          </a:p>
        </p:txBody>
      </p:sp>
      <p:sp>
        <p:nvSpPr>
          <p:cNvPr id="308" name="Rectangle 307"/>
          <p:cNvSpPr/>
          <p:nvPr/>
        </p:nvSpPr>
        <p:spPr>
          <a:xfrm>
            <a:off x="457200" y="6134040"/>
            <a:ext cx="1127700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200" b="0" u="none" strike="noStrike">
                <a:solidFill>
                  <a:srgbClr val="7F8C8D"/>
                </a:solidFill>
                <a:effectLst/>
                <a:uFillTx/>
                <a:latin typeface="Calibri"/>
                <a:ea typeface="Calibri"/>
              </a:rPr>
              <a:t>Source: results/training.csv, tidal episodes averaged over 3 seeds. DRQ remains in the full notebook and CSV.</a:t>
            </a:r>
            <a:endParaRPr lang="en-US" sz="1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309" name="Rectangle 308"/>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Example 1: Balanced Demand</a:t>
            </a:r>
            <a:endParaRPr lang="en-US" sz="2200" b="0" u="none" strike="noStrike">
              <a:solidFill>
                <a:srgbClr val="000000"/>
              </a:solidFill>
              <a:effectLst/>
              <a:uFillTx/>
              <a:latin typeface="Arial"/>
            </a:endParaRPr>
          </a:p>
        </p:txBody>
      </p:sp>
      <p:sp>
        <p:nvSpPr>
          <p:cNvPr id="310" name="Rectangle 309"/>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BALANCED TRAFFIC</a:t>
            </a:r>
            <a:endParaRPr lang="en-US" sz="1300" b="0" u="none" strike="noStrike">
              <a:solidFill>
                <a:srgbClr val="000000"/>
              </a:solidFill>
              <a:effectLst/>
              <a:uFillTx/>
              <a:latin typeface="Arial"/>
            </a:endParaRPr>
          </a:p>
        </p:txBody>
      </p:sp>
      <p:sp>
        <p:nvSpPr>
          <p:cNvPr id="311" name="Rectangle 310"/>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312" name="Rectangle 311"/>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18</a:t>
            </a:r>
            <a:endParaRPr lang="en-US" sz="950" b="0" u="none" strike="noStrike">
              <a:solidFill>
                <a:srgbClr val="000000"/>
              </a:solidFill>
              <a:effectLst/>
              <a:uFillTx/>
              <a:latin typeface="Arial"/>
            </a:endParaRPr>
          </a:p>
        </p:txBody>
      </p:sp>
      <p:graphicFrame>
        <p:nvGraphicFramePr>
          <p:cNvPr id="313" name="Chart"/>
          <p:cNvGraphicFramePr/>
          <p:nvPr/>
        </p:nvGraphicFramePr>
        <p:xfrm>
          <a:off x="457200" y="1409760"/>
          <a:ext cx="7381440" cy="2457000"/>
        </p:xfrm>
        <a:graphic>
          <a:graphicData uri="http://schemas.openxmlformats.org/drawingml/2006/chart">
            <c:chart xmlns:c="http://schemas.openxmlformats.org/drawingml/2006/chart" xmlns:r="http://schemas.openxmlformats.org/officeDocument/2006/relationships" r:id="rId3"/>
          </a:graphicData>
        </a:graphic>
      </p:graphicFrame>
      <p:sp>
        <p:nvSpPr>
          <p:cNvPr id="314" name="Rectangle 313"/>
          <p:cNvSpPr/>
          <p:nvPr/>
        </p:nvSpPr>
        <p:spPr>
          <a:xfrm>
            <a:off x="457200" y="5105520"/>
            <a:ext cx="7505280" cy="32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950" b="1" u="none" strike="noStrike">
                <a:solidFill>
                  <a:srgbClr val="107C41"/>
                </a:solidFill>
                <a:effectLst/>
                <a:uFillTx/>
                <a:latin typeface="Calibri"/>
                <a:ea typeface="Calibri"/>
              </a:rPr>
              <a:t>(11.688 − 9.828) / 11.688 × 100 ≈ 15.92%</a:t>
            </a:r>
            <a:endParaRPr lang="en-US" sz="1950" b="0" u="none" strike="noStrike">
              <a:solidFill>
                <a:srgbClr val="000000"/>
              </a:solidFill>
              <a:effectLst/>
              <a:uFillTx/>
              <a:latin typeface="Arial"/>
            </a:endParaRPr>
          </a:p>
        </p:txBody>
      </p:sp>
      <p:sp>
        <p:nvSpPr>
          <p:cNvPr id="315" name="Rectangle 314"/>
          <p:cNvSpPr/>
          <p:nvPr/>
        </p:nvSpPr>
        <p:spPr>
          <a:xfrm>
            <a:off x="457200" y="5486400"/>
            <a:ext cx="7505280" cy="275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0" u="none" strike="noStrike">
                <a:solidFill>
                  <a:srgbClr val="192A30"/>
                </a:solidFill>
                <a:effectLst/>
                <a:uFillTx/>
                <a:latin typeface="Calibri"/>
                <a:ea typeface="Calibri"/>
              </a:rPr>
              <a:t>95% interval: 13.60% to 18.42%; 3 training seeds.</a:t>
            </a:r>
            <a:endParaRPr lang="en-US" sz="1580" b="0" u="none" strike="noStrike">
              <a:solidFill>
                <a:srgbClr val="000000"/>
              </a:solidFill>
              <a:effectLst/>
              <a:uFillTx/>
              <a:latin typeface="Arial"/>
            </a:endParaRPr>
          </a:p>
        </p:txBody>
      </p:sp>
      <p:sp>
        <p:nvSpPr>
          <p:cNvPr id="316" name="Rectangle: Rounded Corners 315"/>
          <p:cNvSpPr/>
          <p:nvPr/>
        </p:nvSpPr>
        <p:spPr>
          <a:xfrm>
            <a:off x="8220240" y="1609560"/>
            <a:ext cx="3513960" cy="4276080"/>
          </a:xfrm>
          <a:prstGeom prst="roundRect">
            <a:avLst>
              <a:gd name="adj" fmla="val 2168"/>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7" name="Rectangle 316"/>
          <p:cNvSpPr/>
          <p:nvPr/>
        </p:nvSpPr>
        <p:spPr>
          <a:xfrm>
            <a:off x="8391600" y="1800360"/>
            <a:ext cx="31712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1" u="none" strike="noStrike">
                <a:solidFill>
                  <a:srgbClr val="107C41"/>
                </a:solidFill>
                <a:effectLst/>
                <a:uFillTx/>
                <a:latin typeface="Calibri"/>
                <a:ea typeface="Calibri"/>
              </a:rPr>
              <a:t>YOUR COLAB SCREENSHOT</a:t>
            </a:r>
            <a:endParaRPr lang="en-US" sz="1580" b="0" u="none" strike="noStrike">
              <a:solidFill>
                <a:srgbClr val="000000"/>
              </a:solidFill>
              <a:effectLst/>
              <a:uFillTx/>
              <a:latin typeface="Arial"/>
            </a:endParaRPr>
          </a:p>
        </p:txBody>
      </p:sp>
      <p:sp>
        <p:nvSpPr>
          <p:cNvPr id="318" name="Rectangle 317"/>
          <p:cNvSpPr/>
          <p:nvPr/>
        </p:nvSpPr>
        <p:spPr>
          <a:xfrm>
            <a:off x="8391600" y="2324160"/>
            <a:ext cx="3171240" cy="3323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dirty="0">
                <a:solidFill>
                  <a:srgbClr val="7F8C8D"/>
                </a:solidFill>
                <a:effectLst/>
                <a:uFillTx/>
                <a:latin typeface="Calibri"/>
                <a:ea typeface="Calibri"/>
              </a:rPr>
              <a:t>Attach Section 10 balanced result rows.</a:t>
            </a:r>
            <a:endParaRPr lang="en-US" sz="1500" b="0" u="none" strike="noStrike" dirty="0">
              <a:solidFill>
                <a:srgbClr val="000000"/>
              </a:solidFill>
              <a:effectLst/>
              <a:uFillTx/>
              <a:latin typeface="Arial"/>
            </a:endParaRPr>
          </a:p>
          <a:p>
            <a:pPr defTabSz="914400">
              <a:lnSpc>
                <a:spcPct val="100000"/>
              </a:lnSpc>
            </a:pP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7F8C8D"/>
                </a:solidFill>
                <a:effectLst/>
                <a:uFillTx/>
                <a:latin typeface="Calibri"/>
                <a:ea typeface="Calibri"/>
              </a:rPr>
              <a:t>Confirm 11.688 s Actuated and 9.828 s DRHQ, or update the chart to your measured values.</a:t>
            </a:r>
            <a:endParaRPr lang="en-US" sz="1500" b="0" u="none" strike="noStrike" dirty="0">
              <a:solidFill>
                <a:srgbClr val="000000"/>
              </a:solidFill>
              <a:effectLst/>
              <a:uFillTx/>
              <a:latin typeface="Arial"/>
            </a:endParaRPr>
          </a:p>
        </p:txBody>
      </p:sp>
      <p:sp>
        <p:nvSpPr>
          <p:cNvPr id="319" name="Rectangle 318"/>
          <p:cNvSpPr/>
          <p:nvPr/>
        </p:nvSpPr>
        <p:spPr>
          <a:xfrm>
            <a:off x="457200" y="6134040"/>
            <a:ext cx="1127700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200" b="0" u="none" strike="noStrike">
                <a:solidFill>
                  <a:srgbClr val="7F8C8D"/>
                </a:solidFill>
                <a:effectLst/>
                <a:uFillTx/>
                <a:latin typeface="Calibri"/>
                <a:ea typeface="Calibri"/>
              </a:rPr>
              <a:t>Sources: summary.csv [balanced, Actuated/DRHQ]; evaluation.csv. Pending/throughput are means. DRQ delay: 286.671 s.</a:t>
            </a:r>
            <a:endParaRPr lang="en-US" sz="1200" b="0" u="none" strike="noStrike">
              <a:solidFill>
                <a:srgbClr val="000000"/>
              </a:solidFill>
              <a:effectLst/>
              <a:uFillTx/>
              <a:latin typeface="Arial"/>
            </a:endParaRPr>
          </a:p>
        </p:txBody>
      </p:sp>
      <p:graphicFrame>
        <p:nvGraphicFramePr>
          <p:cNvPr id="320" name="Table 319"/>
          <p:cNvGraphicFramePr/>
          <p:nvPr/>
        </p:nvGraphicFramePr>
        <p:xfrm>
          <a:off x="457200" y="4010040"/>
          <a:ext cx="7505280" cy="942840"/>
        </p:xfrm>
        <a:graphic>
          <a:graphicData uri="http://schemas.openxmlformats.org/drawingml/2006/table">
            <a:tbl>
              <a:tblPr/>
              <a:tblGrid>
                <a:gridCol w="2000160">
                  <a:extLst>
                    <a:ext uri="{9D8B030D-6E8A-4147-A177-3AD203B41FA5}">
                      <a16:colId xmlns:a16="http://schemas.microsoft.com/office/drawing/2014/main" val="20000"/>
                    </a:ext>
                  </a:extLst>
                </a:gridCol>
                <a:gridCol w="1904760">
                  <a:extLst>
                    <a:ext uri="{9D8B030D-6E8A-4147-A177-3AD203B41FA5}">
                      <a16:colId xmlns:a16="http://schemas.microsoft.com/office/drawing/2014/main" val="20001"/>
                    </a:ext>
                  </a:extLst>
                </a:gridCol>
                <a:gridCol w="1790640">
                  <a:extLst>
                    <a:ext uri="{9D8B030D-6E8A-4147-A177-3AD203B41FA5}">
                      <a16:colId xmlns:a16="http://schemas.microsoft.com/office/drawing/2014/main" val="20002"/>
                    </a:ext>
                  </a:extLst>
                </a:gridCol>
                <a:gridCol w="1809720">
                  <a:extLst>
                    <a:ext uri="{9D8B030D-6E8A-4147-A177-3AD203B41FA5}">
                      <a16:colId xmlns:a16="http://schemas.microsoft.com/office/drawing/2014/main" val="20003"/>
                    </a:ext>
                  </a:extLst>
                </a:gridCol>
              </a:tblGrid>
              <a:tr h="314280">
                <a:tc>
                  <a:txBody>
                    <a:bodyPr/>
                    <a:lstStyle/>
                    <a:p>
                      <a:pPr>
                        <a:lnSpc>
                          <a:spcPct val="100000"/>
                        </a:lnSpc>
                      </a:pPr>
                      <a:r>
                        <a:rPr lang="en-US" sz="1430" b="1" u="none" strike="noStrike">
                          <a:solidFill>
                            <a:srgbClr val="FFFFFF"/>
                          </a:solidFill>
                          <a:effectLst/>
                          <a:uFillTx/>
                          <a:latin typeface="Calibri"/>
                          <a:ea typeface="Calibri"/>
                        </a:rPr>
                        <a:t>Controller</a:t>
                      </a:r>
                      <a:endParaRPr lang="en-US" sz="143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430" b="1" u="none" strike="noStrike">
                          <a:solidFill>
                            <a:srgbClr val="FFFFFF"/>
                          </a:solidFill>
                          <a:effectLst/>
                          <a:uFillTx/>
                          <a:latin typeface="Calibri"/>
                          <a:ea typeface="Calibri"/>
                        </a:rPr>
                        <a:t>Delay (s/arrival)</a:t>
                      </a:r>
                      <a:endParaRPr lang="en-US" sz="143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430" b="1" u="none" strike="noStrike">
                          <a:solidFill>
                            <a:srgbClr val="FFFFFF"/>
                          </a:solidFill>
                          <a:effectLst/>
                          <a:uFillTx/>
                          <a:latin typeface="Calibri"/>
                          <a:ea typeface="Calibri"/>
                        </a:rPr>
                        <a:t>Pending (mean)</a:t>
                      </a:r>
                      <a:endParaRPr lang="en-US" sz="143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430" b="1" u="none" strike="noStrike">
                          <a:solidFill>
                            <a:srgbClr val="FFFFFF"/>
                          </a:solidFill>
                          <a:effectLst/>
                          <a:uFillTx/>
                          <a:latin typeface="Calibri"/>
                          <a:ea typeface="Calibri"/>
                        </a:rPr>
                        <a:t>Throughput (%)</a:t>
                      </a:r>
                      <a:endParaRPr lang="en-US" sz="143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extLst>
                  <a:ext uri="{0D108BD9-81ED-4DB2-BD59-A6C34878D82A}">
                    <a16:rowId xmlns:a16="http://schemas.microsoft.com/office/drawing/2014/main" val="10000"/>
                  </a:ext>
                </a:extLst>
              </a:tr>
              <a:tr h="314280">
                <a:tc>
                  <a:txBody>
                    <a:bodyPr/>
                    <a:lstStyle/>
                    <a:p>
                      <a:pPr>
                        <a:lnSpc>
                          <a:spcPct val="100000"/>
                        </a:lnSpc>
                      </a:pPr>
                      <a:r>
                        <a:rPr lang="en-US" sz="1430" b="0" u="none" strike="noStrike">
                          <a:solidFill>
                            <a:srgbClr val="192A30"/>
                          </a:solidFill>
                          <a:effectLst/>
                          <a:uFillTx/>
                          <a:latin typeface="Calibri"/>
                          <a:ea typeface="Calibri"/>
                        </a:rPr>
                        <a:t>Actuated</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430" b="0" u="none" strike="noStrike">
                          <a:solidFill>
                            <a:srgbClr val="192A30"/>
                          </a:solidFill>
                          <a:effectLst/>
                          <a:uFillTx/>
                          <a:latin typeface="Calibri"/>
                          <a:ea typeface="Calibri"/>
                        </a:rPr>
                        <a:t>11.688</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430" b="0" u="none" strike="noStrike">
                          <a:solidFill>
                            <a:srgbClr val="192A30"/>
                          </a:solidFill>
                          <a:effectLst/>
                          <a:uFillTx/>
                          <a:latin typeface="Calibri"/>
                          <a:ea typeface="Calibri"/>
                        </a:rPr>
                        <a:t>12.80</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430" b="0" u="none" strike="noStrike">
                          <a:solidFill>
                            <a:srgbClr val="192A30"/>
                          </a:solidFill>
                          <a:effectLst/>
                          <a:uFillTx/>
                          <a:latin typeface="Calibri"/>
                          <a:ea typeface="Calibri"/>
                        </a:rPr>
                        <a:t>99.13</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1"/>
                  </a:ext>
                </a:extLst>
              </a:tr>
              <a:tr h="314280">
                <a:tc>
                  <a:txBody>
                    <a:bodyPr/>
                    <a:lstStyle/>
                    <a:p>
                      <a:pPr>
                        <a:lnSpc>
                          <a:spcPct val="100000"/>
                        </a:lnSpc>
                      </a:pPr>
                      <a:r>
                        <a:rPr lang="en-US" sz="1430" b="0" u="none" strike="noStrike">
                          <a:solidFill>
                            <a:srgbClr val="192A30"/>
                          </a:solidFill>
                          <a:effectLst/>
                          <a:uFillTx/>
                          <a:latin typeface="Calibri"/>
                          <a:ea typeface="Calibri"/>
                        </a:rPr>
                        <a:t>DRHQ</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430" b="0" u="none" strike="noStrike">
                          <a:solidFill>
                            <a:srgbClr val="192A30"/>
                          </a:solidFill>
                          <a:effectLst/>
                          <a:uFillTx/>
                          <a:latin typeface="Calibri"/>
                          <a:ea typeface="Calibri"/>
                        </a:rPr>
                        <a:t>9.828</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430" b="0" u="none" strike="noStrike">
                          <a:solidFill>
                            <a:srgbClr val="192A30"/>
                          </a:solidFill>
                          <a:effectLst/>
                          <a:uFillTx/>
                          <a:latin typeface="Calibri"/>
                          <a:ea typeface="Calibri"/>
                        </a:rPr>
                        <a:t>10.07</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430" b="0" u="none" strike="noStrike">
                          <a:solidFill>
                            <a:srgbClr val="192A30"/>
                          </a:solidFill>
                          <a:effectLst/>
                          <a:uFillTx/>
                          <a:latin typeface="Calibri"/>
                          <a:ea typeface="Calibri"/>
                        </a:rPr>
                        <a:t>99.31</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extLst>
                  <a:ext uri="{0D108BD9-81ED-4DB2-BD59-A6C34878D82A}">
                    <a16:rowId xmlns:a16="http://schemas.microsoft.com/office/drawing/2014/main" val="10002"/>
                  </a:ext>
                </a:extLst>
              </a:tr>
            </a:tbl>
          </a:graphicData>
        </a:graphic>
      </p:graphicFrame>
      <p:sp>
        <p:nvSpPr>
          <p:cNvPr id="321" name="Rectangle 320"/>
          <p:cNvSpPr/>
          <p:nvPr/>
        </p:nvSpPr>
        <p:spPr>
          <a:xfrm>
            <a:off x="457200" y="5810400"/>
            <a:ext cx="7505280" cy="247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pPr>
            <a:r>
              <a:rPr lang="en-US" sz="1350" b="0" u="none" strike="noStrike">
                <a:solidFill>
                  <a:srgbClr val="7F8C8D"/>
                </a:solidFill>
                <a:effectLst/>
                <a:uFillTx/>
                <a:latin typeface="Calibri"/>
                <a:ea typeface="Calibri"/>
              </a:rPr>
              <a:t>Interval: held-out demand variation, conditional on these models.</a:t>
            </a:r>
            <a:endParaRPr lang="en-US" sz="135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322" name="Rectangle 321"/>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Example 2: Demand Reversal</a:t>
            </a:r>
            <a:endParaRPr lang="en-US" sz="2200" b="0" u="none" strike="noStrike">
              <a:solidFill>
                <a:srgbClr val="000000"/>
              </a:solidFill>
              <a:effectLst/>
              <a:uFillTx/>
              <a:latin typeface="Arial"/>
            </a:endParaRPr>
          </a:p>
        </p:txBody>
      </p:sp>
      <p:sp>
        <p:nvSpPr>
          <p:cNvPr id="323" name="Rectangle 322"/>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TRAFFIC CHANGES AT 600 SECONDS</a:t>
            </a:r>
            <a:endParaRPr lang="en-US" sz="1300" b="0" u="none" strike="noStrike">
              <a:solidFill>
                <a:srgbClr val="000000"/>
              </a:solidFill>
              <a:effectLst/>
              <a:uFillTx/>
              <a:latin typeface="Arial"/>
            </a:endParaRPr>
          </a:p>
        </p:txBody>
      </p:sp>
      <p:sp>
        <p:nvSpPr>
          <p:cNvPr id="324" name="Rectangle 323"/>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325" name="Rectangle 324"/>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19</a:t>
            </a:r>
            <a:endParaRPr lang="en-US" sz="950" b="0" u="none" strike="noStrike">
              <a:solidFill>
                <a:srgbClr val="000000"/>
              </a:solidFill>
              <a:effectLst/>
              <a:uFillTx/>
              <a:latin typeface="Arial"/>
            </a:endParaRPr>
          </a:p>
        </p:txBody>
      </p:sp>
      <p:graphicFrame>
        <p:nvGraphicFramePr>
          <p:cNvPr id="326" name="Chart"/>
          <p:cNvGraphicFramePr/>
          <p:nvPr/>
        </p:nvGraphicFramePr>
        <p:xfrm>
          <a:off x="457200" y="1438200"/>
          <a:ext cx="7381440" cy="2628720"/>
        </p:xfrm>
        <a:graphic>
          <a:graphicData uri="http://schemas.openxmlformats.org/drawingml/2006/chart">
            <c:chart xmlns:c="http://schemas.openxmlformats.org/drawingml/2006/chart" xmlns:r="http://schemas.openxmlformats.org/officeDocument/2006/relationships" r:id="rId3"/>
          </a:graphicData>
        </a:graphic>
      </p:graphicFrame>
      <p:sp>
        <p:nvSpPr>
          <p:cNvPr id="327" name="Rectangle 326"/>
          <p:cNvSpPr/>
          <p:nvPr/>
        </p:nvSpPr>
        <p:spPr>
          <a:xfrm>
            <a:off x="457200" y="5267160"/>
            <a:ext cx="7505280" cy="33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950" b="0" u="none" strike="noStrike">
                <a:solidFill>
                  <a:srgbClr val="192A30"/>
                </a:solidFill>
                <a:effectLst/>
                <a:uFillTx/>
                <a:latin typeface="Calibri"/>
                <a:ea typeface="Calibri"/>
              </a:rPr>
              <a:t>18.12% lower delay than local Actuated</a:t>
            </a:r>
            <a:endParaRPr lang="en-US" sz="1950" b="0" u="none" strike="noStrike">
              <a:solidFill>
                <a:srgbClr val="000000"/>
              </a:solidFill>
              <a:effectLst/>
              <a:uFillTx/>
              <a:latin typeface="Arial"/>
            </a:endParaRPr>
          </a:p>
        </p:txBody>
      </p:sp>
      <p:sp>
        <p:nvSpPr>
          <p:cNvPr id="328" name="Rectangle 327"/>
          <p:cNvSpPr/>
          <p:nvPr/>
        </p:nvSpPr>
        <p:spPr>
          <a:xfrm>
            <a:off x="457200" y="5572080"/>
            <a:ext cx="7505280" cy="275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1" u="none" strike="noStrike">
                <a:solidFill>
                  <a:srgbClr val="107C41"/>
                </a:solidFill>
                <a:effectLst/>
                <a:uFillTx/>
                <a:latin typeface="Calibri"/>
                <a:ea typeface="Calibri"/>
              </a:rPr>
              <a:t>95% interval: 15.10% to 21.17%; 3 training seeds.</a:t>
            </a:r>
            <a:endParaRPr lang="en-US" sz="1580" b="0" u="none" strike="noStrike">
              <a:solidFill>
                <a:srgbClr val="000000"/>
              </a:solidFill>
              <a:effectLst/>
              <a:uFillTx/>
              <a:latin typeface="Arial"/>
            </a:endParaRPr>
          </a:p>
        </p:txBody>
      </p:sp>
      <p:sp>
        <p:nvSpPr>
          <p:cNvPr id="329" name="Rectangle: Rounded Corners 328"/>
          <p:cNvSpPr/>
          <p:nvPr/>
        </p:nvSpPr>
        <p:spPr>
          <a:xfrm>
            <a:off x="8220240" y="1581120"/>
            <a:ext cx="3513960" cy="4218840"/>
          </a:xfrm>
          <a:prstGeom prst="roundRect">
            <a:avLst>
              <a:gd name="adj" fmla="val 2168"/>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0" name="Rectangle 329"/>
          <p:cNvSpPr/>
          <p:nvPr/>
        </p:nvSpPr>
        <p:spPr>
          <a:xfrm>
            <a:off x="8391600" y="1771560"/>
            <a:ext cx="31712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1" u="none" strike="noStrike">
                <a:solidFill>
                  <a:srgbClr val="107C41"/>
                </a:solidFill>
                <a:effectLst/>
                <a:uFillTx/>
                <a:latin typeface="Calibri"/>
                <a:ea typeface="Calibri"/>
              </a:rPr>
              <a:t>YOUR COLAB SCREENSHOT</a:t>
            </a:r>
            <a:endParaRPr lang="en-US" sz="1580" b="0" u="none" strike="noStrike">
              <a:solidFill>
                <a:srgbClr val="000000"/>
              </a:solidFill>
              <a:effectLst/>
              <a:uFillTx/>
              <a:latin typeface="Arial"/>
            </a:endParaRPr>
          </a:p>
        </p:txBody>
      </p:sp>
      <p:sp>
        <p:nvSpPr>
          <p:cNvPr id="331" name="Rectangle 330"/>
          <p:cNvSpPr/>
          <p:nvPr/>
        </p:nvSpPr>
        <p:spPr>
          <a:xfrm>
            <a:off x="8391600" y="2295360"/>
            <a:ext cx="3171240" cy="32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7F8C8D"/>
                </a:solidFill>
                <a:effectLst/>
                <a:uFillTx/>
                <a:latin typeface="Calibri"/>
                <a:ea typeface="Calibri"/>
              </a:rPr>
              <a:t>Attach Section 12 trace and Section 10 tidal results.</a:t>
            </a:r>
            <a:endParaRPr lang="en-US" sz="1500" b="0" u="none" strike="noStrike">
              <a:solidFill>
                <a:srgbClr val="000000"/>
              </a:solidFill>
              <a:effectLst/>
              <a:uFillTx/>
              <a:latin typeface="Arial"/>
            </a:endParaRPr>
          </a:p>
          <a:p>
            <a:pPr defTabSz="914400">
              <a:lnSpc>
                <a:spcPct val="100000"/>
              </a:lnSpc>
            </a:pP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7F8C8D"/>
                </a:solidFill>
                <a:effectLst/>
                <a:uFillTx/>
                <a:latin typeface="Calibri"/>
                <a:ea typeface="Calibri"/>
              </a:rPr>
              <a:t>Keep the 600 s reversal visible.</a:t>
            </a:r>
            <a:endParaRPr lang="en-US" sz="1500" b="0" u="none" strike="noStrike">
              <a:solidFill>
                <a:srgbClr val="000000"/>
              </a:solidFill>
              <a:effectLst/>
              <a:uFillTx/>
              <a:latin typeface="Arial"/>
            </a:endParaRPr>
          </a:p>
          <a:p>
            <a:pPr defTabSz="914400">
              <a:lnSpc>
                <a:spcPct val="100000"/>
              </a:lnSpc>
            </a:pP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7F8C8D"/>
                </a:solidFill>
                <a:effectLst/>
                <a:uFillTx/>
                <a:latin typeface="Calibri"/>
                <a:ea typeface="Calibri"/>
              </a:rPr>
              <a:t>Interval: demand variation conditional on trained models.</a:t>
            </a: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7F8C8D"/>
                </a:solidFill>
                <a:effectLst/>
                <a:uFillTx/>
                <a:latin typeface="Calibri"/>
                <a:ea typeface="Calibri"/>
              </a:rPr>
              <a:t>Pending/throughput: rollout means.</a:t>
            </a:r>
            <a:endParaRPr lang="en-US" sz="1500" b="0" u="none" strike="noStrike">
              <a:solidFill>
                <a:srgbClr val="000000"/>
              </a:solidFill>
              <a:effectLst/>
              <a:uFillTx/>
              <a:latin typeface="Arial"/>
            </a:endParaRPr>
          </a:p>
        </p:txBody>
      </p:sp>
      <p:sp>
        <p:nvSpPr>
          <p:cNvPr id="332" name="Rectangle 331"/>
          <p:cNvSpPr/>
          <p:nvPr/>
        </p:nvSpPr>
        <p:spPr>
          <a:xfrm>
            <a:off x="457200" y="6134040"/>
            <a:ext cx="1127700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200" b="0" u="none" strike="noStrike">
                <a:solidFill>
                  <a:srgbClr val="7F8C8D"/>
                </a:solidFill>
                <a:effectLst/>
                <a:uFillTx/>
                <a:latin typeface="Calibri"/>
                <a:ea typeface="Calibri"/>
              </a:rPr>
              <a:t>Sources: trace_tidal_*.csv; summary.csv [tidal]; evaluation.csv. Seed 11 / demand 90000. DRQ delay: 380.372 s.</a:t>
            </a:r>
            <a:endParaRPr lang="en-US" sz="1200" b="0" u="none" strike="noStrike">
              <a:solidFill>
                <a:srgbClr val="000000"/>
              </a:solidFill>
              <a:effectLst/>
              <a:uFillTx/>
              <a:latin typeface="Arial"/>
            </a:endParaRPr>
          </a:p>
        </p:txBody>
      </p:sp>
      <p:graphicFrame>
        <p:nvGraphicFramePr>
          <p:cNvPr id="333" name="Table 332"/>
          <p:cNvGraphicFramePr/>
          <p:nvPr/>
        </p:nvGraphicFramePr>
        <p:xfrm>
          <a:off x="457200" y="4200480"/>
          <a:ext cx="7505280" cy="942840"/>
        </p:xfrm>
        <a:graphic>
          <a:graphicData uri="http://schemas.openxmlformats.org/drawingml/2006/table">
            <a:tbl>
              <a:tblPr/>
              <a:tblGrid>
                <a:gridCol w="2000160">
                  <a:extLst>
                    <a:ext uri="{9D8B030D-6E8A-4147-A177-3AD203B41FA5}">
                      <a16:colId xmlns:a16="http://schemas.microsoft.com/office/drawing/2014/main" val="20000"/>
                    </a:ext>
                  </a:extLst>
                </a:gridCol>
                <a:gridCol w="1904760">
                  <a:extLst>
                    <a:ext uri="{9D8B030D-6E8A-4147-A177-3AD203B41FA5}">
                      <a16:colId xmlns:a16="http://schemas.microsoft.com/office/drawing/2014/main" val="20001"/>
                    </a:ext>
                  </a:extLst>
                </a:gridCol>
                <a:gridCol w="1790640">
                  <a:extLst>
                    <a:ext uri="{9D8B030D-6E8A-4147-A177-3AD203B41FA5}">
                      <a16:colId xmlns:a16="http://schemas.microsoft.com/office/drawing/2014/main" val="20002"/>
                    </a:ext>
                  </a:extLst>
                </a:gridCol>
                <a:gridCol w="1809720">
                  <a:extLst>
                    <a:ext uri="{9D8B030D-6E8A-4147-A177-3AD203B41FA5}">
                      <a16:colId xmlns:a16="http://schemas.microsoft.com/office/drawing/2014/main" val="20003"/>
                    </a:ext>
                  </a:extLst>
                </a:gridCol>
              </a:tblGrid>
              <a:tr h="314280">
                <a:tc>
                  <a:txBody>
                    <a:bodyPr/>
                    <a:lstStyle/>
                    <a:p>
                      <a:pPr>
                        <a:lnSpc>
                          <a:spcPct val="100000"/>
                        </a:lnSpc>
                      </a:pPr>
                      <a:r>
                        <a:rPr lang="en-US" sz="1430" b="1" u="none" strike="noStrike">
                          <a:solidFill>
                            <a:srgbClr val="FFFFFF"/>
                          </a:solidFill>
                          <a:effectLst/>
                          <a:uFillTx/>
                          <a:latin typeface="Calibri"/>
                          <a:ea typeface="Calibri"/>
                        </a:rPr>
                        <a:t>Controller</a:t>
                      </a:r>
                      <a:endParaRPr lang="en-US" sz="143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430" b="1" u="none" strike="noStrike">
                          <a:solidFill>
                            <a:srgbClr val="FFFFFF"/>
                          </a:solidFill>
                          <a:effectLst/>
                          <a:uFillTx/>
                          <a:latin typeface="Calibri"/>
                          <a:ea typeface="Calibri"/>
                        </a:rPr>
                        <a:t>Delay (s/arrival)</a:t>
                      </a:r>
                      <a:endParaRPr lang="en-US" sz="143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430" b="1" u="none" strike="noStrike">
                          <a:solidFill>
                            <a:srgbClr val="FFFFFF"/>
                          </a:solidFill>
                          <a:effectLst/>
                          <a:uFillTx/>
                          <a:latin typeface="Calibri"/>
                          <a:ea typeface="Calibri"/>
                        </a:rPr>
                        <a:t>Pending (mean)</a:t>
                      </a:r>
                      <a:endParaRPr lang="en-US" sz="143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430" b="1" u="none" strike="noStrike">
                          <a:solidFill>
                            <a:srgbClr val="FFFFFF"/>
                          </a:solidFill>
                          <a:effectLst/>
                          <a:uFillTx/>
                          <a:latin typeface="Calibri"/>
                          <a:ea typeface="Calibri"/>
                        </a:rPr>
                        <a:t>Throughput (%)</a:t>
                      </a:r>
                      <a:endParaRPr lang="en-US" sz="143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extLst>
                  <a:ext uri="{0D108BD9-81ED-4DB2-BD59-A6C34878D82A}">
                    <a16:rowId xmlns:a16="http://schemas.microsoft.com/office/drawing/2014/main" val="10000"/>
                  </a:ext>
                </a:extLst>
              </a:tr>
              <a:tr h="314280">
                <a:tc>
                  <a:txBody>
                    <a:bodyPr/>
                    <a:lstStyle/>
                    <a:p>
                      <a:pPr>
                        <a:lnSpc>
                          <a:spcPct val="100000"/>
                        </a:lnSpc>
                      </a:pPr>
                      <a:r>
                        <a:rPr lang="en-US" sz="1430" b="0" u="none" strike="noStrike">
                          <a:solidFill>
                            <a:srgbClr val="192A30"/>
                          </a:solidFill>
                          <a:effectLst/>
                          <a:uFillTx/>
                          <a:latin typeface="Calibri"/>
                          <a:ea typeface="Calibri"/>
                        </a:rPr>
                        <a:t>Actuated</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430" b="0" u="none" strike="noStrike">
                          <a:solidFill>
                            <a:srgbClr val="192A30"/>
                          </a:solidFill>
                          <a:effectLst/>
                          <a:uFillTx/>
                          <a:latin typeface="Calibri"/>
                          <a:ea typeface="Calibri"/>
                        </a:rPr>
                        <a:t>10.696</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430" b="0" u="none" strike="noStrike">
                          <a:solidFill>
                            <a:srgbClr val="192A30"/>
                          </a:solidFill>
                          <a:effectLst/>
                          <a:uFillTx/>
                          <a:latin typeface="Calibri"/>
                          <a:ea typeface="Calibri"/>
                        </a:rPr>
                        <a:t>14.10</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430" b="0" u="none" strike="noStrike">
                          <a:solidFill>
                            <a:srgbClr val="192A30"/>
                          </a:solidFill>
                          <a:effectLst/>
                          <a:uFillTx/>
                          <a:latin typeface="Calibri"/>
                          <a:ea typeface="Calibri"/>
                        </a:rPr>
                        <a:t>99.11</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1"/>
                  </a:ext>
                </a:extLst>
              </a:tr>
              <a:tr h="314280">
                <a:tc>
                  <a:txBody>
                    <a:bodyPr/>
                    <a:lstStyle/>
                    <a:p>
                      <a:pPr>
                        <a:lnSpc>
                          <a:spcPct val="100000"/>
                        </a:lnSpc>
                      </a:pPr>
                      <a:r>
                        <a:rPr lang="en-US" sz="1430" b="0" u="none" strike="noStrike">
                          <a:solidFill>
                            <a:srgbClr val="192A30"/>
                          </a:solidFill>
                          <a:effectLst/>
                          <a:uFillTx/>
                          <a:latin typeface="Calibri"/>
                          <a:ea typeface="Calibri"/>
                        </a:rPr>
                        <a:t>DRHQ</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430" b="0" u="none" strike="noStrike">
                          <a:solidFill>
                            <a:srgbClr val="192A30"/>
                          </a:solidFill>
                          <a:effectLst/>
                          <a:uFillTx/>
                          <a:latin typeface="Calibri"/>
                          <a:ea typeface="Calibri"/>
                        </a:rPr>
                        <a:t>8.758</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430" b="0" u="none" strike="noStrike">
                          <a:solidFill>
                            <a:srgbClr val="192A30"/>
                          </a:solidFill>
                          <a:effectLst/>
                          <a:uFillTx/>
                          <a:latin typeface="Calibri"/>
                          <a:ea typeface="Calibri"/>
                        </a:rPr>
                        <a:t>9.07</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430" b="0" u="none" strike="noStrike">
                          <a:solidFill>
                            <a:srgbClr val="192A30"/>
                          </a:solidFill>
                          <a:effectLst/>
                          <a:uFillTx/>
                          <a:latin typeface="Calibri"/>
                          <a:ea typeface="Calibri"/>
                        </a:rPr>
                        <a:t>99.43</a:t>
                      </a:r>
                      <a:endParaRPr lang="en-US" sz="143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extLst>
                  <a:ext uri="{0D108BD9-81ED-4DB2-BD59-A6C34878D82A}">
                    <a16:rowId xmlns:a16="http://schemas.microsoft.com/office/drawing/2014/main" val="10002"/>
                  </a:ext>
                </a:extLst>
              </a:tr>
            </a:tbl>
          </a:graphicData>
        </a:graphic>
      </p:graphicFrame>
      <p:sp>
        <p:nvSpPr>
          <p:cNvPr id="334" name="Rectangle 333"/>
          <p:cNvSpPr/>
          <p:nvPr/>
        </p:nvSpPr>
        <p:spPr>
          <a:xfrm>
            <a:off x="457200" y="5896080"/>
            <a:ext cx="7505280" cy="218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pPr>
            <a:r>
              <a:rPr lang="en-US" sz="1350" b="0" u="none" strike="noStrike">
                <a:solidFill>
                  <a:srgbClr val="7F8C8D"/>
                </a:solidFill>
                <a:effectLst/>
                <a:uFillTx/>
                <a:latin typeface="Calibri"/>
                <a:ea typeface="Calibri"/>
              </a:rPr>
              <a:t>Interval: held-out demand variation, conditional on these models.</a:t>
            </a:r>
            <a:endParaRPr lang="en-US" sz="135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335" name="Rectangle 334"/>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Decision and Monotonicity Proof</a:t>
            </a:r>
            <a:endParaRPr lang="en-US" sz="2200" b="0" u="none" strike="noStrike">
              <a:solidFill>
                <a:srgbClr val="000000"/>
              </a:solidFill>
              <a:effectLst/>
              <a:uFillTx/>
              <a:latin typeface="Arial"/>
            </a:endParaRPr>
          </a:p>
        </p:txBody>
      </p:sp>
      <p:sp>
        <p:nvSpPr>
          <p:cNvPr id="336" name="Rectangle 335"/>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TWO EXECUTED DECISIONS</a:t>
            </a:r>
            <a:endParaRPr lang="en-US" sz="1300" b="0" u="none" strike="noStrike">
              <a:solidFill>
                <a:srgbClr val="000000"/>
              </a:solidFill>
              <a:effectLst/>
              <a:uFillTx/>
              <a:latin typeface="Arial"/>
            </a:endParaRPr>
          </a:p>
        </p:txBody>
      </p:sp>
      <p:sp>
        <p:nvSpPr>
          <p:cNvPr id="337" name="Rectangle 336"/>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338" name="Rectangle 337"/>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20</a:t>
            </a:r>
            <a:endParaRPr lang="en-US" sz="950" b="0" u="none" strike="noStrike">
              <a:solidFill>
                <a:srgbClr val="000000"/>
              </a:solidFill>
              <a:effectLst/>
              <a:uFillTx/>
              <a:latin typeface="Arial"/>
            </a:endParaRPr>
          </a:p>
        </p:txBody>
      </p:sp>
      <p:graphicFrame>
        <p:nvGraphicFramePr>
          <p:cNvPr id="339" name="Table 338"/>
          <p:cNvGraphicFramePr/>
          <p:nvPr/>
        </p:nvGraphicFramePr>
        <p:xfrm>
          <a:off x="457200" y="1581120"/>
          <a:ext cx="7504200" cy="3104640"/>
        </p:xfrm>
        <a:graphic>
          <a:graphicData uri="http://schemas.openxmlformats.org/drawingml/2006/table">
            <a:tbl>
              <a:tblPr/>
              <a:tblGrid>
                <a:gridCol w="1866600">
                  <a:extLst>
                    <a:ext uri="{9D8B030D-6E8A-4147-A177-3AD203B41FA5}">
                      <a16:colId xmlns:a16="http://schemas.microsoft.com/office/drawing/2014/main" val="20000"/>
                    </a:ext>
                  </a:extLst>
                </a:gridCol>
                <a:gridCol w="1409400">
                  <a:extLst>
                    <a:ext uri="{9D8B030D-6E8A-4147-A177-3AD203B41FA5}">
                      <a16:colId xmlns:a16="http://schemas.microsoft.com/office/drawing/2014/main" val="20001"/>
                    </a:ext>
                  </a:extLst>
                </a:gridCol>
                <a:gridCol w="1409400">
                  <a:extLst>
                    <a:ext uri="{9D8B030D-6E8A-4147-A177-3AD203B41FA5}">
                      <a16:colId xmlns:a16="http://schemas.microsoft.com/office/drawing/2014/main" val="20002"/>
                    </a:ext>
                  </a:extLst>
                </a:gridCol>
                <a:gridCol w="1409400">
                  <a:extLst>
                    <a:ext uri="{9D8B030D-6E8A-4147-A177-3AD203B41FA5}">
                      <a16:colId xmlns:a16="http://schemas.microsoft.com/office/drawing/2014/main" val="20003"/>
                    </a:ext>
                  </a:extLst>
                </a:gridCol>
                <a:gridCol w="1409400">
                  <a:extLst>
                    <a:ext uri="{9D8B030D-6E8A-4147-A177-3AD203B41FA5}">
                      <a16:colId xmlns:a16="http://schemas.microsoft.com/office/drawing/2014/main" val="20004"/>
                    </a:ext>
                  </a:extLst>
                </a:gridCol>
              </a:tblGrid>
              <a:tr h="388080">
                <a:tc>
                  <a:txBody>
                    <a:bodyPr/>
                    <a:lstStyle/>
                    <a:p>
                      <a:pPr>
                        <a:lnSpc>
                          <a:spcPct val="100000"/>
                        </a:lnSpc>
                      </a:pPr>
                      <a:r>
                        <a:rPr lang="en-US" sz="1350" b="1" u="none" strike="noStrike">
                          <a:solidFill>
                            <a:srgbClr val="FFFFFF"/>
                          </a:solidFill>
                          <a:effectLst/>
                          <a:uFillTx/>
                          <a:latin typeface="Calibri"/>
                          <a:ea typeface="Calibri"/>
                        </a:rPr>
                        <a:t>Contribution</a:t>
                      </a:r>
                      <a:endParaRPr lang="en-US" sz="13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350" b="1" u="none" strike="noStrike">
                          <a:solidFill>
                            <a:srgbClr val="FFFFFF"/>
                          </a:solidFill>
                          <a:effectLst/>
                          <a:uFillTx/>
                          <a:latin typeface="Calibri"/>
                          <a:ea typeface="Calibri"/>
                        </a:rPr>
                        <a:t>Balanced NS</a:t>
                      </a:r>
                      <a:endParaRPr lang="en-US" sz="13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350" b="1" u="none" strike="noStrike">
                          <a:solidFill>
                            <a:srgbClr val="FFFFFF"/>
                          </a:solidFill>
                          <a:effectLst/>
                          <a:uFillTx/>
                          <a:latin typeface="Calibri"/>
                          <a:ea typeface="Calibri"/>
                        </a:rPr>
                        <a:t>Balanced EW</a:t>
                      </a:r>
                      <a:endParaRPr lang="en-US" sz="13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350" b="1" u="none" strike="noStrike">
                          <a:solidFill>
                            <a:srgbClr val="FFFFFF"/>
                          </a:solidFill>
                          <a:effectLst/>
                          <a:uFillTx/>
                          <a:latin typeface="Calibri"/>
                          <a:ea typeface="Calibri"/>
                        </a:rPr>
                        <a:t>Tidal NS</a:t>
                      </a:r>
                      <a:endParaRPr lang="en-US" sz="13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tc>
                  <a:txBody>
                    <a:bodyPr/>
                    <a:lstStyle/>
                    <a:p>
                      <a:pPr>
                        <a:lnSpc>
                          <a:spcPct val="100000"/>
                        </a:lnSpc>
                      </a:pPr>
                      <a:r>
                        <a:rPr lang="en-US" sz="1350" b="1" u="none" strike="noStrike">
                          <a:solidFill>
                            <a:srgbClr val="FFFFFF"/>
                          </a:solidFill>
                          <a:effectLst/>
                          <a:uFillTx/>
                          <a:latin typeface="Calibri"/>
                          <a:ea typeface="Calibri"/>
                        </a:rPr>
                        <a:t>Tidal EW</a:t>
                      </a:r>
                      <a:endParaRPr lang="en-US" sz="135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07C41"/>
                    </a:solidFill>
                  </a:tcPr>
                </a:tc>
                <a:extLst>
                  <a:ext uri="{0D108BD9-81ED-4DB2-BD59-A6C34878D82A}">
                    <a16:rowId xmlns:a16="http://schemas.microsoft.com/office/drawing/2014/main" val="10000"/>
                  </a:ext>
                </a:extLst>
              </a:tr>
              <a:tr h="388080">
                <a:tc>
                  <a:txBody>
                    <a:bodyPr/>
                    <a:lstStyle/>
                    <a:p>
                      <a:pPr>
                        <a:lnSpc>
                          <a:spcPct val="100000"/>
                        </a:lnSpc>
                      </a:pPr>
                      <a:r>
                        <a:rPr lang="en-US" sz="1350" b="0" u="none" strike="noStrike">
                          <a:solidFill>
                            <a:srgbClr val="192A30"/>
                          </a:solidFill>
                          <a:effectLst/>
                          <a:uFillTx/>
                          <a:latin typeface="Calibri"/>
                          <a:ea typeface="Calibri"/>
                        </a:rPr>
                        <a:t>Queued</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3.641</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1.271</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0.595</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5.397</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1"/>
                  </a:ext>
                </a:extLst>
              </a:tr>
              <a:tr h="388080">
                <a:tc>
                  <a:txBody>
                    <a:bodyPr/>
                    <a:lstStyle/>
                    <a:p>
                      <a:pPr>
                        <a:lnSpc>
                          <a:spcPct val="100000"/>
                        </a:lnSpc>
                      </a:pPr>
                      <a:r>
                        <a:rPr lang="en-US" sz="1350" b="0" u="none" strike="noStrike">
                          <a:solidFill>
                            <a:srgbClr val="192A30"/>
                          </a:solidFill>
                          <a:effectLst/>
                          <a:uFillTx/>
                          <a:latin typeface="Calibri"/>
                          <a:ea typeface="Calibri"/>
                        </a:rPr>
                        <a:t>Approaching</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0.213</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0.645</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0.000</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0.645</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extLst>
                  <a:ext uri="{0D108BD9-81ED-4DB2-BD59-A6C34878D82A}">
                    <a16:rowId xmlns:a16="http://schemas.microsoft.com/office/drawing/2014/main" val="10002"/>
                  </a:ext>
                </a:extLst>
              </a:tr>
              <a:tr h="388080">
                <a:tc>
                  <a:txBody>
                    <a:bodyPr/>
                    <a:lstStyle/>
                    <a:p>
                      <a:pPr>
                        <a:lnSpc>
                          <a:spcPct val="100000"/>
                        </a:lnSpc>
                      </a:pPr>
                      <a:r>
                        <a:rPr lang="en-US" sz="1350" b="0" u="none" strike="noStrike">
                          <a:solidFill>
                            <a:srgbClr val="192A30"/>
                          </a:solidFill>
                          <a:effectLst/>
                          <a:uFillTx/>
                          <a:latin typeface="Calibri"/>
                          <a:ea typeface="Calibri"/>
                        </a:rPr>
                        <a:t>Total wait</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0.295</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0.039</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0.040</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0.419</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3"/>
                  </a:ext>
                </a:extLst>
              </a:tr>
              <a:tr h="388080">
                <a:tc>
                  <a:txBody>
                    <a:bodyPr/>
                    <a:lstStyle/>
                    <a:p>
                      <a:pPr>
                        <a:lnSpc>
                          <a:spcPct val="100000"/>
                        </a:lnSpc>
                      </a:pPr>
                      <a:r>
                        <a:rPr lang="en-US" sz="1350" b="0" u="none" strike="noStrike">
                          <a:solidFill>
                            <a:srgbClr val="192A30"/>
                          </a:solidFill>
                          <a:effectLst/>
                          <a:uFillTx/>
                          <a:latin typeface="Calibri"/>
                          <a:ea typeface="Calibri"/>
                        </a:rPr>
                        <a:t>Mean wait</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0.433</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0.027</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0.119</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0.187</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extLst>
                  <a:ext uri="{0D108BD9-81ED-4DB2-BD59-A6C34878D82A}">
                    <a16:rowId xmlns:a16="http://schemas.microsoft.com/office/drawing/2014/main" val="10004"/>
                  </a:ext>
                </a:extLst>
              </a:tr>
              <a:tr h="388080">
                <a:tc>
                  <a:txBody>
                    <a:bodyPr/>
                    <a:lstStyle/>
                    <a:p>
                      <a:pPr>
                        <a:lnSpc>
                          <a:spcPct val="100000"/>
                        </a:lnSpc>
                      </a:pPr>
                      <a:r>
                        <a:rPr lang="en-US" sz="1350" b="0" u="none" strike="noStrike">
                          <a:solidFill>
                            <a:srgbClr val="192A30"/>
                          </a:solidFill>
                          <a:effectLst/>
                          <a:uFillTx/>
                          <a:latin typeface="Calibri"/>
                          <a:ea typeface="Calibri"/>
                        </a:rPr>
                        <a:t>Queue/lane</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3.641</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1.271</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0.595</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5.397</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5"/>
                  </a:ext>
                </a:extLst>
              </a:tr>
              <a:tr h="388080">
                <a:tc>
                  <a:txBody>
                    <a:bodyPr/>
                    <a:lstStyle/>
                    <a:p>
                      <a:pPr>
                        <a:lnSpc>
                          <a:spcPct val="100000"/>
                        </a:lnSpc>
                      </a:pPr>
                      <a:r>
                        <a:rPr lang="en-US" sz="1350" b="0" u="none" strike="noStrike">
                          <a:solidFill>
                            <a:srgbClr val="192A30"/>
                          </a:solidFill>
                          <a:effectLst/>
                          <a:uFillTx/>
                          <a:latin typeface="Calibri"/>
                          <a:ea typeface="Calibri"/>
                        </a:rPr>
                        <a:t>Speed</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0.813</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0.526</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0.000</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tc>
                  <a:txBody>
                    <a:bodyPr/>
                    <a:lstStyle/>
                    <a:p>
                      <a:pPr>
                        <a:lnSpc>
                          <a:spcPct val="100000"/>
                        </a:lnSpc>
                      </a:pPr>
                      <a:r>
                        <a:rPr lang="en-US" sz="1350" b="0" u="none" strike="noStrike">
                          <a:solidFill>
                            <a:srgbClr val="192A30"/>
                          </a:solidFill>
                          <a:effectLst/>
                          <a:uFillTx/>
                          <a:latin typeface="Calibri"/>
                          <a:ea typeface="Calibri"/>
                        </a:rPr>
                        <a:t>0.526</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E9EFEC"/>
                    </a:solidFill>
                  </a:tcPr>
                </a:tc>
                <a:extLst>
                  <a:ext uri="{0D108BD9-81ED-4DB2-BD59-A6C34878D82A}">
                    <a16:rowId xmlns:a16="http://schemas.microsoft.com/office/drawing/2014/main" val="10006"/>
                  </a:ext>
                </a:extLst>
              </a:tr>
              <a:tr h="388080">
                <a:tc>
                  <a:txBody>
                    <a:bodyPr/>
                    <a:lstStyle/>
                    <a:p>
                      <a:pPr>
                        <a:lnSpc>
                          <a:spcPct val="100000"/>
                        </a:lnSpc>
                      </a:pPr>
                      <a:r>
                        <a:rPr lang="en-US" sz="1350" b="0" u="none" strike="noStrike">
                          <a:solidFill>
                            <a:srgbClr val="192A30"/>
                          </a:solidFill>
                          <a:effectLst/>
                          <a:uFillTx/>
                          <a:latin typeface="Calibri"/>
                          <a:ea typeface="Calibri"/>
                        </a:rPr>
                        <a:t>Score</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9.035</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3.780</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1.350</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lstStyle/>
                    <a:p>
                      <a:pPr>
                        <a:lnSpc>
                          <a:spcPct val="100000"/>
                        </a:lnSpc>
                      </a:pPr>
                      <a:r>
                        <a:rPr lang="en-US" sz="1350" b="0" u="none" strike="noStrike">
                          <a:solidFill>
                            <a:srgbClr val="192A30"/>
                          </a:solidFill>
                          <a:effectLst/>
                          <a:uFillTx/>
                          <a:latin typeface="Calibri"/>
                          <a:ea typeface="Calibri"/>
                        </a:rPr>
                        <a:t>12.573</a:t>
                      </a:r>
                      <a:endParaRPr lang="en-US" sz="135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340" name="Rectangle 339"/>
          <p:cNvSpPr/>
          <p:nvPr/>
        </p:nvSpPr>
        <p:spPr>
          <a:xfrm>
            <a:off x="457200" y="4848120"/>
            <a:ext cx="7505280" cy="590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800" b="1" u="none" strike="noStrike">
                <a:solidFill>
                  <a:srgbClr val="107C41"/>
                </a:solidFill>
                <a:effectLst/>
                <a:uFillTx/>
                <a:latin typeface="Calibri"/>
                <a:ea typeface="Calibri"/>
              </a:rPr>
              <a:t>NS: 3.6409 + 0.2128 + 0.2947 + 0.4326</a:t>
            </a:r>
            <a:endParaRPr lang="en-US" sz="1800" b="0" u="none" strike="noStrike">
              <a:solidFill>
                <a:srgbClr val="000000"/>
              </a:solidFill>
              <a:effectLst/>
              <a:uFillTx/>
              <a:latin typeface="Arial"/>
            </a:endParaRPr>
          </a:p>
          <a:p>
            <a:pPr defTabSz="914400">
              <a:lnSpc>
                <a:spcPct val="100000"/>
              </a:lnSpc>
            </a:pPr>
            <a:r>
              <a:rPr lang="en-US" sz="1800" b="1" u="none" strike="noStrike">
                <a:solidFill>
                  <a:srgbClr val="107C41"/>
                </a:solidFill>
                <a:effectLst/>
                <a:uFillTx/>
                <a:latin typeface="Calibri"/>
                <a:ea typeface="Calibri"/>
              </a:rPr>
              <a:t>       + 3.6409 + 0.8129 ≈ 9.035 &gt; EW 3.780</a:t>
            </a:r>
            <a:endParaRPr lang="en-US" sz="1800" b="0" u="none" strike="noStrike">
              <a:solidFill>
                <a:srgbClr val="000000"/>
              </a:solidFill>
              <a:effectLst/>
              <a:uFillTx/>
              <a:latin typeface="Arial"/>
            </a:endParaRPr>
          </a:p>
        </p:txBody>
      </p:sp>
      <p:sp>
        <p:nvSpPr>
          <p:cNvPr id="341" name="Rectangle 340"/>
          <p:cNvSpPr/>
          <p:nvPr/>
        </p:nvSpPr>
        <p:spPr>
          <a:xfrm>
            <a:off x="457200" y="5562720"/>
            <a:ext cx="7505280" cy="52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192A30"/>
                </a:solidFill>
                <a:effectLst/>
                <a:uFillTx/>
                <a:latin typeface="Calibri"/>
                <a:ea typeface="Calibri"/>
              </a:rPr>
              <a:t>Balanced t = 300 s: NS wins. Tidal t = 900 s: EW wins.</a:t>
            </a: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192A30"/>
                </a:solidFill>
                <a:effectLst/>
                <a:uFillTx/>
                <a:latin typeface="Calibri"/>
                <a:ea typeface="Calibri"/>
              </a:rPr>
              <a:t>7,200 derivative checks pass at fixed checkpoint/clearance.</a:t>
            </a:r>
            <a:endParaRPr lang="en-US" sz="1500" b="0" u="none" strike="noStrike">
              <a:solidFill>
                <a:srgbClr val="000000"/>
              </a:solidFill>
              <a:effectLst/>
              <a:uFillTx/>
              <a:latin typeface="Arial"/>
            </a:endParaRPr>
          </a:p>
        </p:txBody>
      </p:sp>
      <p:sp>
        <p:nvSpPr>
          <p:cNvPr id="342" name="Rectangle: Rounded Corners 341"/>
          <p:cNvSpPr/>
          <p:nvPr/>
        </p:nvSpPr>
        <p:spPr>
          <a:xfrm>
            <a:off x="8305920" y="1581120"/>
            <a:ext cx="3428280" cy="4304520"/>
          </a:xfrm>
          <a:prstGeom prst="roundRect">
            <a:avLst>
              <a:gd name="adj" fmla="val 2222"/>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3" name="Rectangle 342"/>
          <p:cNvSpPr/>
          <p:nvPr/>
        </p:nvSpPr>
        <p:spPr>
          <a:xfrm>
            <a:off x="8477280" y="1771560"/>
            <a:ext cx="3085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1" u="none" strike="noStrike">
                <a:solidFill>
                  <a:srgbClr val="107C41"/>
                </a:solidFill>
                <a:effectLst/>
                <a:uFillTx/>
                <a:latin typeface="Calibri"/>
                <a:ea typeface="Calibri"/>
              </a:rPr>
              <a:t>YOUR COLAB SCREENSHOT</a:t>
            </a:r>
            <a:endParaRPr lang="en-US" sz="1580" b="0" u="none" strike="noStrike">
              <a:solidFill>
                <a:srgbClr val="000000"/>
              </a:solidFill>
              <a:effectLst/>
              <a:uFillTx/>
              <a:latin typeface="Arial"/>
            </a:endParaRPr>
          </a:p>
        </p:txBody>
      </p:sp>
      <p:sp>
        <p:nvSpPr>
          <p:cNvPr id="344" name="Rectangle 343"/>
          <p:cNvSpPr/>
          <p:nvPr/>
        </p:nvSpPr>
        <p:spPr>
          <a:xfrm>
            <a:off x="8477280" y="2295360"/>
            <a:ext cx="3085560" cy="335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7F8C8D"/>
                </a:solidFill>
                <a:effectLst/>
                <a:uFillTx/>
                <a:latin typeface="Calibri"/>
                <a:ea typeface="Calibri"/>
              </a:rPr>
              <a:t>Attach the actual contribution table and derivative checks.</a:t>
            </a:r>
            <a:endParaRPr lang="en-US" sz="1500" b="0" u="none" strike="noStrike">
              <a:solidFill>
                <a:srgbClr val="000000"/>
              </a:solidFill>
              <a:effectLst/>
              <a:uFillTx/>
              <a:latin typeface="Arial"/>
            </a:endParaRPr>
          </a:p>
          <a:p>
            <a:pPr defTabSz="914400">
              <a:lnSpc>
                <a:spcPct val="100000"/>
              </a:lnSpc>
            </a:pP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7F8C8D"/>
                </a:solidFill>
                <a:effectLst/>
                <a:uFillTx/>
                <a:latin typeface="Calibri"/>
                <a:ea typeface="Calibri"/>
              </a:rPr>
              <a:t>Run the Section 11 cell on camera. Point to the score sum and chosen action.</a:t>
            </a:r>
            <a:endParaRPr lang="en-US" sz="1500" b="0" u="none" strike="noStrike">
              <a:solidFill>
                <a:srgbClr val="000000"/>
              </a:solidFill>
              <a:effectLst/>
              <a:uFillTx/>
              <a:latin typeface="Arial"/>
            </a:endParaRPr>
          </a:p>
          <a:p>
            <a:pPr defTabSz="914400">
              <a:lnSpc>
                <a:spcPct val="100000"/>
              </a:lnSpc>
            </a:pP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7F8C8D"/>
                </a:solidFill>
                <a:effectLst/>
                <a:uFillTx/>
                <a:latin typeface="Calibri"/>
                <a:ea typeface="Calibri"/>
              </a:rPr>
              <a:t>At t = 900 s: EW 12.573 &gt; NS 1.350.</a:t>
            </a:r>
            <a:endParaRPr lang="en-US" sz="1500" b="0" u="none" strike="noStrike">
              <a:solidFill>
                <a:srgbClr val="000000"/>
              </a:solidFill>
              <a:effectLst/>
              <a:uFillTx/>
              <a:latin typeface="Arial"/>
            </a:endParaRPr>
          </a:p>
        </p:txBody>
      </p:sp>
      <p:sp>
        <p:nvSpPr>
          <p:cNvPr id="345" name="Rectangle 344"/>
          <p:cNvSpPr/>
          <p:nvPr/>
        </p:nvSpPr>
        <p:spPr>
          <a:xfrm>
            <a:off x="457200" y="6134040"/>
            <a:ext cx="1127700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200" b="0" u="none" strike="noStrike">
                <a:solidFill>
                  <a:srgbClr val="7F8C8D"/>
                </a:solidFill>
                <a:effectLst/>
                <a:uFillTx/>
                <a:latin typeface="Calibri"/>
                <a:ea typeface="Calibri"/>
              </a:rPr>
              <a:t>Sources: examples.json, monotonicity.json; networks.py computes c × w × x^p. Rounded terms; full precision verified.</a:t>
            </a:r>
            <a:endParaRPr lang="en-US" sz="12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346" name="Rectangle 345"/>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Individual Proof of Work</a:t>
            </a:r>
            <a:endParaRPr lang="en-US" sz="2200" b="0" u="none" strike="noStrike">
              <a:solidFill>
                <a:srgbClr val="000000"/>
              </a:solidFill>
              <a:effectLst/>
              <a:uFillTx/>
              <a:latin typeface="Arial"/>
            </a:endParaRPr>
          </a:p>
        </p:txBody>
      </p:sp>
      <p:sp>
        <p:nvSpPr>
          <p:cNvPr id="347" name="Rectangle 346"/>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EACH CONTRIBUTOR SHOWS THEIR OWN WORK</a:t>
            </a:r>
            <a:endParaRPr lang="en-US" sz="1300" b="0" u="none" strike="noStrike">
              <a:solidFill>
                <a:srgbClr val="000000"/>
              </a:solidFill>
              <a:effectLst/>
              <a:uFillTx/>
              <a:latin typeface="Arial"/>
            </a:endParaRPr>
          </a:p>
        </p:txBody>
      </p:sp>
      <p:sp>
        <p:nvSpPr>
          <p:cNvPr id="348" name="Rectangle 347"/>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349" name="Rectangle 348"/>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21</a:t>
            </a:r>
            <a:endParaRPr lang="en-US" sz="950" b="0" u="none" strike="noStrike">
              <a:solidFill>
                <a:srgbClr val="000000"/>
              </a:solidFill>
              <a:effectLst/>
              <a:uFillTx/>
              <a:latin typeface="Arial"/>
            </a:endParaRPr>
          </a:p>
        </p:txBody>
      </p:sp>
      <p:sp>
        <p:nvSpPr>
          <p:cNvPr id="350" name="Rectangle 349"/>
          <p:cNvSpPr/>
          <p:nvPr/>
        </p:nvSpPr>
        <p:spPr>
          <a:xfrm>
            <a:off x="457200" y="1447920"/>
            <a:ext cx="5238000" cy="33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950" b="1" u="none" strike="noStrike">
                <a:solidFill>
                  <a:srgbClr val="107C41"/>
                </a:solidFill>
                <a:effectLst/>
                <a:uFillTx/>
                <a:latin typeface="Calibri"/>
                <a:ea typeface="Calibri"/>
              </a:rPr>
              <a:t>Budhdi Prakash Sharma</a:t>
            </a:r>
            <a:endParaRPr lang="en-US" sz="1950" b="0" u="none" strike="noStrike">
              <a:solidFill>
                <a:srgbClr val="000000"/>
              </a:solidFill>
              <a:effectLst/>
              <a:uFillTx/>
              <a:latin typeface="Arial"/>
            </a:endParaRPr>
          </a:p>
        </p:txBody>
      </p:sp>
      <p:sp>
        <p:nvSpPr>
          <p:cNvPr id="351" name="Rectangle 350"/>
          <p:cNvSpPr/>
          <p:nvPr/>
        </p:nvSpPr>
        <p:spPr>
          <a:xfrm>
            <a:off x="457200" y="1819440"/>
            <a:ext cx="5238000" cy="285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7F8C8D"/>
                </a:solidFill>
                <a:effectLst/>
                <a:uFillTx/>
                <a:latin typeface="Calibri"/>
                <a:ea typeface="Calibri"/>
              </a:rPr>
              <a:t>2025AG05273</a:t>
            </a:r>
            <a:endParaRPr lang="en-US" sz="1500" b="0" u="none" strike="noStrike">
              <a:solidFill>
                <a:srgbClr val="000000"/>
              </a:solidFill>
              <a:effectLst/>
              <a:uFillTx/>
              <a:latin typeface="Arial"/>
            </a:endParaRPr>
          </a:p>
        </p:txBody>
      </p:sp>
      <p:sp>
        <p:nvSpPr>
          <p:cNvPr id="352" name="Rectangle 351"/>
          <p:cNvSpPr/>
          <p:nvPr/>
        </p:nvSpPr>
        <p:spPr>
          <a:xfrm>
            <a:off x="6372360" y="1447920"/>
            <a:ext cx="5238000" cy="33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950" b="1" u="none" strike="noStrike">
                <a:solidFill>
                  <a:srgbClr val="107C41"/>
                </a:solidFill>
                <a:effectLst/>
                <a:uFillTx/>
                <a:latin typeface="Calibri"/>
                <a:ea typeface="Calibri"/>
              </a:rPr>
              <a:t>Sumeet Kulkarni</a:t>
            </a:r>
            <a:endParaRPr lang="en-US" sz="1950" b="0" u="none" strike="noStrike">
              <a:solidFill>
                <a:srgbClr val="000000"/>
              </a:solidFill>
              <a:effectLst/>
              <a:uFillTx/>
              <a:latin typeface="Arial"/>
            </a:endParaRPr>
          </a:p>
        </p:txBody>
      </p:sp>
      <p:sp>
        <p:nvSpPr>
          <p:cNvPr id="353" name="Rectangle 352"/>
          <p:cNvSpPr/>
          <p:nvPr/>
        </p:nvSpPr>
        <p:spPr>
          <a:xfrm>
            <a:off x="6372360" y="1819440"/>
            <a:ext cx="5238000" cy="285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7F8C8D"/>
                </a:solidFill>
                <a:effectLst/>
                <a:uFillTx/>
                <a:latin typeface="Calibri"/>
                <a:ea typeface="Calibri"/>
              </a:rPr>
              <a:t>2025AG05175</a:t>
            </a:r>
            <a:endParaRPr lang="en-US" sz="1500" b="0" u="none" strike="noStrike">
              <a:solidFill>
                <a:srgbClr val="000000"/>
              </a:solidFill>
              <a:effectLst/>
              <a:uFillTx/>
              <a:latin typeface="Arial"/>
            </a:endParaRPr>
          </a:p>
        </p:txBody>
      </p:sp>
      <p:sp>
        <p:nvSpPr>
          <p:cNvPr id="354" name="Rectangle: Rounded Corners 353"/>
          <p:cNvSpPr/>
          <p:nvPr/>
        </p:nvSpPr>
        <p:spPr>
          <a:xfrm>
            <a:off x="457200" y="2314440"/>
            <a:ext cx="5361840" cy="2351880"/>
          </a:xfrm>
          <a:prstGeom prst="roundRect">
            <a:avLst>
              <a:gd name="adj" fmla="val 3239"/>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5" name="Rectangle 354"/>
          <p:cNvSpPr/>
          <p:nvPr/>
        </p:nvSpPr>
        <p:spPr>
          <a:xfrm>
            <a:off x="628560" y="2505240"/>
            <a:ext cx="50191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1" u="none" strike="noStrike">
                <a:solidFill>
                  <a:srgbClr val="107C41"/>
                </a:solidFill>
                <a:effectLst/>
                <a:uFillTx/>
                <a:latin typeface="Calibri"/>
                <a:ea typeface="Calibri"/>
              </a:rPr>
              <a:t>YOUR COLAB SCREENSHOT</a:t>
            </a:r>
            <a:endParaRPr lang="en-US" sz="1580" b="0" u="none" strike="noStrike">
              <a:solidFill>
                <a:srgbClr val="000000"/>
              </a:solidFill>
              <a:effectLst/>
              <a:uFillTx/>
              <a:latin typeface="Arial"/>
            </a:endParaRPr>
          </a:p>
        </p:txBody>
      </p:sp>
      <p:sp>
        <p:nvSpPr>
          <p:cNvPr id="356" name="Rectangle 355"/>
          <p:cNvSpPr/>
          <p:nvPr/>
        </p:nvSpPr>
        <p:spPr>
          <a:xfrm>
            <a:off x="628560" y="3029040"/>
            <a:ext cx="5019120" cy="139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7F8C8D"/>
                </a:solidFill>
                <a:effectLst/>
                <a:uFillTx/>
                <a:latin typeface="Calibri"/>
                <a:ea typeface="Calibri"/>
              </a:rPr>
              <a:t>Your own completed run or verified check.</a:t>
            </a: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7F8C8D"/>
                </a:solidFill>
                <a:effectLst/>
                <a:uFillTx/>
                <a:latin typeface="Calibri"/>
                <a:ea typeface="Calibri"/>
              </a:rPr>
              <a:t>Show notebook/output and task identity.</a:t>
            </a:r>
            <a:endParaRPr lang="en-US" sz="1500" b="0" u="none" strike="noStrike">
              <a:solidFill>
                <a:srgbClr val="000000"/>
              </a:solidFill>
              <a:effectLst/>
              <a:uFillTx/>
              <a:latin typeface="Arial"/>
            </a:endParaRPr>
          </a:p>
        </p:txBody>
      </p:sp>
      <p:sp>
        <p:nvSpPr>
          <p:cNvPr id="357" name="Rectangle: Rounded Corners 356"/>
          <p:cNvSpPr/>
          <p:nvPr/>
        </p:nvSpPr>
        <p:spPr>
          <a:xfrm>
            <a:off x="6372360" y="2314440"/>
            <a:ext cx="5361840" cy="2351880"/>
          </a:xfrm>
          <a:prstGeom prst="roundRect">
            <a:avLst>
              <a:gd name="adj" fmla="val 3239"/>
            </a:avLst>
          </a:prstGeom>
          <a:solidFill>
            <a:srgbClr val="FFFFFF"/>
          </a:solidFill>
          <a:ln w="9525">
            <a:solidFill>
              <a:srgbClr val="C3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8" name="Rectangle 357"/>
          <p:cNvSpPr/>
          <p:nvPr/>
        </p:nvSpPr>
        <p:spPr>
          <a:xfrm>
            <a:off x="6543720" y="2505240"/>
            <a:ext cx="50191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1" u="none" strike="noStrike">
                <a:solidFill>
                  <a:srgbClr val="107C41"/>
                </a:solidFill>
                <a:effectLst/>
                <a:uFillTx/>
                <a:latin typeface="Calibri"/>
                <a:ea typeface="Calibri"/>
              </a:rPr>
              <a:t>YOUR COLAB SCREENSHOT</a:t>
            </a:r>
            <a:endParaRPr lang="en-US" sz="1580" b="0" u="none" strike="noStrike">
              <a:solidFill>
                <a:srgbClr val="000000"/>
              </a:solidFill>
              <a:effectLst/>
              <a:uFillTx/>
              <a:latin typeface="Arial"/>
            </a:endParaRPr>
          </a:p>
        </p:txBody>
      </p:sp>
      <p:sp>
        <p:nvSpPr>
          <p:cNvPr id="359" name="Rectangle 358"/>
          <p:cNvSpPr/>
          <p:nvPr/>
        </p:nvSpPr>
        <p:spPr>
          <a:xfrm>
            <a:off x="6543720" y="3029040"/>
            <a:ext cx="5019120" cy="139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00" b="0" u="none" strike="noStrike">
                <a:solidFill>
                  <a:srgbClr val="7F8C8D"/>
                </a:solidFill>
                <a:effectLst/>
                <a:uFillTx/>
                <a:latin typeface="Calibri"/>
                <a:ea typeface="Calibri"/>
              </a:rPr>
              <a:t>Your own completed run or verified check.</a:t>
            </a: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7F8C8D"/>
                </a:solidFill>
                <a:effectLst/>
                <a:uFillTx/>
                <a:latin typeface="Calibri"/>
                <a:ea typeface="Calibri"/>
              </a:rPr>
              <a:t>Show notebook/output and task identity.</a:t>
            </a:r>
            <a:endParaRPr lang="en-US" sz="1500" b="0" u="none" strike="noStrike">
              <a:solidFill>
                <a:srgbClr val="000000"/>
              </a:solidFill>
              <a:effectLst/>
              <a:uFillTx/>
              <a:latin typeface="Arial"/>
            </a:endParaRPr>
          </a:p>
        </p:txBody>
      </p:sp>
      <p:sp>
        <p:nvSpPr>
          <p:cNvPr id="360" name="Rectangle 359"/>
          <p:cNvSpPr/>
          <p:nvPr/>
        </p:nvSpPr>
        <p:spPr>
          <a:xfrm>
            <a:off x="457200" y="5010120"/>
            <a:ext cx="5361840" cy="101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0" u="none" strike="noStrike">
                <a:solidFill>
                  <a:srgbClr val="192A30"/>
                </a:solidFill>
                <a:effectLst/>
                <a:uFillTx/>
                <a:latin typeface="Calibri"/>
                <a:ea typeface="Calibri"/>
              </a:rPr>
              <a:t>Actual task: [FILL AFTER DOING THE WORK]</a:t>
            </a:r>
            <a:endParaRPr lang="en-US" sz="1580" b="0" u="none" strike="noStrike">
              <a:solidFill>
                <a:srgbClr val="000000"/>
              </a:solidFill>
              <a:effectLst/>
              <a:uFillTx/>
              <a:latin typeface="Arial"/>
            </a:endParaRPr>
          </a:p>
          <a:p>
            <a:pPr defTabSz="914400">
              <a:lnSpc>
                <a:spcPct val="100000"/>
              </a:lnSpc>
            </a:pPr>
            <a:r>
              <a:rPr lang="en-US" sz="1580" b="0" u="none" strike="noStrike">
                <a:solidFill>
                  <a:srgbClr val="192A30"/>
                </a:solidFill>
                <a:effectLst/>
                <a:uFillTx/>
                <a:latin typeface="Calibri"/>
                <a:ea typeface="Calibri"/>
              </a:rPr>
              <a:t>File/cell: [ADD YOUR EVIDENCE]</a:t>
            </a:r>
            <a:endParaRPr lang="en-US" sz="1580" b="0" u="none" strike="noStrike">
              <a:solidFill>
                <a:srgbClr val="000000"/>
              </a:solidFill>
              <a:effectLst/>
              <a:uFillTx/>
              <a:latin typeface="Arial"/>
            </a:endParaRPr>
          </a:p>
          <a:p>
            <a:pPr defTabSz="914400">
              <a:lnSpc>
                <a:spcPct val="100000"/>
              </a:lnSpc>
            </a:pPr>
            <a:r>
              <a:rPr lang="en-US" sz="1580" b="0" u="none" strike="noStrike">
                <a:solidFill>
                  <a:srgbClr val="192A30"/>
                </a:solidFill>
                <a:effectLst/>
                <a:uFillTx/>
                <a:latin typeface="Calibri"/>
                <a:ea typeface="Calibri"/>
              </a:rPr>
              <a:t>Finding: [STATE WHAT YOU VERIFIED]</a:t>
            </a:r>
            <a:endParaRPr lang="en-US" sz="1580" b="0" u="none" strike="noStrike">
              <a:solidFill>
                <a:srgbClr val="000000"/>
              </a:solidFill>
              <a:effectLst/>
              <a:uFillTx/>
              <a:latin typeface="Arial"/>
            </a:endParaRPr>
          </a:p>
        </p:txBody>
      </p:sp>
      <p:sp>
        <p:nvSpPr>
          <p:cNvPr id="361" name="Rectangle 360"/>
          <p:cNvSpPr/>
          <p:nvPr/>
        </p:nvSpPr>
        <p:spPr>
          <a:xfrm>
            <a:off x="6372360" y="5010120"/>
            <a:ext cx="5361840" cy="101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0" u="none" strike="noStrike">
                <a:solidFill>
                  <a:srgbClr val="192A30"/>
                </a:solidFill>
                <a:effectLst/>
                <a:uFillTx/>
                <a:latin typeface="Calibri"/>
                <a:ea typeface="Calibri"/>
              </a:rPr>
              <a:t>Actual task: [FILL AFTER DOING THE WORK]</a:t>
            </a:r>
            <a:endParaRPr lang="en-US" sz="1580" b="0" u="none" strike="noStrike">
              <a:solidFill>
                <a:srgbClr val="000000"/>
              </a:solidFill>
              <a:effectLst/>
              <a:uFillTx/>
              <a:latin typeface="Arial"/>
            </a:endParaRPr>
          </a:p>
          <a:p>
            <a:pPr defTabSz="914400">
              <a:lnSpc>
                <a:spcPct val="100000"/>
              </a:lnSpc>
            </a:pPr>
            <a:r>
              <a:rPr lang="en-US" sz="1580" b="0" u="none" strike="noStrike">
                <a:solidFill>
                  <a:srgbClr val="192A30"/>
                </a:solidFill>
                <a:effectLst/>
                <a:uFillTx/>
                <a:latin typeface="Calibri"/>
                <a:ea typeface="Calibri"/>
              </a:rPr>
              <a:t>File/cell: [ADD YOUR EVIDENCE]</a:t>
            </a:r>
            <a:endParaRPr lang="en-US" sz="1580" b="0" u="none" strike="noStrike">
              <a:solidFill>
                <a:srgbClr val="000000"/>
              </a:solidFill>
              <a:effectLst/>
              <a:uFillTx/>
              <a:latin typeface="Arial"/>
            </a:endParaRPr>
          </a:p>
          <a:p>
            <a:pPr defTabSz="914400">
              <a:lnSpc>
                <a:spcPct val="100000"/>
              </a:lnSpc>
            </a:pPr>
            <a:r>
              <a:rPr lang="en-US" sz="1580" b="0" u="none" strike="noStrike">
                <a:solidFill>
                  <a:srgbClr val="192A30"/>
                </a:solidFill>
                <a:effectLst/>
                <a:uFillTx/>
                <a:latin typeface="Calibri"/>
                <a:ea typeface="Calibri"/>
              </a:rPr>
              <a:t>Finding: [STATE WHAT YOU VERIFIED]</a:t>
            </a:r>
            <a:endParaRPr lang="en-US" sz="1580" b="0" u="none" strike="noStrike">
              <a:solidFill>
                <a:srgbClr val="000000"/>
              </a:solidFill>
              <a:effectLst/>
              <a:uFillTx/>
              <a:latin typeface="Arial"/>
            </a:endParaRPr>
          </a:p>
        </p:txBody>
      </p:sp>
      <p:sp>
        <p:nvSpPr>
          <p:cNvPr id="362" name="Rectangle 361"/>
          <p:cNvSpPr/>
          <p:nvPr/>
        </p:nvSpPr>
        <p:spPr>
          <a:xfrm>
            <a:off x="457200" y="6134040"/>
            <a:ext cx="11277000" cy="27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200" b="0" u="none" strike="noStrike">
                <a:solidFill>
                  <a:srgbClr val="7F8C8D"/>
                </a:solidFill>
                <a:effectLst/>
                <a:uFillTx/>
                <a:latin typeface="Calibri"/>
                <a:ea typeface="Calibri"/>
              </a:rPr>
              <a:t>Each contributor speaks and explains their actual part. Complete the contribution log and the notebook run record.</a:t>
            </a:r>
            <a:endParaRPr lang="en-US" sz="12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6F6"/>
        </a:solidFill>
        <a:effectLst/>
      </p:bgPr>
    </p:bg>
    <p:spTree>
      <p:nvGrpSpPr>
        <p:cNvPr id="1" name=""/>
        <p:cNvGrpSpPr/>
        <p:nvPr/>
      </p:nvGrpSpPr>
      <p:grpSpPr>
        <a:xfrm>
          <a:off x="0" y="0"/>
          <a:ext cx="0" cy="0"/>
          <a:chOff x="0" y="0"/>
          <a:chExt cx="0" cy="0"/>
        </a:xfrm>
      </p:grpSpPr>
      <p:sp>
        <p:nvSpPr>
          <p:cNvPr id="363" name="Rectangle 362"/>
          <p:cNvSpPr/>
          <p:nvPr/>
        </p:nvSpPr>
        <p:spPr>
          <a:xfrm>
            <a:off x="457200" y="295200"/>
            <a:ext cx="112770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0" u="none" strike="noStrike">
                <a:solidFill>
                  <a:srgbClr val="192A30"/>
                </a:solidFill>
                <a:effectLst/>
                <a:uFillTx/>
                <a:latin typeface="Calibri"/>
                <a:ea typeface="Calibri"/>
              </a:rPr>
              <a:t>Conclusion and References</a:t>
            </a:r>
            <a:endParaRPr lang="en-US" sz="2200" b="0" u="none" strike="noStrike">
              <a:solidFill>
                <a:srgbClr val="000000"/>
              </a:solidFill>
              <a:effectLst/>
              <a:uFillTx/>
              <a:latin typeface="Arial"/>
            </a:endParaRPr>
          </a:p>
        </p:txBody>
      </p:sp>
      <p:sp>
        <p:nvSpPr>
          <p:cNvPr id="364" name="Rectangle 363"/>
          <p:cNvSpPr/>
          <p:nvPr/>
        </p:nvSpPr>
        <p:spPr>
          <a:xfrm>
            <a:off x="457200" y="790560"/>
            <a:ext cx="11277000" cy="30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300" b="0" u="none" strike="noStrike">
                <a:solidFill>
                  <a:srgbClr val="192A30"/>
                </a:solidFill>
                <a:effectLst/>
                <a:uFillTx/>
                <a:latin typeface="Calibri"/>
                <a:ea typeface="Calibri"/>
              </a:rPr>
              <a:t>PAPER REVIEW AND EXECUTED EVIDENCE</a:t>
            </a:r>
            <a:endParaRPr lang="en-US" sz="1300" b="0" u="none" strike="noStrike">
              <a:solidFill>
                <a:srgbClr val="000000"/>
              </a:solidFill>
              <a:effectLst/>
              <a:uFillTx/>
              <a:latin typeface="Arial"/>
            </a:endParaRPr>
          </a:p>
        </p:txBody>
      </p:sp>
      <p:sp>
        <p:nvSpPr>
          <p:cNvPr id="365" name="Rectangle 364"/>
          <p:cNvSpPr/>
          <p:nvPr/>
        </p:nvSpPr>
        <p:spPr>
          <a:xfrm>
            <a:off x="457200" y="6467400"/>
            <a:ext cx="10000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BITS Pilani | Deep Reinforcement Learning (WILP) | Assignment - I</a:t>
            </a:r>
            <a:endParaRPr lang="en-US" sz="950" b="0" u="none" strike="noStrike">
              <a:solidFill>
                <a:srgbClr val="000000"/>
              </a:solidFill>
              <a:effectLst/>
              <a:uFillTx/>
              <a:latin typeface="Arial"/>
            </a:endParaRPr>
          </a:p>
        </p:txBody>
      </p:sp>
      <p:sp>
        <p:nvSpPr>
          <p:cNvPr id="366" name="Rectangle 365"/>
          <p:cNvSpPr/>
          <p:nvPr/>
        </p:nvSpPr>
        <p:spPr>
          <a:xfrm>
            <a:off x="11239560" y="6467400"/>
            <a:ext cx="4946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950" b="0" u="none" strike="noStrike">
                <a:solidFill>
                  <a:srgbClr val="7F8C8D"/>
                </a:solidFill>
                <a:effectLst/>
                <a:uFillTx/>
                <a:latin typeface="Calibri"/>
                <a:ea typeface="Calibri"/>
              </a:rPr>
              <a:t>22</a:t>
            </a:r>
            <a:endParaRPr lang="en-US" sz="950" b="0" u="none" strike="noStrike">
              <a:solidFill>
                <a:srgbClr val="000000"/>
              </a:solidFill>
              <a:effectLst/>
              <a:uFillTx/>
              <a:latin typeface="Arial"/>
            </a:endParaRPr>
          </a:p>
        </p:txBody>
      </p:sp>
      <p:sp>
        <p:nvSpPr>
          <p:cNvPr id="367" name="Rectangle 366"/>
          <p:cNvSpPr/>
          <p:nvPr/>
        </p:nvSpPr>
        <p:spPr>
          <a:xfrm>
            <a:off x="457200" y="1467000"/>
            <a:ext cx="11277000" cy="88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850" b="1" u="none" strike="noStrike">
                <a:solidFill>
                  <a:srgbClr val="107C41"/>
                </a:solidFill>
                <a:effectLst/>
                <a:uFillTx/>
                <a:latin typeface="Calibri"/>
                <a:ea typeface="Calibri"/>
              </a:rPr>
              <a:t>A DQN teacher can guide an inspectable traffic actuator</a:t>
            </a:r>
            <a:endParaRPr lang="en-US" sz="2850" b="0" u="none" strike="noStrike">
              <a:solidFill>
                <a:srgbClr val="000000"/>
              </a:solidFill>
              <a:effectLst/>
              <a:uFillTx/>
              <a:latin typeface="Arial"/>
            </a:endParaRPr>
          </a:p>
        </p:txBody>
      </p:sp>
      <p:sp>
        <p:nvSpPr>
          <p:cNvPr id="368" name="Rectangle 367"/>
          <p:cNvSpPr/>
          <p:nvPr/>
        </p:nvSpPr>
        <p:spPr>
          <a:xfrm>
            <a:off x="457200" y="2676600"/>
            <a:ext cx="11277000" cy="74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020" b="0" u="none" strike="noStrike">
                <a:solidFill>
                  <a:srgbClr val="192A30"/>
                </a:solidFill>
                <a:effectLst/>
                <a:uFillTx/>
                <a:latin typeface="Calibri"/>
                <a:ea typeface="Calibri"/>
              </a:rPr>
              <a:t>The worked scores explain action selection. The saved CSVs,</a:t>
            </a:r>
            <a:endParaRPr lang="en-US" sz="2020" b="0" u="none" strike="noStrike">
              <a:solidFill>
                <a:srgbClr val="000000"/>
              </a:solidFill>
              <a:effectLst/>
              <a:uFillTx/>
              <a:latin typeface="Arial"/>
            </a:endParaRPr>
          </a:p>
          <a:p>
            <a:pPr defTabSz="914400">
              <a:lnSpc>
                <a:spcPct val="100000"/>
              </a:lnSpc>
            </a:pPr>
            <a:r>
              <a:rPr lang="en-US" sz="2020" b="0" u="none" strike="noStrike">
                <a:solidFill>
                  <a:srgbClr val="192A30"/>
                </a:solidFill>
                <a:effectLst/>
                <a:uFillTx/>
                <a:latin typeface="Calibri"/>
                <a:ea typeface="Calibri"/>
              </a:rPr>
              <a:t>checkpoints and tests make the local result traceable.</a:t>
            </a:r>
            <a:endParaRPr lang="en-US" sz="2020" b="0" u="none" strike="noStrike">
              <a:solidFill>
                <a:srgbClr val="000000"/>
              </a:solidFill>
              <a:effectLst/>
              <a:uFillTx/>
              <a:latin typeface="Arial"/>
            </a:endParaRPr>
          </a:p>
        </p:txBody>
      </p:sp>
      <p:sp>
        <p:nvSpPr>
          <p:cNvPr id="369" name="Rectangle 368"/>
          <p:cNvSpPr/>
          <p:nvPr/>
        </p:nvSpPr>
        <p:spPr>
          <a:xfrm>
            <a:off x="457200" y="3790800"/>
            <a:ext cx="11277000" cy="627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0" u="none" strike="noStrike">
                <a:solidFill>
                  <a:srgbClr val="192A30"/>
                </a:solidFill>
                <a:effectLst/>
                <a:uFillTx/>
                <a:latin typeface="Calibri"/>
                <a:ea typeface="Calibri"/>
              </a:rPr>
              <a:t>Paper: Ault, Hanna &amp; Sharon, AAMAS 2020</a:t>
            </a:r>
            <a:endParaRPr lang="en-US" sz="1580" b="0" u="none" strike="noStrike">
              <a:solidFill>
                <a:srgbClr val="000000"/>
              </a:solidFill>
              <a:effectLst/>
              <a:uFillTx/>
              <a:latin typeface="Arial"/>
            </a:endParaRPr>
          </a:p>
          <a:p>
            <a:pPr defTabSz="914400">
              <a:lnSpc>
                <a:spcPct val="100000"/>
              </a:lnSpc>
            </a:pPr>
            <a:r>
              <a:rPr lang="en-US" sz="1580" b="0" u="none" strike="noStrike">
                <a:solidFill>
                  <a:srgbClr val="192A30"/>
                </a:solidFill>
                <a:effectLst/>
                <a:uFillTx/>
                <a:latin typeface="Calibri"/>
                <a:ea typeface="Calibri"/>
              </a:rPr>
              <a:t>https://arxiv.org/abs/1912.11023</a:t>
            </a:r>
            <a:endParaRPr lang="en-US" sz="1580" b="0" u="none" strike="noStrike">
              <a:solidFill>
                <a:srgbClr val="000000"/>
              </a:solidFill>
              <a:effectLst/>
              <a:uFillTx/>
              <a:latin typeface="Arial"/>
            </a:endParaRPr>
          </a:p>
        </p:txBody>
      </p:sp>
      <p:sp>
        <p:nvSpPr>
          <p:cNvPr id="370" name="Rectangle 369"/>
          <p:cNvSpPr/>
          <p:nvPr/>
        </p:nvSpPr>
        <p:spPr>
          <a:xfrm>
            <a:off x="457200" y="4619520"/>
            <a:ext cx="11277000" cy="313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580" b="0" u="none" strike="noStrike">
                <a:solidFill>
                  <a:srgbClr val="192A30"/>
                </a:solidFill>
                <a:effectLst/>
                <a:uFillTx/>
                <a:latin typeface="Calibri"/>
                <a:ea typeface="Calibri"/>
              </a:rPr>
              <a:t>Authors’ experiment code: https://github.com/jault/StateStreetSumo</a:t>
            </a:r>
            <a:endParaRPr lang="en-US" sz="1580" b="0" u="none" strike="noStrike">
              <a:solidFill>
                <a:srgbClr val="000000"/>
              </a:solidFill>
              <a:effectLst/>
              <a:uFillTx/>
              <a:latin typeface="Arial"/>
            </a:endParaRPr>
          </a:p>
        </p:txBody>
      </p:sp>
      <p:sp>
        <p:nvSpPr>
          <p:cNvPr id="371" name="Rectangle 370"/>
          <p:cNvSpPr/>
          <p:nvPr/>
        </p:nvSpPr>
        <p:spPr>
          <a:xfrm>
            <a:off x="457200" y="5114880"/>
            <a:ext cx="11277000" cy="33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729" b="0" u="none" strike="noStrike">
                <a:solidFill>
                  <a:srgbClr val="192A30"/>
                </a:solidFill>
                <a:effectLst/>
                <a:uFillTx/>
                <a:latin typeface="Calibri"/>
                <a:ea typeface="Calibri"/>
              </a:rPr>
              <a:t>Our code / executed notebook: [PASTE YOUR ACTUAL SHARED LINK]</a:t>
            </a:r>
            <a:endParaRPr lang="en-US" sz="1729" b="0" u="none" strike="noStrike">
              <a:solidFill>
                <a:srgbClr val="000000"/>
              </a:solidFill>
              <a:effectLst/>
              <a:uFillTx/>
              <a:latin typeface="Arial"/>
            </a:endParaRPr>
          </a:p>
        </p:txBody>
      </p:sp>
      <p:sp>
        <p:nvSpPr>
          <p:cNvPr id="372" name="Rectangle 371"/>
          <p:cNvSpPr/>
          <p:nvPr/>
        </p:nvSpPr>
        <p:spPr>
          <a:xfrm>
            <a:off x="457200" y="5648400"/>
            <a:ext cx="11277000" cy="36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729" b="1" u="none" strike="noStrike">
                <a:solidFill>
                  <a:srgbClr val="107C41"/>
                </a:solidFill>
                <a:effectLst/>
                <a:uFillTx/>
                <a:latin typeface="Calibri"/>
                <a:ea typeface="Calibri"/>
              </a:rPr>
              <a:t>Video (Google Drive): [PASTE YOUR ACTUAL SHARED VIDEO LINK]</a:t>
            </a:r>
            <a:endParaRPr lang="en-US" sz="1729"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a:gradFill>
      </a:fillStyleLst>
      <a:lnStyleLst>
        <a:ln w="12700">
          <a:prstDash val="solid"/>
        </a:ln>
        <a:ln w="19050">
          <a:prstDash val="solid"/>
        </a:ln>
        <a:ln w="25400">
          <a:prstDash val="solid"/>
        </a:ln>
      </a:lnStyleLst>
      <a:effectStyleLst>
        <a:effectStyle>
          <a:effectLst/>
        </a:effectStyle>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23</TotalTime>
  <Words>5378</Words>
  <Application>Microsoft Office PowerPoint</Application>
  <PresentationFormat>Widescreen</PresentationFormat>
  <Paragraphs>584</Paragraphs>
  <Slides>22</Slides>
  <Notes>22</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22</vt:i4>
      </vt:variant>
    </vt:vector>
  </HeadingPairs>
  <TitlesOfParts>
    <vt:vector size="31" baseType="lpstr">
      <vt:lpstr>Aptos</vt:lpstr>
      <vt:lpstr>Arial</vt:lpstr>
      <vt:lpstr>Calibri</vt:lpstr>
      <vt:lpstr>Georgia</vt:lpstr>
      <vt:lpstr>Symbol</vt:lpstr>
      <vt:lpstr>Times New Roman</vt:lpstr>
      <vt:lpstr>Wingdings</vt:lpstr>
      <vt:lpstr>Office Theme</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subject/>
  <dc:creator>Walnut Exporter</dc:creator>
  <dc:description/>
  <cp:lastModifiedBy>Budhdi Sharma</cp:lastModifiedBy>
  <cp:revision>1</cp:revision>
  <dcterms:created xsi:type="dcterms:W3CDTF">2026-10-10T12:33:15Z</dcterms:created>
  <dcterms:modified xsi:type="dcterms:W3CDTF">2026-10-10T13:49:44Z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Converted Presentation</vt:lpwstr>
  </property>
</Properties>
</file>