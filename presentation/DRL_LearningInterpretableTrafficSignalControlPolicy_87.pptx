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8.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colors1.xml" ContentType="application/vnd.ms-office.chartcolorstyle+xml"/>
  <Override PartName="/ppt/charts/style2.xml" ContentType="application/vnd.ms-office.chartstyle+xml"/>
  <Override PartName="/ppt/charts/chart3.xml" ContentType="application/vnd.openxmlformats-officedocument.drawingml.chart+xml"/>
  <Override PartName="/ppt/charts/chart2.xml" ContentType="application/vnd.openxmlformats-officedocument.drawingml.chart+xml"/>
  <Override PartName="/ppt/charts/colors2.xml" ContentType="application/vnd.ms-office.chartcolorstyle+xml"/>
  <Override PartName="/ppt/charts/style3.xml" ContentType="application/vnd.ms-office.chartstyle+xml"/>
  <Override PartName="/ppt/charts/style1.xml" ContentType="application/vnd.ms-office.chartstyle+xml"/>
  <Override PartName="/ppt/charts/colors3.xml" ContentType="application/vnd.ms-office.chartcolorstyle+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embeddings/chart-data-snapshot-001.xlsx" ContentType="application/vnd.openxmlformats-officedocument.spreadsheetml.sheet"/>
  <Override PartName="/ppt/embeddings/chart-data-snapshot-002.xlsx" ContentType="application/vnd.openxmlformats-officedocument.spreadsheetml.sheet"/>
  <Override PartName="/ppt/embeddings/chart-data-snapshot-003.xlsx" ContentType="application/vnd.openxmlformats-officedocument.spreadsheetml.sheet"/>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presProps" Target="presProps.xml"/>
</Relationships>
</file>

<file path=ppt/charts/_rels/chart1.xml.rels><?xml version='1.0' encoding='UTF-8' standalone='yes'?>
<Relationships xmlns="http://schemas.openxmlformats.org/package/2006/relationships"><Relationship Id="rId3" Type="http://schemas.openxmlformats.org/officeDocument/2006/relationships/package" Target="../embeddings/chart-data-snapshot-001.xlsx"/></Relationships>
</file>

<file path=ppt/charts/_rels/chart2.xml.rels><?xml version='1.0' encoding='UTF-8' standalone='yes'?>
<Relationships xmlns="http://schemas.openxmlformats.org/package/2006/relationships"><Relationship Id="rId3" Type="http://schemas.openxmlformats.org/officeDocument/2006/relationships/package" Target="../embeddings/chart-data-snapshot-002.xlsx"/></Relationships>
</file>

<file path=ppt/charts/_rels/chart3.xml.rels><?xml version='1.0' encoding='UTF-8' standalone='yes'?>
<Relationships xmlns="http://schemas.openxmlformats.org/package/2006/relationships"><Relationship Id="rId3" Type="http://schemas.openxmlformats.org/officeDocument/2006/relationships/package" Target="../embeddings/chart-data-snapshot-003.xlsx"/></Relationships>
</file>

<file path=ppt/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DQN</c:v>
          </c:tx>
          <c:spPr>
            <a:ln xmlns:a="http://schemas.openxmlformats.org/drawingml/2006/main" w="28575">
              <a:solidFill>
                <a:srgbClr val="4072B8"/>
              </a:solidFill>
              <a:prstDash val="solid"/>
            </a:ln>
          </c:spPr>
          <c:marker>
            <c:symbol val="none"/>
          </c:marker>
          <c:cat>
            <c:numRef>
              <c:f>'Chart Data'!$A$2:$A$26</c:f>
              <c:numCache>
                <c:formatCode>General</c:formatCode>
                <c:ptCount val="25"/>
                <c:pt idx="0">
                  <c:v>2</c:v>
                </c:pt>
                <c:pt idx="1">
                  <c:v>4</c:v>
                </c:pt>
                <c:pt idx="2">
                  <c:v>6</c:v>
                </c:pt>
                <c:pt idx="3">
                  <c:v>8</c:v>
                </c:pt>
                <c:pt idx="4">
                  <c:v>10</c:v>
                </c:pt>
                <c:pt idx="5">
                  <c:v>12</c:v>
                </c:pt>
                <c:pt idx="6">
                  <c:v>14</c:v>
                </c:pt>
                <c:pt idx="7">
                  <c:v>16</c:v>
                </c:pt>
                <c:pt idx="8">
                  <c:v>18</c:v>
                </c:pt>
                <c:pt idx="9">
                  <c:v>20</c:v>
                </c:pt>
                <c:pt idx="10">
                  <c:v>22</c:v>
                </c:pt>
                <c:pt idx="11">
                  <c:v>24</c:v>
                </c:pt>
                <c:pt idx="12">
                  <c:v>26</c:v>
                </c:pt>
                <c:pt idx="13">
                  <c:v>28</c:v>
                </c:pt>
                <c:pt idx="14">
                  <c:v>30</c:v>
                </c:pt>
                <c:pt idx="15">
                  <c:v>32</c:v>
                </c:pt>
                <c:pt idx="16">
                  <c:v>34</c:v>
                </c:pt>
                <c:pt idx="17">
                  <c:v>36</c:v>
                </c:pt>
                <c:pt idx="18">
                  <c:v>38</c:v>
                </c:pt>
                <c:pt idx="19">
                  <c:v>40</c:v>
                </c:pt>
                <c:pt idx="20">
                  <c:v>42</c:v>
                </c:pt>
                <c:pt idx="21">
                  <c:v>44</c:v>
                </c:pt>
                <c:pt idx="22">
                  <c:v>46</c:v>
                </c:pt>
                <c:pt idx="23">
                  <c:v>48</c:v>
                </c:pt>
                <c:pt idx="24">
                  <c:v>50</c:v>
                </c:pt>
              </c:numCache>
            </c:numRef>
          </c:cat>
          <c:val>
            <c:numRef>
              <c:f>'Chart Data'!$B$2:$B$26</c:f>
              <c:numCache>
                <c:formatCode>General</c:formatCode>
                <c:ptCount val="25"/>
                <c:pt idx="0">
                  <c:v>64.021781</c:v>
                </c:pt>
                <c:pt idx="1">
                  <c:v>18.803354</c:v>
                </c:pt>
                <c:pt idx="2">
                  <c:v>13.499312</c:v>
                </c:pt>
                <c:pt idx="3">
                  <c:v>11.386259</c:v>
                </c:pt>
                <c:pt idx="4">
                  <c:v>11.760169</c:v>
                </c:pt>
                <c:pt idx="5">
                  <c:v>11.891944</c:v>
                </c:pt>
                <c:pt idx="6">
                  <c:v>10.391678</c:v>
                </c:pt>
                <c:pt idx="7">
                  <c:v>11.40532</c:v>
                </c:pt>
                <c:pt idx="8">
                  <c:v>10.386334</c:v>
                </c:pt>
                <c:pt idx="9">
                  <c:v>10.756786</c:v>
                </c:pt>
                <c:pt idx="10">
                  <c:v>10.434209</c:v>
                </c:pt>
                <c:pt idx="11">
                  <c:v>10.694987</c:v>
                </c:pt>
                <c:pt idx="12">
                  <c:v>10.692777</c:v>
                </c:pt>
                <c:pt idx="13">
                  <c:v>9.524791</c:v>
                </c:pt>
                <c:pt idx="14">
                  <c:v>9.65473</c:v>
                </c:pt>
                <c:pt idx="15">
                  <c:v>10.094884</c:v>
                </c:pt>
                <c:pt idx="16">
                  <c:v>9.770273</c:v>
                </c:pt>
                <c:pt idx="17">
                  <c:v>9.73469</c:v>
                </c:pt>
                <c:pt idx="18">
                  <c:v>9.559216</c:v>
                </c:pt>
                <c:pt idx="19">
                  <c:v>9.181711</c:v>
                </c:pt>
                <c:pt idx="20">
                  <c:v>8.759034</c:v>
                </c:pt>
                <c:pt idx="21">
                  <c:v>8.175135</c:v>
                </c:pt>
                <c:pt idx="22">
                  <c:v>8.83149</c:v>
                </c:pt>
                <c:pt idx="23">
                  <c:v>8.738156</c:v>
                </c:pt>
                <c:pt idx="24">
                  <c:v>8.574055</c:v>
                </c:pt>
              </c:numCache>
            </c:numRef>
          </c:val>
          <c:smooth val="0"/>
        </c:ser>
        <c:ser>
          <c:idx val="1"/>
          <c:order val="1"/>
          <c:tx>
            <c:v>DRSQ</c:v>
          </c:tx>
          <c:spPr>
            <a:ln xmlns:a="http://schemas.openxmlformats.org/drawingml/2006/main" w="28575">
              <a:solidFill>
                <a:srgbClr val="B67925"/>
              </a:solidFill>
              <a:prstDash val="solid"/>
            </a:ln>
          </c:spPr>
          <c:marker>
            <c:symbol val="none"/>
          </c:marker>
          <c:cat>
            <c:numRef>
              <c:f>'Chart Data'!$C$2:$C$26</c:f>
              <c:numCache>
                <c:formatCode>General</c:formatCode>
                <c:ptCount val="25"/>
                <c:pt idx="0">
                  <c:v>2</c:v>
                </c:pt>
                <c:pt idx="1">
                  <c:v>4</c:v>
                </c:pt>
                <c:pt idx="2">
                  <c:v>6</c:v>
                </c:pt>
                <c:pt idx="3">
                  <c:v>8</c:v>
                </c:pt>
                <c:pt idx="4">
                  <c:v>10</c:v>
                </c:pt>
                <c:pt idx="5">
                  <c:v>12</c:v>
                </c:pt>
                <c:pt idx="6">
                  <c:v>14</c:v>
                </c:pt>
                <c:pt idx="7">
                  <c:v>16</c:v>
                </c:pt>
                <c:pt idx="8">
                  <c:v>18</c:v>
                </c:pt>
                <c:pt idx="9">
                  <c:v>20</c:v>
                </c:pt>
                <c:pt idx="10">
                  <c:v>22</c:v>
                </c:pt>
                <c:pt idx="11">
                  <c:v>24</c:v>
                </c:pt>
                <c:pt idx="12">
                  <c:v>26</c:v>
                </c:pt>
                <c:pt idx="13">
                  <c:v>28</c:v>
                </c:pt>
                <c:pt idx="14">
                  <c:v>30</c:v>
                </c:pt>
                <c:pt idx="15">
                  <c:v>32</c:v>
                </c:pt>
                <c:pt idx="16">
                  <c:v>34</c:v>
                </c:pt>
                <c:pt idx="17">
                  <c:v>36</c:v>
                </c:pt>
                <c:pt idx="18">
                  <c:v>38</c:v>
                </c:pt>
                <c:pt idx="19">
                  <c:v>40</c:v>
                </c:pt>
                <c:pt idx="20">
                  <c:v>42</c:v>
                </c:pt>
                <c:pt idx="21">
                  <c:v>44</c:v>
                </c:pt>
                <c:pt idx="22">
                  <c:v>46</c:v>
                </c:pt>
                <c:pt idx="23">
                  <c:v>48</c:v>
                </c:pt>
                <c:pt idx="24">
                  <c:v>50</c:v>
                </c:pt>
              </c:numCache>
            </c:numRef>
          </c:cat>
          <c:val>
            <c:numRef>
              <c:f>'Chart Data'!$D$2:$D$26</c:f>
              <c:numCache>
                <c:formatCode>General</c:formatCode>
                <c:ptCount val="25"/>
                <c:pt idx="0">
                  <c:v>13.673988</c:v>
                </c:pt>
                <c:pt idx="1">
                  <c:v>40.229712</c:v>
                </c:pt>
                <c:pt idx="2">
                  <c:v>11.274222</c:v>
                </c:pt>
                <c:pt idx="3">
                  <c:v>11.339003</c:v>
                </c:pt>
                <c:pt idx="4">
                  <c:v>10.867071</c:v>
                </c:pt>
                <c:pt idx="5">
                  <c:v>10.760235</c:v>
                </c:pt>
                <c:pt idx="6">
                  <c:v>10.811757</c:v>
                </c:pt>
                <c:pt idx="7">
                  <c:v>11.198454</c:v>
                </c:pt>
                <c:pt idx="8">
                  <c:v>9.810873</c:v>
                </c:pt>
                <c:pt idx="9">
                  <c:v>9.942981</c:v>
                </c:pt>
                <c:pt idx="10">
                  <c:v>10.517956</c:v>
                </c:pt>
                <c:pt idx="11">
                  <c:v>10.792674</c:v>
                </c:pt>
                <c:pt idx="12">
                  <c:v>9.62728</c:v>
                </c:pt>
                <c:pt idx="13">
                  <c:v>9.325451</c:v>
                </c:pt>
                <c:pt idx="14">
                  <c:v>9.550743</c:v>
                </c:pt>
                <c:pt idx="15">
                  <c:v>9.968318</c:v>
                </c:pt>
                <c:pt idx="16">
                  <c:v>9.902907</c:v>
                </c:pt>
                <c:pt idx="17">
                  <c:v>8.924682</c:v>
                </c:pt>
                <c:pt idx="18">
                  <c:v>9.681112</c:v>
                </c:pt>
                <c:pt idx="19">
                  <c:v>9.601536</c:v>
                </c:pt>
                <c:pt idx="20">
                  <c:v>8.792173</c:v>
                </c:pt>
                <c:pt idx="21">
                  <c:v>9.192374</c:v>
                </c:pt>
                <c:pt idx="22">
                  <c:v>8.830522</c:v>
                </c:pt>
                <c:pt idx="23">
                  <c:v>8.696494</c:v>
                </c:pt>
                <c:pt idx="24">
                  <c:v>8.663633</c:v>
                </c:pt>
              </c:numCache>
            </c:numRef>
          </c:val>
          <c:smooth val="0"/>
        </c:ser>
        <c:ser>
          <c:idx val="2"/>
          <c:order val="2"/>
          <c:tx>
            <c:v>DRHQ</c:v>
          </c:tx>
          <c:spPr>
            <a:ln xmlns:a="http://schemas.openxmlformats.org/drawingml/2006/main" w="28575">
              <a:solidFill>
                <a:srgbClr val="107C41"/>
              </a:solidFill>
              <a:prstDash val="solid"/>
            </a:ln>
          </c:spPr>
          <c:marker>
            <c:symbol val="none"/>
          </c:marker>
          <c:cat>
            <c:numRef>
              <c:f>'Chart Data'!$E$2:$E$26</c:f>
              <c:numCache>
                <c:formatCode>General</c:formatCode>
                <c:ptCount val="25"/>
                <c:pt idx="0">
                  <c:v>2</c:v>
                </c:pt>
                <c:pt idx="1">
                  <c:v>4</c:v>
                </c:pt>
                <c:pt idx="2">
                  <c:v>6</c:v>
                </c:pt>
                <c:pt idx="3">
                  <c:v>8</c:v>
                </c:pt>
                <c:pt idx="4">
                  <c:v>10</c:v>
                </c:pt>
                <c:pt idx="5">
                  <c:v>12</c:v>
                </c:pt>
                <c:pt idx="6">
                  <c:v>14</c:v>
                </c:pt>
                <c:pt idx="7">
                  <c:v>16</c:v>
                </c:pt>
                <c:pt idx="8">
                  <c:v>18</c:v>
                </c:pt>
                <c:pt idx="9">
                  <c:v>20</c:v>
                </c:pt>
                <c:pt idx="10">
                  <c:v>22</c:v>
                </c:pt>
                <c:pt idx="11">
                  <c:v>24</c:v>
                </c:pt>
                <c:pt idx="12">
                  <c:v>26</c:v>
                </c:pt>
                <c:pt idx="13">
                  <c:v>28</c:v>
                </c:pt>
                <c:pt idx="14">
                  <c:v>30</c:v>
                </c:pt>
                <c:pt idx="15">
                  <c:v>32</c:v>
                </c:pt>
                <c:pt idx="16">
                  <c:v>34</c:v>
                </c:pt>
                <c:pt idx="17">
                  <c:v>36</c:v>
                </c:pt>
                <c:pt idx="18">
                  <c:v>38</c:v>
                </c:pt>
                <c:pt idx="19">
                  <c:v>40</c:v>
                </c:pt>
                <c:pt idx="20">
                  <c:v>42</c:v>
                </c:pt>
                <c:pt idx="21">
                  <c:v>44</c:v>
                </c:pt>
                <c:pt idx="22">
                  <c:v>46</c:v>
                </c:pt>
                <c:pt idx="23">
                  <c:v>48</c:v>
                </c:pt>
                <c:pt idx="24">
                  <c:v>50</c:v>
                </c:pt>
              </c:numCache>
            </c:numRef>
          </c:cat>
          <c:val>
            <c:numRef>
              <c:f>'Chart Data'!$F$2:$F$26</c:f>
              <c:numCache>
                <c:formatCode>General</c:formatCode>
                <c:ptCount val="25"/>
                <c:pt idx="0">
                  <c:v>14.069789</c:v>
                </c:pt>
                <c:pt idx="1">
                  <c:v>45.49584</c:v>
                </c:pt>
                <c:pt idx="2">
                  <c:v>12.977869</c:v>
                </c:pt>
                <c:pt idx="3">
                  <c:v>11.421716</c:v>
                </c:pt>
                <c:pt idx="4">
                  <c:v>11.383577</c:v>
                </c:pt>
                <c:pt idx="5">
                  <c:v>11.25159</c:v>
                </c:pt>
                <c:pt idx="6">
                  <c:v>10.674224</c:v>
                </c:pt>
                <c:pt idx="7">
                  <c:v>11.651397</c:v>
                </c:pt>
                <c:pt idx="8">
                  <c:v>9.700224</c:v>
                </c:pt>
                <c:pt idx="9">
                  <c:v>10.267661</c:v>
                </c:pt>
                <c:pt idx="10">
                  <c:v>10.60277</c:v>
                </c:pt>
                <c:pt idx="11">
                  <c:v>10.788011</c:v>
                </c:pt>
                <c:pt idx="12">
                  <c:v>10.160256</c:v>
                </c:pt>
                <c:pt idx="13">
                  <c:v>9.35263</c:v>
                </c:pt>
                <c:pt idx="14">
                  <c:v>9.679007</c:v>
                </c:pt>
                <c:pt idx="15">
                  <c:v>10.338221</c:v>
                </c:pt>
                <c:pt idx="16">
                  <c:v>10.047657</c:v>
                </c:pt>
                <c:pt idx="17">
                  <c:v>9.26953</c:v>
                </c:pt>
                <c:pt idx="18">
                  <c:v>9.835582</c:v>
                </c:pt>
                <c:pt idx="19">
                  <c:v>9.4433</c:v>
                </c:pt>
                <c:pt idx="20">
                  <c:v>8.756762</c:v>
                </c:pt>
                <c:pt idx="21">
                  <c:v>9.11062</c:v>
                </c:pt>
                <c:pt idx="22">
                  <c:v>8.860146</c:v>
                </c:pt>
                <c:pt idx="23">
                  <c:v>8.835205</c:v>
                </c:pt>
                <c:pt idx="24">
                  <c:v>8.380359</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3D8CC"/>
            </a:solidFill>
          </a:ln>
        </c:spPr>
        <c:txPr>
          <a:bodyPr xmlns:a="http://schemas.openxmlformats.org/drawingml/2006/main" anchorCtr="1"/>
          <a:lstStyle xmlns:a="http://schemas.openxmlformats.org/drawingml/2006/main"/>
          <a:p xmlns:a="http://schemas.openxmlformats.org/drawingml/2006/main">
            <a:pPr>
              <a:defRPr sz="1350">
                <a:solidFill>
                  <a:srgbClr val="7F8C8D"/>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9525">
              <a:solidFill>
                <a:srgbClr val="C3D8CC"/>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Queue delay / arrival (s)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7F8C8D"/>
                </a:solidFill>
                <a:latin typeface="Calibri"/>
                <a:ea typeface="Calibri"/>
                <a:cs typeface="Calibri"/>
              </a:defRPr>
            </a:pPr>
          </a:p>
        </c:txPr>
        <c:crossAx val="48650112"/>
        <c:crossBetween val="between"/>
      </c:valAx>
      <c:spPr>
        <a:solidFill xmlns:a="http://schemas.openxmlformats.org/drawingml/2006/main">
          <a:srgbClr val="F4F6F6"/>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92A30"/>
              </a:solidFill>
              <a:latin typeface="Calibri"/>
              <a:ea typeface="Calibri"/>
              <a:cs typeface="Calibri"/>
            </a:defRPr>
          </a:pPr>
        </a:p>
      </c:txPr>
    </c:legend>
    <c:plotVisOnly val="1"/>
  </c:chart>
  <c:spPr>
    <a:solidFill xmlns:a="http://schemas.openxmlformats.org/drawingml/2006/main">
      <a:srgbClr val="F4F6F6"/>
    </a:solidFill>
  </c:spPr>
  <c:externalData r:id="rId3">
    <c:autoUpdate val="0"/>
  </c:externalData>
</c:chartSpace>
</file>

<file path=ppt/charts/chart2.xml><?xml version="1.0" encoding="utf-8"?>
<c:chartSpace xmlns:c="http://schemas.openxmlformats.org/drawingml/2006/chart" xmlns:r="http://schemas.openxmlformats.org/officeDocument/2006/relationships">
  <c:lang val="en-US"/>
  <c:chart>
    <c:plotArea>
      <c:barChart>
        <c:barDir val="col"/>
        <c:varyColors val="0"/>
        <c:ser>
          <c:idx val="0"/>
          <c:order val="0"/>
          <c:tx>
            <c:v>Delay (s)</c:v>
          </c:tx>
          <c:spPr>
            <a:solidFill xmlns:a="http://schemas.openxmlformats.org/drawingml/2006/main">
              <a:srgbClr val="107C41"/>
            </a:solidFill>
          </c:spPr>
          <c:cat>
            <c:strRef>
              <c:f>'Chart Data'!$A$2:$A$7</c:f>
              <c:strCache>
                <c:ptCount val="6"/>
                <c:pt idx="0">
                  <c:v>Fixed</c:v>
                </c:pt>
                <c:pt idx="1">
                  <c:v>Actuated</c:v>
                </c:pt>
                <c:pt idx="2">
                  <c:v>QueueGreedy</c:v>
                </c:pt>
                <c:pt idx="3">
                  <c:v>DQN</c:v>
                </c:pt>
                <c:pt idx="4">
                  <c:v>DRSQ</c:v>
                </c:pt>
                <c:pt idx="5">
                  <c:v>DRHQ</c:v>
                </c:pt>
              </c:strCache>
            </c:strRef>
          </c:cat>
          <c:val>
            <c:numRef>
              <c:f>'Chart Data'!$B$2:$B$7</c:f>
              <c:numCache>
                <c:formatCode>General</c:formatCode>
                <c:ptCount val="6"/>
                <c:pt idx="0">
                  <c:v>13.919557</c:v>
                </c:pt>
                <c:pt idx="1">
                  <c:v>11.688477</c:v>
                </c:pt>
                <c:pt idx="2">
                  <c:v>10.629008</c:v>
                </c:pt>
                <c:pt idx="3">
                  <c:v>10.149429</c:v>
                </c:pt>
                <c:pt idx="4">
                  <c:v>9.878236</c:v>
                </c:pt>
                <c:pt idx="5">
                  <c:v>9.828252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92A30"/>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3D8CC"/>
            </a:solidFill>
          </a:ln>
        </c:spPr>
        <c:txPr>
          <a:bodyPr xmlns:a="http://schemas.openxmlformats.org/drawingml/2006/main" anchorCtr="1"/>
          <a:lstStyle xmlns:a="http://schemas.openxmlformats.org/drawingml/2006/main"/>
          <a:p xmlns:a="http://schemas.openxmlformats.org/drawingml/2006/main">
            <a:pPr>
              <a:defRPr sz="1350">
                <a:solidFill>
                  <a:srgbClr val="7F8C8D"/>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9525">
              <a:solidFill>
                <a:srgbClr val="C3D8CC"/>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Queue delay / arrival (s)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7F8C8D"/>
                </a:solidFill>
                <a:latin typeface="Calibri"/>
                <a:ea typeface="Calibri"/>
                <a:cs typeface="Calibri"/>
              </a:defRPr>
            </a:pPr>
          </a:p>
        </c:txPr>
        <c:crossAx val="48650112"/>
        <c:crossBetween val="between"/>
      </c:valAx>
      <c:spPr>
        <a:solidFill xmlns:a="http://schemas.openxmlformats.org/drawingml/2006/main">
          <a:srgbClr val="F4F6F6"/>
        </a:solidFill>
      </c:spPr>
    </c:plotArea>
    <c:plotVisOnly val="1"/>
  </c:chart>
  <c:spPr>
    <a:solidFill xmlns:a="http://schemas.openxmlformats.org/drawingml/2006/main">
      <a:srgbClr val="F4F6F6"/>
    </a:solidFill>
  </c:spPr>
  <c:externalData r:id="rId3">
    <c:autoUpdate val="0"/>
  </c:externalData>
</c:chartSpace>
</file>

<file path=ppt/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Actuated</c:v>
          </c:tx>
          <c:spPr>
            <a:ln xmlns:a="http://schemas.openxmlformats.org/drawingml/2006/main" w="23813">
              <a:solidFill>
                <a:srgbClr val="B67925"/>
              </a:solidFill>
              <a:prstDash val="solid"/>
            </a:ln>
          </c:spPr>
          <c:marker>
            <c:symbol val="none"/>
          </c:marker>
          <c:cat>
            <c:numRef>
              <c:f>'Chart Data'!$A$2:$A$61</c:f>
              <c:numCache>
                <c:formatCode>General</c:formatCode>
                <c:ptCount val="60"/>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pt idx="21">
                  <c:v>420</c:v>
                </c:pt>
                <c:pt idx="22">
                  <c:v>440</c:v>
                </c:pt>
                <c:pt idx="23">
                  <c:v>460</c:v>
                </c:pt>
                <c:pt idx="24">
                  <c:v>480</c:v>
                </c:pt>
                <c:pt idx="25">
                  <c:v>500</c:v>
                </c:pt>
                <c:pt idx="26">
                  <c:v>520</c:v>
                </c:pt>
                <c:pt idx="27">
                  <c:v>540</c:v>
                </c:pt>
                <c:pt idx="28">
                  <c:v>560</c:v>
                </c:pt>
                <c:pt idx="29">
                  <c:v>580</c:v>
                </c:pt>
                <c:pt idx="30">
                  <c:v>600</c:v>
                </c:pt>
                <c:pt idx="31">
                  <c:v>620</c:v>
                </c:pt>
                <c:pt idx="32">
                  <c:v>640</c:v>
                </c:pt>
                <c:pt idx="33">
                  <c:v>660</c:v>
                </c:pt>
                <c:pt idx="34">
                  <c:v>680</c:v>
                </c:pt>
                <c:pt idx="35">
                  <c:v>700</c:v>
                </c:pt>
                <c:pt idx="36">
                  <c:v>720</c:v>
                </c:pt>
                <c:pt idx="37">
                  <c:v>740</c:v>
                </c:pt>
                <c:pt idx="38">
                  <c:v>760</c:v>
                </c:pt>
                <c:pt idx="39">
                  <c:v>780</c:v>
                </c:pt>
                <c:pt idx="40">
                  <c:v>800</c:v>
                </c:pt>
                <c:pt idx="41">
                  <c:v>820</c:v>
                </c:pt>
                <c:pt idx="42">
                  <c:v>840</c:v>
                </c:pt>
                <c:pt idx="43">
                  <c:v>860</c:v>
                </c:pt>
                <c:pt idx="44">
                  <c:v>880</c:v>
                </c:pt>
                <c:pt idx="45">
                  <c:v>900</c:v>
                </c:pt>
                <c:pt idx="46">
                  <c:v>920</c:v>
                </c:pt>
                <c:pt idx="47">
                  <c:v>940</c:v>
                </c:pt>
                <c:pt idx="48">
                  <c:v>960</c:v>
                </c:pt>
                <c:pt idx="49">
                  <c:v>980</c:v>
                </c:pt>
                <c:pt idx="50">
                  <c:v>1000</c:v>
                </c:pt>
                <c:pt idx="51">
                  <c:v>1020</c:v>
                </c:pt>
                <c:pt idx="52">
                  <c:v>1040</c:v>
                </c:pt>
                <c:pt idx="53">
                  <c:v>1060</c:v>
                </c:pt>
                <c:pt idx="54">
                  <c:v>1080</c:v>
                </c:pt>
                <c:pt idx="55">
                  <c:v>1100</c:v>
                </c:pt>
                <c:pt idx="56">
                  <c:v>1120</c:v>
                </c:pt>
                <c:pt idx="57">
                  <c:v>1140</c:v>
                </c:pt>
                <c:pt idx="58">
                  <c:v>1160</c:v>
                </c:pt>
                <c:pt idx="59">
                  <c:v>1180</c:v>
                </c:pt>
              </c:numCache>
            </c:numRef>
          </c:cat>
          <c:val>
            <c:numRef>
              <c:f>'Chart Data'!$B$2:$B$61</c:f>
              <c:numCache>
                <c:formatCode>General</c:formatCode>
                <c:ptCount val="60"/>
                <c:pt idx="0">
                  <c:v>1</c:v>
                </c:pt>
                <c:pt idx="1">
                  <c:v>12</c:v>
                </c:pt>
                <c:pt idx="2">
                  <c:v>7</c:v>
                </c:pt>
                <c:pt idx="3">
                  <c:v>15</c:v>
                </c:pt>
                <c:pt idx="4">
                  <c:v>10</c:v>
                </c:pt>
                <c:pt idx="5">
                  <c:v>12</c:v>
                </c:pt>
                <c:pt idx="6">
                  <c:v>6</c:v>
                </c:pt>
                <c:pt idx="7">
                  <c:v>11</c:v>
                </c:pt>
                <c:pt idx="8">
                  <c:v>12</c:v>
                </c:pt>
                <c:pt idx="9">
                  <c:v>25</c:v>
                </c:pt>
                <c:pt idx="10">
                  <c:v>11</c:v>
                </c:pt>
                <c:pt idx="11">
                  <c:v>13</c:v>
                </c:pt>
                <c:pt idx="12">
                  <c:v>16</c:v>
                </c:pt>
                <c:pt idx="13">
                  <c:v>12</c:v>
                </c:pt>
                <c:pt idx="14">
                  <c:v>13</c:v>
                </c:pt>
                <c:pt idx="15">
                  <c:v>36</c:v>
                </c:pt>
                <c:pt idx="16">
                  <c:v>28</c:v>
                </c:pt>
                <c:pt idx="17">
                  <c:v>23</c:v>
                </c:pt>
                <c:pt idx="18">
                  <c:v>26</c:v>
                </c:pt>
                <c:pt idx="19">
                  <c:v>27</c:v>
                </c:pt>
                <c:pt idx="20">
                  <c:v>23</c:v>
                </c:pt>
                <c:pt idx="21">
                  <c:v>17</c:v>
                </c:pt>
                <c:pt idx="22">
                  <c:v>18</c:v>
                </c:pt>
                <c:pt idx="23">
                  <c:v>10</c:v>
                </c:pt>
                <c:pt idx="24">
                  <c:v>5</c:v>
                </c:pt>
                <c:pt idx="25">
                  <c:v>22</c:v>
                </c:pt>
                <c:pt idx="26">
                  <c:v>14</c:v>
                </c:pt>
                <c:pt idx="27">
                  <c:v>12</c:v>
                </c:pt>
                <c:pt idx="28">
                  <c:v>28</c:v>
                </c:pt>
                <c:pt idx="29">
                  <c:v>29</c:v>
                </c:pt>
                <c:pt idx="30">
                  <c:v>20</c:v>
                </c:pt>
                <c:pt idx="31">
                  <c:v>27</c:v>
                </c:pt>
                <c:pt idx="32">
                  <c:v>23</c:v>
                </c:pt>
                <c:pt idx="33">
                  <c:v>12</c:v>
                </c:pt>
                <c:pt idx="34">
                  <c:v>13</c:v>
                </c:pt>
                <c:pt idx="35">
                  <c:v>19</c:v>
                </c:pt>
                <c:pt idx="36">
                  <c:v>17</c:v>
                </c:pt>
                <c:pt idx="37">
                  <c:v>19</c:v>
                </c:pt>
                <c:pt idx="38">
                  <c:v>21</c:v>
                </c:pt>
                <c:pt idx="39">
                  <c:v>14</c:v>
                </c:pt>
                <c:pt idx="40">
                  <c:v>22</c:v>
                </c:pt>
                <c:pt idx="41">
                  <c:v>16</c:v>
                </c:pt>
                <c:pt idx="42">
                  <c:v>18</c:v>
                </c:pt>
                <c:pt idx="43">
                  <c:v>9</c:v>
                </c:pt>
                <c:pt idx="44">
                  <c:v>14</c:v>
                </c:pt>
                <c:pt idx="45">
                  <c:v>12</c:v>
                </c:pt>
                <c:pt idx="46">
                  <c:v>13</c:v>
                </c:pt>
                <c:pt idx="47">
                  <c:v>15</c:v>
                </c:pt>
                <c:pt idx="48">
                  <c:v>11</c:v>
                </c:pt>
                <c:pt idx="49">
                  <c:v>13</c:v>
                </c:pt>
                <c:pt idx="50">
                  <c:v>11</c:v>
                </c:pt>
                <c:pt idx="51">
                  <c:v>8</c:v>
                </c:pt>
                <c:pt idx="52">
                  <c:v>15</c:v>
                </c:pt>
                <c:pt idx="53">
                  <c:v>17</c:v>
                </c:pt>
                <c:pt idx="54">
                  <c:v>25</c:v>
                </c:pt>
                <c:pt idx="55">
                  <c:v>19</c:v>
                </c:pt>
                <c:pt idx="56">
                  <c:v>12</c:v>
                </c:pt>
                <c:pt idx="57">
                  <c:v>8</c:v>
                </c:pt>
                <c:pt idx="58">
                  <c:v>10</c:v>
                </c:pt>
                <c:pt idx="59">
                  <c:v>9</c:v>
                </c:pt>
              </c:numCache>
            </c:numRef>
          </c:val>
          <c:smooth val="0"/>
        </c:ser>
        <c:ser>
          <c:idx val="1"/>
          <c:order val="1"/>
          <c:tx>
            <c:v>DRHQ</c:v>
          </c:tx>
          <c:spPr>
            <a:ln xmlns:a="http://schemas.openxmlformats.org/drawingml/2006/main" w="23813">
              <a:solidFill>
                <a:srgbClr val="107C41"/>
              </a:solidFill>
              <a:prstDash val="solid"/>
            </a:ln>
          </c:spPr>
          <c:marker>
            <c:symbol val="none"/>
          </c:marker>
          <c:cat>
            <c:numRef>
              <c:f>'Chart Data'!$C$2:$C$61</c:f>
              <c:numCache>
                <c:formatCode>General</c:formatCode>
                <c:ptCount val="60"/>
                <c:pt idx="0">
                  <c:v>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pt idx="21">
                  <c:v>420</c:v>
                </c:pt>
                <c:pt idx="22">
                  <c:v>440</c:v>
                </c:pt>
                <c:pt idx="23">
                  <c:v>460</c:v>
                </c:pt>
                <c:pt idx="24">
                  <c:v>480</c:v>
                </c:pt>
                <c:pt idx="25">
                  <c:v>500</c:v>
                </c:pt>
                <c:pt idx="26">
                  <c:v>520</c:v>
                </c:pt>
                <c:pt idx="27">
                  <c:v>540</c:v>
                </c:pt>
                <c:pt idx="28">
                  <c:v>560</c:v>
                </c:pt>
                <c:pt idx="29">
                  <c:v>580</c:v>
                </c:pt>
                <c:pt idx="30">
                  <c:v>600</c:v>
                </c:pt>
                <c:pt idx="31">
                  <c:v>620</c:v>
                </c:pt>
                <c:pt idx="32">
                  <c:v>640</c:v>
                </c:pt>
                <c:pt idx="33">
                  <c:v>660</c:v>
                </c:pt>
                <c:pt idx="34">
                  <c:v>680</c:v>
                </c:pt>
                <c:pt idx="35">
                  <c:v>700</c:v>
                </c:pt>
                <c:pt idx="36">
                  <c:v>720</c:v>
                </c:pt>
                <c:pt idx="37">
                  <c:v>740</c:v>
                </c:pt>
                <c:pt idx="38">
                  <c:v>760</c:v>
                </c:pt>
                <c:pt idx="39">
                  <c:v>780</c:v>
                </c:pt>
                <c:pt idx="40">
                  <c:v>800</c:v>
                </c:pt>
                <c:pt idx="41">
                  <c:v>820</c:v>
                </c:pt>
                <c:pt idx="42">
                  <c:v>840</c:v>
                </c:pt>
                <c:pt idx="43">
                  <c:v>860</c:v>
                </c:pt>
                <c:pt idx="44">
                  <c:v>880</c:v>
                </c:pt>
                <c:pt idx="45">
                  <c:v>900</c:v>
                </c:pt>
                <c:pt idx="46">
                  <c:v>920</c:v>
                </c:pt>
                <c:pt idx="47">
                  <c:v>940</c:v>
                </c:pt>
                <c:pt idx="48">
                  <c:v>960</c:v>
                </c:pt>
                <c:pt idx="49">
                  <c:v>980</c:v>
                </c:pt>
                <c:pt idx="50">
                  <c:v>1000</c:v>
                </c:pt>
                <c:pt idx="51">
                  <c:v>1020</c:v>
                </c:pt>
                <c:pt idx="52">
                  <c:v>1040</c:v>
                </c:pt>
                <c:pt idx="53">
                  <c:v>1060</c:v>
                </c:pt>
                <c:pt idx="54">
                  <c:v>1080</c:v>
                </c:pt>
                <c:pt idx="55">
                  <c:v>1100</c:v>
                </c:pt>
                <c:pt idx="56">
                  <c:v>1120</c:v>
                </c:pt>
                <c:pt idx="57">
                  <c:v>1140</c:v>
                </c:pt>
                <c:pt idx="58">
                  <c:v>1160</c:v>
                </c:pt>
                <c:pt idx="59">
                  <c:v>1180</c:v>
                </c:pt>
              </c:numCache>
            </c:numRef>
          </c:cat>
          <c:val>
            <c:numRef>
              <c:f>'Chart Data'!$D$2:$D$61</c:f>
              <c:numCache>
                <c:formatCode>General</c:formatCode>
                <c:ptCount val="60"/>
                <c:pt idx="0">
                  <c:v>1</c:v>
                </c:pt>
                <c:pt idx="1">
                  <c:v>7</c:v>
                </c:pt>
                <c:pt idx="2">
                  <c:v>6</c:v>
                </c:pt>
                <c:pt idx="3">
                  <c:v>15</c:v>
                </c:pt>
                <c:pt idx="4">
                  <c:v>10</c:v>
                </c:pt>
                <c:pt idx="5">
                  <c:v>12</c:v>
                </c:pt>
                <c:pt idx="6">
                  <c:v>8</c:v>
                </c:pt>
                <c:pt idx="7">
                  <c:v>11</c:v>
                </c:pt>
                <c:pt idx="8">
                  <c:v>13</c:v>
                </c:pt>
                <c:pt idx="9">
                  <c:v>10</c:v>
                </c:pt>
                <c:pt idx="10">
                  <c:v>17</c:v>
                </c:pt>
                <c:pt idx="11">
                  <c:v>15</c:v>
                </c:pt>
                <c:pt idx="12">
                  <c:v>9</c:v>
                </c:pt>
                <c:pt idx="13">
                  <c:v>14</c:v>
                </c:pt>
                <c:pt idx="14">
                  <c:v>9</c:v>
                </c:pt>
                <c:pt idx="15">
                  <c:v>13</c:v>
                </c:pt>
                <c:pt idx="16">
                  <c:v>16</c:v>
                </c:pt>
                <c:pt idx="17">
                  <c:v>13</c:v>
                </c:pt>
                <c:pt idx="18">
                  <c:v>6</c:v>
                </c:pt>
                <c:pt idx="19">
                  <c:v>11</c:v>
                </c:pt>
                <c:pt idx="20">
                  <c:v>13</c:v>
                </c:pt>
                <c:pt idx="21">
                  <c:v>12</c:v>
                </c:pt>
                <c:pt idx="22">
                  <c:v>13</c:v>
                </c:pt>
                <c:pt idx="23">
                  <c:v>6</c:v>
                </c:pt>
                <c:pt idx="24">
                  <c:v>5</c:v>
                </c:pt>
                <c:pt idx="25">
                  <c:v>8</c:v>
                </c:pt>
                <c:pt idx="26">
                  <c:v>10</c:v>
                </c:pt>
                <c:pt idx="27">
                  <c:v>6</c:v>
                </c:pt>
                <c:pt idx="28">
                  <c:v>17</c:v>
                </c:pt>
                <c:pt idx="29">
                  <c:v>20</c:v>
                </c:pt>
                <c:pt idx="30">
                  <c:v>22</c:v>
                </c:pt>
                <c:pt idx="31">
                  <c:v>21</c:v>
                </c:pt>
                <c:pt idx="32">
                  <c:v>17</c:v>
                </c:pt>
                <c:pt idx="33">
                  <c:v>12</c:v>
                </c:pt>
                <c:pt idx="34">
                  <c:v>9</c:v>
                </c:pt>
                <c:pt idx="35">
                  <c:v>6</c:v>
                </c:pt>
                <c:pt idx="36">
                  <c:v>15</c:v>
                </c:pt>
                <c:pt idx="37">
                  <c:v>17</c:v>
                </c:pt>
                <c:pt idx="38">
                  <c:v>14</c:v>
                </c:pt>
                <c:pt idx="39">
                  <c:v>15</c:v>
                </c:pt>
                <c:pt idx="40">
                  <c:v>20</c:v>
                </c:pt>
                <c:pt idx="41">
                  <c:v>12</c:v>
                </c:pt>
                <c:pt idx="42">
                  <c:v>6</c:v>
                </c:pt>
                <c:pt idx="43">
                  <c:v>7</c:v>
                </c:pt>
                <c:pt idx="44">
                  <c:v>7</c:v>
                </c:pt>
                <c:pt idx="45">
                  <c:v>17</c:v>
                </c:pt>
                <c:pt idx="46">
                  <c:v>10</c:v>
                </c:pt>
                <c:pt idx="47">
                  <c:v>15</c:v>
                </c:pt>
                <c:pt idx="48">
                  <c:v>16</c:v>
                </c:pt>
                <c:pt idx="49">
                  <c:v>12</c:v>
                </c:pt>
                <c:pt idx="50">
                  <c:v>7</c:v>
                </c:pt>
                <c:pt idx="51">
                  <c:v>12</c:v>
                </c:pt>
                <c:pt idx="52">
                  <c:v>14</c:v>
                </c:pt>
                <c:pt idx="53">
                  <c:v>11</c:v>
                </c:pt>
                <c:pt idx="54">
                  <c:v>13</c:v>
                </c:pt>
                <c:pt idx="55">
                  <c:v>15</c:v>
                </c:pt>
                <c:pt idx="56">
                  <c:v>10</c:v>
                </c:pt>
                <c:pt idx="57">
                  <c:v>3</c:v>
                </c:pt>
                <c:pt idx="58">
                  <c:v>2</c:v>
                </c:pt>
                <c:pt idx="59">
                  <c:v>8</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3D8CC"/>
            </a:solidFill>
          </a:ln>
        </c:spPr>
        <c:txPr>
          <a:bodyPr xmlns:a="http://schemas.openxmlformats.org/drawingml/2006/main" anchorCtr="1"/>
          <a:lstStyle xmlns:a="http://schemas.openxmlformats.org/drawingml/2006/main"/>
          <a:p xmlns:a="http://schemas.openxmlformats.org/drawingml/2006/main">
            <a:pPr>
              <a:defRPr sz="1350">
                <a:solidFill>
                  <a:srgbClr val="7F8C8D"/>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9525">
              <a:solidFill>
                <a:srgbClr val="C3D8CC"/>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Total queued vehicles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7F8C8D"/>
                </a:solidFill>
                <a:latin typeface="Calibri"/>
                <a:ea typeface="Calibri"/>
                <a:cs typeface="Calibri"/>
              </a:defRPr>
            </a:pPr>
          </a:p>
        </c:txPr>
        <c:crossAx val="48650112"/>
        <c:crossBetween val="between"/>
      </c:valAx>
      <c:spPr>
        <a:solidFill xmlns:a="http://schemas.openxmlformats.org/drawingml/2006/main">
          <a:srgbClr val="F4F6F6"/>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92A30"/>
              </a:solidFill>
              <a:latin typeface="Calibri"/>
              <a:ea typeface="Calibri"/>
              <a:cs typeface="Calibri"/>
            </a:defRPr>
          </a:pPr>
        </a:p>
      </c:txPr>
    </c:legend>
    <c:plotVisOnly val="1"/>
  </c:chart>
  <c:spPr>
    <a:solidFill xmlns:a="http://schemas.openxmlformats.org/drawingml/2006/main">
      <a:srgbClr val="F4F6F6"/>
    </a:solidFill>
  </c:sp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3.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16"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7"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8"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9"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54FEBDF-3BE8-42A9-941F-4C5F5A73679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0" y="0"/>
            <a:ext cx="0" cy="0"/>
          </a:xfrm>
          <a:prstGeom prst="rect">
            <a:avLst/>
          </a:prstGeom>
          <a:ln w="0">
            <a:noFill/>
          </a:ln>
        </p:spPr>
      </p:sp>
      <p:sp>
        <p:nvSpPr>
          <p:cNvPr id="36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10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We are Group 87. This presentation reviews the paper and then shows an executed, inspectable implementation of its learning approach.</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62"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0" y="0"/>
            <a:ext cx="0" cy="0"/>
          </a:xfrm>
          <a:prstGeom prst="rect">
            <a:avLst/>
          </a:prstGeom>
          <a:ln w="0">
            <a:noFill/>
          </a:ln>
        </p:spPr>
      </p:sp>
      <p:sp>
        <p:nvSpPr>
          <p:cNvPr id="36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17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aim is to reduce traffic delay while keeping signal changes understandable. Traffic engineers need to see why an action wins and how to adjust it. A black-box neural actuator makes that difficult.</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65"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0" y="0"/>
            <a:ext cx="0" cy="0"/>
          </a:xfrm>
          <a:prstGeom prst="rect">
            <a:avLst/>
          </a:prstGeom>
          <a:ln w="0">
            <a:noFill/>
          </a:ln>
        </p:spPr>
      </p:sp>
      <p:sp>
        <p:nvSpPr>
          <p:cNvPr id="36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17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state describes traffic and current signals. An action selects a valid phase combination. The environment advances traffic and enforces clearance. Reward reflects delay. Learning seeks higher discounted return within those movement constraints.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68"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0" y="0"/>
            <a:ext cx="0" cy="0"/>
          </a:xfrm>
          <a:prstGeom prst="rect">
            <a:avLst/>
          </a:prstGeom>
          <a:ln w="0">
            <a:noFill/>
          </a:ln>
        </p:spPr>
      </p:sp>
      <p:sp>
        <p:nvSpPr>
          <p:cNvPr id="37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17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Compatible movements can share green. Switching may require full, partial or permissive clearance. The simulator enforces the interval, while the score includes a factor for its cost. Learning cannot bypass the conflict rules.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71"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0" y="0"/>
            <a:ext cx="0" cy="0"/>
          </a:xfrm>
          <a:prstGeom prst="rect">
            <a:avLst/>
          </a:prstGeom>
          <a:ln w="0">
            <a:noFill/>
          </a:ln>
        </p:spPr>
      </p:sp>
      <p:sp>
        <p:nvSpPr>
          <p:cNvPr id="3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16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Each action has a precedence score. The largest score wins. At a fixed checkpoint, each input has a consistent direction of influence. This supports inspection without proving every outcome safe or optimal.</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74"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0" y="0"/>
            <a:ext cx="0" cy="0"/>
          </a:xfrm>
          <a:prstGeom prst="rect">
            <a:avLst/>
          </a:prstGeom>
          <a:ln w="0">
            <a:noFill/>
          </a:ln>
        </p:spPr>
      </p:sp>
      <p:sp>
        <p:nvSpPr>
          <p:cNvPr id="37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22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paper combines powered traffic terms with clearance. Our adaptation puts weights outside powers and keeps powers between one and two. With nonnegative inputs and positive clearance, the derivative sign follows the weight. Our actor has 56 parameters, versus 352 in the paper.</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77"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0" y="0"/>
            <a:ext cx="0" cy="0"/>
          </a:xfrm>
          <a:prstGeom prst="rect">
            <a:avLst/>
          </a:prstGeom>
          <a:ln w="0">
            <a:noFill/>
          </a:ln>
        </p:spPr>
      </p:sp>
      <p:sp>
        <p:nvSpPr>
          <p:cNvPr id="37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18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Figure 2 gives 22.53 for westbound through and left terms combined, versus 19.31 eastbound. Westbound wins. The earlier wording incorrectly called 22.53 the left-turn score alone. These are paper values, separate from our measured examples.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80"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0" y="0"/>
            <a:ext cx="0" cy="0"/>
          </a:xfrm>
          <a:prstGeom prst="rect">
            <a:avLst/>
          </a:prstGeom>
          <a:ln w="0">
            <a:noFill/>
          </a:ln>
        </p:spPr>
      </p:sp>
      <p:sp>
        <p:nvSpPr>
          <p:cNvPr id="3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19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G acts from the start, apart from exploration. A DQN teacher learns off-policy from those transitions and supplies targets for G. This separates the learner from the actuator and keeps the deployed decision inspectable during training.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83"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0" y="0"/>
            <a:ext cx="0" cy="0"/>
          </a:xfrm>
          <a:prstGeom prst="rect">
            <a:avLst/>
          </a:prstGeom>
          <a:ln w="0">
            <a:noFill/>
          </a:ln>
        </p:spPr>
      </p:sp>
      <p:sp>
        <p:nvSpPr>
          <p:cNvPr id="38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21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Replay supplies a minibatch. Q learns reward plus the discounted target-network value. Terminal transitions use reward alone. The arithmetic example gives minus 2.30, or minus 0.40 at termination. DRHQ trains G toward the teacher’s best action using cross-entropy. The optimizers are separate.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86"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0" y="0"/>
            <a:ext cx="0" cy="0"/>
          </a:xfrm>
          <a:prstGeom prst="rect">
            <a:avLst/>
          </a:prstGeom>
          <a:ln w="0">
            <a:noFill/>
          </a:ln>
        </p:spPr>
      </p:sp>
      <p:sp>
        <p:nvSpPr>
          <p:cNvPr id="3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18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DRQ fits numerical action values. DRSQ fits soft preferences. DRHQ fits only the best action. Matching the winner asks less of the restricted score function. We compare all three and retain the unsuccessful outcomes.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89"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0" y="0"/>
            <a:ext cx="0" cy="0"/>
          </a:xfrm>
          <a:prstGeom prst="rect">
            <a:avLst/>
          </a:prstGeom>
          <a:ln w="0">
            <a:noFill/>
          </a:ln>
        </p:spPr>
      </p:sp>
      <p:sp>
        <p:nvSpPr>
          <p:cNvPr id="39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Budhdi. Target 14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CMA-ES can tune a strong policy but needs many full episodes. PPO converges more slowly. These are paper comparisons. Our code executes DQN and its three regulatable variants.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92"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0" y="0"/>
            <a:ext cx="0" cy="0"/>
          </a:xfrm>
          <a:prstGeom prst="rect">
            <a:avLst/>
          </a:prstGeom>
          <a:ln w="0">
            <a:noFill/>
          </a:ln>
        </p:spPr>
      </p:sp>
      <p:sp>
        <p:nvSpPr>
          <p:cNvPr id="3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Sumeet. Target 15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paper uses observed Utah demand in SUMO, eleven valid phase pairs and three demand profiles. Its actuated baseline matters. Changing the simulator or baseline changes what an improvement percentage means.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95"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0" y="0"/>
            <a:ext cx="0" cy="0"/>
          </a:xfrm>
          <a:prstGeom prst="rect">
            <a:avLst/>
          </a:prstGeom>
          <a:ln w="0">
            <a:noFill/>
          </a:ln>
        </p:spPr>
      </p:sp>
      <p:sp>
        <p:nvSpPr>
          <p:cNvPr id="39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Sumeet. Target 21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paper reports up to 19.4 percent lower delay for DRHQ against actuated control. DQN performs better but uses a neural actuator. Figure 4 covers thirty seeded trials. Low and medium demand improve after one episode. High demand takes about twenty.</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Ault, Hanna and Sharon, AAMAS 2020. https://arxiv.org/abs/1912.11023. Original supplied paper-review slides.</a:t>
            </a:r>
            <a:endParaRPr lang="en-US" sz="2000" b="0" u="none" strike="noStrike">
              <a:solidFill>
                <a:srgbClr val="000000"/>
              </a:solidFill>
              <a:effectLst/>
              <a:uFillTx/>
              <a:latin typeface="Arial"/>
            </a:endParaRPr>
          </a:p>
        </p:txBody>
      </p:sp>
      <p:sp>
        <p:nvSpPr>
          <p:cNvPr id="398"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0" y="0"/>
            <a:ext cx="0" cy="0"/>
          </a:xfrm>
          <a:prstGeom prst="rect">
            <a:avLst/>
          </a:prstGeom>
          <a:ln w="0">
            <a:noFill/>
          </a:ln>
        </p:spPr>
      </p:sp>
      <p:sp>
        <p:nvSpPr>
          <p:cNvPr id="40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Sumeet. Target 22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Four FIFO queues share two through groups. Three training seeds produce 600 episodes. Frozen evaluation uses 300 rollouts on held-out arrival streams shared between controllers. The metric is waiting inside the horizon per arrival. Unfinished vehicles contribute their existing wait, with future waiting excluded.</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executed local CPU reference results in results/summary.csv, training.csv, examples.json and manifest.json. Simplified FIFO algorithm demonstration. Insert personal Colab screenshots before recording.</a:t>
            </a:r>
            <a:endParaRPr lang="en-US" sz="2000" b="0" u="none" strike="noStrike">
              <a:solidFill>
                <a:srgbClr val="000000"/>
              </a:solidFill>
              <a:effectLst/>
              <a:uFillTx/>
              <a:latin typeface="Arial"/>
            </a:endParaRPr>
          </a:p>
        </p:txBody>
      </p:sp>
      <p:sp>
        <p:nvSpPr>
          <p:cNvPr id="401"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0" y="0"/>
            <a:ext cx="0" cy="0"/>
          </a:xfrm>
          <a:prstGeom prst="rect">
            <a:avLst/>
          </a:prstGeom>
          <a:ln w="0">
            <a:noFill/>
          </a:ln>
        </p:spPr>
      </p:sp>
      <p:sp>
        <p:nvSpPr>
          <p:cNvPr id="40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Sumeet. Target 15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paper assumes reliable sensing and tests one simulated intersection. The authors propose warm-starting from an existing controller. Our demonstration also omits turning, spillback and pedestrians. Field deployment needs wider validation.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executed local CPU reference results in results/summary.csv, training.csv, examples.json and manifest.json. Simplified FIFO algorithm demonstration. Insert personal Colab screenshots before recording.</a:t>
            </a:r>
            <a:endParaRPr lang="en-US" sz="2000" b="0" u="none" strike="noStrike">
              <a:solidFill>
                <a:srgbClr val="000000"/>
              </a:solidFill>
              <a:effectLst/>
              <a:uFillTx/>
              <a:latin typeface="Arial"/>
            </a:endParaRPr>
          </a:p>
        </p:txBody>
      </p:sp>
      <p:sp>
        <p:nvSpPr>
          <p:cNvPr id="404"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0" y="0"/>
            <a:ext cx="0" cy="0"/>
          </a:xfrm>
          <a:prstGeom prst="rect">
            <a:avLst/>
          </a:prstGeom>
          <a:ln w="0">
            <a:noFill/>
          </a:ln>
        </p:spPr>
      </p:sp>
      <p:sp>
        <p:nvSpPr>
          <p:cNvPr id="40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Sumeet. Target 16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notebook provides execution evidence. Thirteen tests cover clearance, accounting, gradients and checkpoints. Sixteen diagnostics cover empty traffic, bursts, reversal and overload. Overload leaves queues as expected. Evaluation checks confirm unchanged model parameters.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executed local CPU reference results in results/summary.csv, training.csv, examples.json and manifest.json. Simplified FIFO algorithm demonstration. Insert personal Colab screenshots before recording.</a:t>
            </a:r>
            <a:endParaRPr lang="en-US" sz="2000" b="0" u="none" strike="noStrike">
              <a:solidFill>
                <a:srgbClr val="000000"/>
              </a:solidFill>
              <a:effectLst/>
              <a:uFillTx/>
              <a:latin typeface="Arial"/>
            </a:endParaRPr>
          </a:p>
        </p:txBody>
      </p:sp>
      <p:sp>
        <p:nvSpPr>
          <p:cNvPr id="407"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0" y="0"/>
            <a:ext cx="0" cy="0"/>
          </a:xfrm>
          <a:prstGeom prst="rect">
            <a:avLst/>
          </a:prstGeom>
          <a:ln w="0">
            <a:noFill/>
          </a:ln>
        </p:spPr>
      </p:sp>
      <p:sp>
        <p:nvSpPr>
          <p:cNvPr id="40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Sumeet. Target 18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Training curves average three seeds and come from saved CSVs. Exploration changes during training, so final claims use frozen evaluation. Poor DRQ performance remains in the full output. The screenshot identifies the actual run.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executed local CPU reference results in results/summary.csv, training.csv, examples.json and manifest.json. Simplified FIFO algorithm demonstration. Insert personal Colab screenshots before recording.</a:t>
            </a:r>
            <a:endParaRPr lang="en-US" sz="2000" b="0" u="none" strike="noStrike">
              <a:solidFill>
                <a:srgbClr val="000000"/>
              </a:solidFill>
              <a:effectLst/>
              <a:uFillTx/>
              <a:latin typeface="Arial"/>
            </a:endParaRPr>
          </a:p>
        </p:txBody>
      </p:sp>
      <p:sp>
        <p:nvSpPr>
          <p:cNvPr id="410"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0" y="0"/>
            <a:ext cx="0" cy="0"/>
          </a:xfrm>
          <a:prstGeom prst="rect">
            <a:avLst/>
          </a:prstGeom>
          <a:ln w="0">
            <a:noFill/>
          </a:ln>
        </p:spPr>
      </p:sp>
      <p:sp>
        <p:nvSpPr>
          <p:cNvPr id="41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Sumeet. Target 22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Balanced demand gives 11.688 seconds for Actuated and 9.828 for DRHQ in the reference run, a 15.92 percent reduction. Its paired interval is 13.60 to 18.42 percent. This reflects held-out demand variation, conditional on the trained models. The Colab screenshot verifies the result.</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executed local CPU reference results in results/summary.csv, training.csv, examples.json and manifest.json. Simplified FIFO algorithm demonstration. Insert personal Colab screenshots before recording.</a:t>
            </a:r>
            <a:endParaRPr lang="en-US" sz="2000" b="0" u="none" strike="noStrike">
              <a:solidFill>
                <a:srgbClr val="000000"/>
              </a:solidFill>
              <a:effectLst/>
              <a:uFillTx/>
              <a:latin typeface="Arial"/>
            </a:endParaRPr>
          </a:p>
        </p:txBody>
      </p:sp>
      <p:sp>
        <p:nvSpPr>
          <p:cNvPr id="413"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0" y="0"/>
            <a:ext cx="0" cy="0"/>
          </a:xfrm>
          <a:prstGeom prst="rect">
            <a:avLst/>
          </a:prstGeom>
          <a:ln w="0">
            <a:noFill/>
          </a:ln>
        </p:spPr>
      </p:sp>
      <p:sp>
        <p:nvSpPr>
          <p:cNvPr id="41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Sumeet. Target 22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At 600 seconds the dominant axis reverses. This trace shows the executed queues for a fixed demonstration seed. Reference DRHQ delay is 8.758 seconds against 10.696 for Actuated, an 18.12 percent reduction. We also inspect pending queues and throughput, retaining the failed DRQ outcome.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executed local CPU reference results in results/summary.csv, training.csv, examples.json and manifest.json. Simplified FIFO algorithm demonstration. Insert personal Colab screenshots before recording.</a:t>
            </a:r>
            <a:endParaRPr lang="en-US" sz="2000" b="0" u="none" strike="noStrike">
              <a:solidFill>
                <a:srgbClr val="000000"/>
              </a:solidFill>
              <a:effectLst/>
              <a:uFillTx/>
              <a:latin typeface="Arial"/>
            </a:endParaRPr>
          </a:p>
        </p:txBody>
      </p:sp>
      <p:sp>
        <p:nvSpPr>
          <p:cNvPr id="416"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0" y="0"/>
            <a:ext cx="0" cy="0"/>
          </a:xfrm>
          <a:prstGeom prst="rect">
            <a:avLst/>
          </a:prstGeom>
          <a:ln w="0">
            <a:noFill/>
          </a:ln>
        </p:spPr>
      </p:sp>
      <p:sp>
        <p:nvSpPr>
          <p:cNvPr id="41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Sumeet. Target 22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At 300 seconds the balanced example selects North/South. At 900 seconds tidal selects East/West. Feature contributions sum to each score. The largest score wins. Three DRHQ checkpoints pass 7,200 derivative-sign checks, conditional on a fixed clearance category. That supports inspection without proving road safety.</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executed local CPU reference results in results/summary.csv, training.csv, examples.json and manifest.json. Simplified FIFO algorithm demonstration. Insert personal Colab screenshots before recording.</a:t>
            </a:r>
            <a:endParaRPr lang="en-US" sz="2000" b="0" u="none" strike="noStrike">
              <a:solidFill>
                <a:srgbClr val="000000"/>
              </a:solidFill>
              <a:effectLst/>
              <a:uFillTx/>
              <a:latin typeface="Arial"/>
            </a:endParaRPr>
          </a:p>
        </p:txBody>
      </p:sp>
      <p:sp>
        <p:nvSpPr>
          <p:cNvPr id="419"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0" y="0"/>
            <a:ext cx="0" cy="0"/>
          </a:xfrm>
          <a:prstGeom prst="rect">
            <a:avLst/>
          </a:prstGeom>
          <a:ln w="0">
            <a:noFill/>
          </a:ln>
        </p:spPr>
      </p:sp>
      <p:sp>
        <p:nvSpPr>
          <p:cNvPr id="42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Both. Target 16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We each show our own completed task and explain its check. Budhdi: insert your actual task and finding. Sumeet: insert your actual task and finding. The screenshots and contribution log identify the work.</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executed local CPU reference results in results/summary.csv, training.csv, examples.json and manifest.json. Simplified FIFO algorithm demonstration. Insert personal Colab screenshots before recording.</a:t>
            </a:r>
            <a:endParaRPr lang="en-US" sz="2000" b="0" u="none" strike="noStrike">
              <a:solidFill>
                <a:srgbClr val="000000"/>
              </a:solidFill>
              <a:effectLst/>
              <a:uFillTx/>
              <a:latin typeface="Arial"/>
            </a:endParaRPr>
          </a:p>
        </p:txBody>
      </p:sp>
      <p:sp>
        <p:nvSpPr>
          <p:cNvPr id="422"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0" y="0"/>
            <a:ext cx="0" cy="0"/>
          </a:xfrm>
          <a:prstGeom prst="rect">
            <a:avLst/>
          </a:prstGeom>
          <a:ln w="0">
            <a:noFill/>
          </a:ln>
        </p:spPr>
      </p:sp>
      <p:sp>
        <p:nvSpPr>
          <p:cNvPr id="42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Sumeet. Target 12 seconds.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DRHQ lets a strong learner guide an inspectable actuator. The references, submitted code and actual recording link support the analysis and its evidence.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Source: executed local CPU reference results in results/summary.csv, training.csv, examples.json and manifest.json. Simplified FIFO algorithm demonstration. Insert personal Colab screenshots before recording.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Before submission: real personal evidence and links must replace the remaining placeholders. PPT and video must each be no more than 10 MB. Video no more than seven minutes. Confirm names and IDs, verify access signed out and make a fresh portal submission.</a:t>
            </a:r>
            <a:endParaRPr lang="en-US" sz="2000" b="0" u="none" strike="noStrike">
              <a:solidFill>
                <a:srgbClr val="000000"/>
              </a:solidFill>
              <a:effectLst/>
              <a:uFillTx/>
              <a:latin typeface="Arial"/>
            </a:endParaRPr>
          </a:p>
        </p:txBody>
      </p:sp>
      <p:sp>
        <p:nvSpPr>
          <p:cNvPr id="425" name="PlaceHolder 3"/>
          <p:cNvSpPr>
            <a:spLocks noGrp="1"/>
          </p:cNvSpPr>
          <p:nvPr>
            <p:ph type="sldNum" idx="2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219320" y="2857680"/>
            <a:ext cx="9753120" cy="1142640"/>
          </a:xfrm>
          <a:prstGeom prst="rect">
            <a:avLst/>
          </a:prstGeom>
          <a:noFill/>
          <a:ln w="0">
            <a:noFill/>
          </a:ln>
        </p:spPr>
        <p:txBody>
          <a:bodyPr lIns="0" tIns="0" rIns="0" bIns="0" anchor="ctr">
            <a:normAutofit/>
          </a:bodyPr>
          <a:lstStyle>
            <a:lvl1pPr indent="0" algn="l">
              <a:buNone/>
              <a:defRPr lang="en-US" sz="4200" b="0" u="none" strike="noStrike">
                <a:solidFill>
                  <a:schemeClr val="dk1"/>
                </a:solidFill>
                <a:effectLst/>
                <a:uFillTx/>
                <a:latin typeface="Aptos"/>
              </a:defRPr>
            </a:lvl1pPr>
          </a:lstStyle>
          <a:p>
            <a:pPr indent="0" algn="l">
              <a:buNone/>
            </a:pPr>
            <a:r>
              <a:rPr lang="en-US" sz="4200" b="0" u="none" strike="noStrike">
                <a:solidFill>
                  <a:schemeClr val="dk1"/>
                </a:solidFill>
                <a:effectLst/>
                <a:uFillTx/>
                <a:latin typeface="Aptos"/>
              </a:rPr>
              <a:t>Click to edit the title text format</a:t>
            </a:r>
            <a:endParaRPr lang="en-US" sz="4200" b="0" u="none" strike="noStrik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219320" y="2590920"/>
            <a:ext cx="9753120" cy="990360"/>
          </a:xfrm>
          <a:prstGeom prst="rect">
            <a:avLst/>
          </a:prstGeom>
          <a:noFill/>
          <a:ln w="0">
            <a:noFill/>
          </a:ln>
        </p:spPr>
        <p:txBody>
          <a:bodyPr lIns="0" tIns="0" rIns="0" bIns="0" anchor="ctr">
            <a:normAutofit/>
          </a:bodyPr>
          <a:lstStyle>
            <a:lvl1pPr indent="0" algn="l">
              <a:buNone/>
              <a:defRPr lang="en-US" sz="4800" b="0" u="none" strike="noStrike">
                <a:solidFill>
                  <a:schemeClr val="dk1"/>
                </a:solidFill>
                <a:effectLst/>
                <a:uFillTx/>
                <a:latin typeface="Aptos"/>
              </a:defRPr>
            </a:lvl1pPr>
          </a:lstStyle>
          <a:p>
            <a:pPr indent="0" algn="l">
              <a:buNone/>
            </a:pPr>
            <a:r>
              <a:rPr lang="en-US" sz="4800" b="0" u="none" strike="noStrike">
                <a:solidFill>
                  <a:schemeClr val="dk1"/>
                </a:solidFill>
                <a:effectLst/>
                <a:uFillTx/>
                <a:latin typeface="Aptos"/>
              </a:rPr>
              <a:t>Click to edit the title text format</a:t>
            </a:r>
            <a:endParaRPr lang="en-US" sz="4800" b="0" u="none" strike="noStrike">
              <a:solidFill>
                <a:schemeClr val="dk1"/>
              </a:solidFill>
              <a:effectLst/>
              <a:uFillTx/>
              <a:latin typeface="Aptos"/>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buNone/>
              <a:defRPr lang="en-US" sz="3300" b="0" u="none" strike="noStrike">
                <a:solidFill>
                  <a:schemeClr val="dk1"/>
                </a:solidFill>
                <a:effectLst/>
                <a:uFillTx/>
                <a:latin typeface="Aptos"/>
              </a:defRPr>
            </a:lvl1pPr>
          </a:lstStyle>
          <a:p>
            <a:pPr indent="0" algn="l">
              <a:buNone/>
            </a:pPr>
            <a:r>
              <a:rPr lang="en-US" sz="3300" b="0" u="none" strike="noStrike">
                <a:solidFill>
                  <a:schemeClr val="dk1"/>
                </a:solidFill>
                <a:effectLst/>
                <a:uFillTx/>
                <a:latin typeface="Aptos"/>
              </a:rPr>
              <a:t>Click to edit the title text format</a:t>
            </a:r>
            <a:endParaRPr lang="en-US" sz="3300" b="0" u="none" strike="noStrike">
              <a:solidFill>
                <a:schemeClr val="dk1"/>
              </a:solidFill>
              <a:effectLst/>
              <a:uFillTx/>
              <a:latin typeface="Aptos"/>
            </a:endParaRPr>
          </a:p>
        </p:txBody>
      </p:sp>
      <p:sp>
        <p:nvSpPr>
          <p:cNvPr id="7" name="PlaceHolder 2"/>
          <p:cNvSpPr>
            <a:spLocks noGrp="1"/>
          </p:cNvSpPr>
          <p:nvPr>
            <p:ph type="body"/>
          </p:nvPr>
        </p:nvSpPr>
        <p:spPr>
          <a:xfrm>
            <a:off x="68580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1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1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1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1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100" b="0" u="none" strike="noStrike">
                <a:solidFill>
                  <a:schemeClr val="dk1"/>
                </a:solidFill>
                <a:effectLst/>
                <a:uFillTx/>
                <a:latin typeface="Aptos"/>
              </a:rPr>
              <a:t>Click to edit the outline text format</a:t>
            </a:r>
            <a:endParaRPr lang="en-US" sz="210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100" b="0" u="none" strike="noStrike">
                <a:solidFill>
                  <a:schemeClr val="dk1"/>
                </a:solidFill>
                <a:effectLst/>
                <a:uFillTx/>
                <a:latin typeface="Aptos"/>
              </a:rPr>
              <a:t>Second Outline Level</a:t>
            </a:r>
            <a:endParaRPr lang="en-US" sz="210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100" b="0" u="none" strike="noStrike">
                <a:solidFill>
                  <a:schemeClr val="dk1"/>
                </a:solidFill>
                <a:effectLst/>
                <a:uFillTx/>
                <a:latin typeface="Aptos"/>
              </a:rPr>
              <a:t>Third Outline Level</a:t>
            </a:r>
            <a:endParaRPr lang="en-US" sz="210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100" b="0" u="none" strike="noStrike">
                <a:solidFill>
                  <a:schemeClr val="dk1"/>
                </a:solidFill>
                <a:effectLst/>
                <a:uFillTx/>
                <a:latin typeface="Aptos"/>
              </a:rPr>
              <a:t>Fourth Outline Level</a:t>
            </a:r>
            <a:endParaRPr lang="en-US" sz="210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Fifth Outline Level</a:t>
            </a:r>
            <a:endParaRPr lang="en-US" sz="210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Sixth Outline Level</a:t>
            </a:r>
            <a:endParaRPr lang="en-US" sz="210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Seventh Outline Level</a:t>
            </a:r>
            <a:endParaRPr lang="en-US" sz="2100" b="0" u="none" strike="noStrike">
              <a:solidFill>
                <a:schemeClr val="dk1"/>
              </a:solidFill>
              <a:effectLst/>
              <a:uFillTx/>
              <a:latin typeface="Aptos"/>
            </a:endParaRPr>
          </a:p>
        </p:txBody>
      </p:sp>
      <p:sp>
        <p:nvSpPr>
          <p:cNvPr id="8" name="PlaceHolder 3"/>
          <p:cNvSpPr>
            <a:spLocks noGrp="1"/>
          </p:cNvSpPr>
          <p:nvPr>
            <p:ph type="body"/>
          </p:nvPr>
        </p:nvSpPr>
        <p:spPr>
          <a:xfrm>
            <a:off x="647712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1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1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1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1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100" b="0" u="none" strike="noStrike">
                <a:solidFill>
                  <a:schemeClr val="dk1"/>
                </a:solidFill>
                <a:effectLst/>
                <a:uFillTx/>
                <a:latin typeface="Aptos"/>
              </a:rPr>
              <a:t>Click to edit the outline text format</a:t>
            </a:r>
            <a:endParaRPr lang="en-US" sz="210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100" b="0" u="none" strike="noStrike">
                <a:solidFill>
                  <a:schemeClr val="dk1"/>
                </a:solidFill>
                <a:effectLst/>
                <a:uFillTx/>
                <a:latin typeface="Aptos"/>
              </a:rPr>
              <a:t>Second Outline Level</a:t>
            </a:r>
            <a:endParaRPr lang="en-US" sz="210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100" b="0" u="none" strike="noStrike">
                <a:solidFill>
                  <a:schemeClr val="dk1"/>
                </a:solidFill>
                <a:effectLst/>
                <a:uFillTx/>
                <a:latin typeface="Aptos"/>
              </a:rPr>
              <a:t>Third Outline Level</a:t>
            </a:r>
            <a:endParaRPr lang="en-US" sz="210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100" b="0" u="none" strike="noStrike">
                <a:solidFill>
                  <a:schemeClr val="dk1"/>
                </a:solidFill>
                <a:effectLst/>
                <a:uFillTx/>
                <a:latin typeface="Aptos"/>
              </a:rPr>
              <a:t>Fourth Outline Level</a:t>
            </a:r>
            <a:endParaRPr lang="en-US" sz="210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Fifth Outline Level</a:t>
            </a:r>
            <a:endParaRPr lang="en-US" sz="210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Sixth Outline Level</a:t>
            </a:r>
            <a:endParaRPr lang="en-US" sz="210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Seventh Outline Level</a:t>
            </a:r>
            <a:endParaRPr lang="en-US" sz="2100" b="0" u="none" strike="noStrik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10"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buNone/>
              <a:defRPr lang="en-US" sz="3300" b="0" u="none" strike="noStrike">
                <a:solidFill>
                  <a:schemeClr val="dk1"/>
                </a:solidFill>
                <a:effectLst/>
                <a:uFillTx/>
                <a:latin typeface="Aptos"/>
              </a:defRPr>
            </a:lvl1pPr>
          </a:lstStyle>
          <a:p>
            <a:pPr indent="0" algn="l">
              <a:buNone/>
            </a:pPr>
            <a:r>
              <a:rPr lang="en-US" sz="3300" b="0" u="none" strike="noStrike">
                <a:solidFill>
                  <a:schemeClr val="dk1"/>
                </a:solidFill>
                <a:effectLst/>
                <a:uFillTx/>
                <a:latin typeface="Aptos"/>
              </a:rPr>
              <a:t>Click to edit the title text format</a:t>
            </a:r>
            <a:endParaRPr lang="en-US" sz="3300" b="0" u="none" strike="noStrike">
              <a:solidFill>
                <a:schemeClr val="dk1"/>
              </a:solidFill>
              <a:effectLst/>
              <a:uFillTx/>
              <a:latin typeface="Aptos"/>
            </a:endParaRPr>
          </a:p>
        </p:txBody>
      </p:sp>
      <p:sp>
        <p:nvSpPr>
          <p:cNvPr id="12" name="PlaceHolder 2"/>
          <p:cNvSpPr>
            <a:spLocks noGrp="1"/>
          </p:cNvSpPr>
          <p:nvPr>
            <p:ph type="body"/>
          </p:nvPr>
        </p:nvSpPr>
        <p:spPr>
          <a:xfrm>
            <a:off x="685800" y="1905120"/>
            <a:ext cx="1082016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25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25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25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25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250" b="0" u="none" strike="noStrike">
                <a:solidFill>
                  <a:schemeClr val="dk1"/>
                </a:solidFill>
                <a:effectLst/>
                <a:uFillTx/>
                <a:latin typeface="Aptos"/>
              </a:rPr>
              <a:t>Click to edit the outline text format</a:t>
            </a:r>
            <a:endParaRPr lang="en-US" sz="225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250" b="0" u="none" strike="noStrike">
                <a:solidFill>
                  <a:schemeClr val="dk1"/>
                </a:solidFill>
                <a:effectLst/>
                <a:uFillTx/>
                <a:latin typeface="Aptos"/>
              </a:rPr>
              <a:t>Second Outline Level</a:t>
            </a:r>
            <a:endParaRPr lang="en-US" sz="225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250" b="0" u="none" strike="noStrike">
                <a:solidFill>
                  <a:schemeClr val="dk1"/>
                </a:solidFill>
                <a:effectLst/>
                <a:uFillTx/>
                <a:latin typeface="Aptos"/>
              </a:rPr>
              <a:t>Third Outline Level</a:t>
            </a:r>
            <a:endParaRPr lang="en-US" sz="225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250" b="0" u="none" strike="noStrike">
                <a:solidFill>
                  <a:schemeClr val="dk1"/>
                </a:solidFill>
                <a:effectLst/>
                <a:uFillTx/>
                <a:latin typeface="Aptos"/>
              </a:rPr>
              <a:t>Fourth Outline Level</a:t>
            </a:r>
            <a:endParaRPr lang="en-US" sz="225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Fifth Outline Level</a:t>
            </a:r>
            <a:endParaRPr lang="en-US" sz="225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Sixth Outline Level</a:t>
            </a:r>
            <a:endParaRPr lang="en-US" sz="225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Seventh Outline Level</a:t>
            </a:r>
            <a:endParaRPr lang="en-US" sz="2250" b="0" u="none" strike="noStrike">
              <a:solidFill>
                <a:schemeClr val="dk1"/>
              </a:solidFill>
              <a:effectLst/>
              <a:uFillTx/>
              <a:latin typeface="Aptos"/>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One Colum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buNone/>
              <a:defRPr lang="en-US" sz="3300" b="0" u="none" strike="noStrike">
                <a:solidFill>
                  <a:schemeClr val="dk1"/>
                </a:solidFill>
                <a:effectLst/>
                <a:uFillTx/>
                <a:latin typeface="Aptos"/>
              </a:defRPr>
            </a:lvl1pPr>
          </a:lstStyle>
          <a:p>
            <a:pPr indent="0" algn="l">
              <a:buNone/>
            </a:pPr>
            <a:r>
              <a:rPr lang="en-US" sz="3300" b="0" u="none" strike="noStrike">
                <a:solidFill>
                  <a:schemeClr val="dk1"/>
                </a:solidFill>
                <a:effectLst/>
                <a:uFillTx/>
                <a:latin typeface="Aptos"/>
              </a:rPr>
              <a:t>Click to edit the title text format</a:t>
            </a:r>
            <a:endParaRPr lang="en-US" sz="3300" b="0" u="none" strike="noStrike">
              <a:solidFill>
                <a:schemeClr val="dk1"/>
              </a:solidFill>
              <a:effectLst/>
              <a:uFillTx/>
              <a:latin typeface="Aptos"/>
            </a:endParaRPr>
          </a:p>
        </p:txBody>
      </p:sp>
      <p:sp>
        <p:nvSpPr>
          <p:cNvPr id="14" name="PlaceHolder 2"/>
          <p:cNvSpPr>
            <a:spLocks noGrp="1"/>
          </p:cNvSpPr>
          <p:nvPr>
            <p:ph type="body"/>
          </p:nvPr>
        </p:nvSpPr>
        <p:spPr>
          <a:xfrm>
            <a:off x="68580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25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25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25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25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250" b="0" u="none" strike="noStrike">
                <a:solidFill>
                  <a:schemeClr val="dk1"/>
                </a:solidFill>
                <a:effectLst/>
                <a:uFillTx/>
                <a:latin typeface="Aptos"/>
              </a:rPr>
              <a:t>Click to edit the outline text format</a:t>
            </a:r>
            <a:endParaRPr lang="en-US" sz="225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250" b="0" u="none" strike="noStrike">
                <a:solidFill>
                  <a:schemeClr val="dk1"/>
                </a:solidFill>
                <a:effectLst/>
                <a:uFillTx/>
                <a:latin typeface="Aptos"/>
              </a:rPr>
              <a:t>Second Outline Level</a:t>
            </a:r>
            <a:endParaRPr lang="en-US" sz="225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250" b="0" u="none" strike="noStrike">
                <a:solidFill>
                  <a:schemeClr val="dk1"/>
                </a:solidFill>
                <a:effectLst/>
                <a:uFillTx/>
                <a:latin typeface="Aptos"/>
              </a:rPr>
              <a:t>Third Outline Level</a:t>
            </a:r>
            <a:endParaRPr lang="en-US" sz="225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250" b="0" u="none" strike="noStrike">
                <a:solidFill>
                  <a:schemeClr val="dk1"/>
                </a:solidFill>
                <a:effectLst/>
                <a:uFillTx/>
                <a:latin typeface="Aptos"/>
              </a:rPr>
              <a:t>Fourth Outline Level</a:t>
            </a:r>
            <a:endParaRPr lang="en-US" sz="225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Fifth Outline Level</a:t>
            </a:r>
            <a:endParaRPr lang="en-US" sz="225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Sixth Outline Level</a:t>
            </a:r>
            <a:endParaRPr lang="en-US" sz="225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Seventh Outline Level</a:t>
            </a:r>
            <a:endParaRPr lang="en-US" sz="225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5.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5.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5.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22A"/>
        </a:solidFill>
      </p:bgPr>
    </p:bg>
    <p:spTree>
      <p:nvGrpSpPr>
        <p:cNvPr id="1" name=""/>
        <p:cNvGrpSpPr/>
        <p:nvPr/>
      </p:nvGrpSpPr>
      <p:grpSpPr>
        <a:xfrm>
          <a:off x="0" y="0"/>
          <a:ext cx="0" cy="0"/>
          <a:chOff x="0" y="0"/>
          <a:chExt cx="0" cy="0"/>
        </a:xfrm>
      </p:grpSpPr>
      <p:sp>
        <p:nvSpPr>
          <p:cNvPr id="21" name="Shape 0"/>
          <p:cNvSpPr/>
          <p:nvPr/>
        </p:nvSpPr>
        <p:spPr>
          <a:xfrm rot="1200000">
            <a:off x="8778240" y="-1096920"/>
            <a:ext cx="5486040" cy="9143640"/>
          </a:xfrm>
          <a:prstGeom prst="rect">
            <a:avLst/>
          </a:prstGeom>
          <a:solidFill>
            <a:srgbClr val="1B2A3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2" name="Text 1"/>
          <p:cNvSpPr/>
          <p:nvPr/>
        </p:nvSpPr>
        <p:spPr>
          <a:xfrm>
            <a:off x="621720" y="1234440"/>
            <a:ext cx="8686440" cy="159984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en-US" sz="4000" b="1" u="none" strike="noStrike">
                <a:solidFill>
                  <a:srgbClr val="FFFFFF"/>
                </a:solidFill>
                <a:effectLst/>
                <a:uFillTx/>
                <a:latin typeface="Georgia"/>
                <a:ea typeface="Georgia"/>
              </a:rPr>
              <a:t>Learning an Interpretable</a:t>
            </a:r>
            <a:endParaRPr lang="en-US" sz="4000" b="0" u="none" strike="noStrike">
              <a:solidFill>
                <a:srgbClr val="FFFFFF"/>
              </a:solidFill>
              <a:effectLst/>
              <a:uFillTx/>
              <a:latin typeface="Arial"/>
            </a:endParaRPr>
          </a:p>
          <a:p>
            <a:pPr defTabSz="914400">
              <a:lnSpc>
                <a:spcPct val="105000"/>
              </a:lnSpc>
              <a:tabLst>
                <a:tab pos="0" algn="l"/>
              </a:tabLst>
            </a:pPr>
            <a:r>
              <a:rPr lang="en-US" sz="4000" b="1" u="none" strike="noStrike">
                <a:solidFill>
                  <a:srgbClr val="FFFFFF"/>
                </a:solidFill>
                <a:effectLst/>
                <a:uFillTx/>
                <a:latin typeface="Georgia"/>
                <a:ea typeface="Georgia"/>
              </a:rPr>
              <a:t>Traffic Signal Control Policy</a:t>
            </a:r>
            <a:endParaRPr lang="en-US" sz="4000" b="0" u="none" strike="noStrike">
              <a:solidFill>
                <a:srgbClr val="FFFFFF"/>
              </a:solidFill>
              <a:effectLst/>
              <a:uFillTx/>
              <a:latin typeface="Arial"/>
            </a:endParaRPr>
          </a:p>
        </p:txBody>
      </p:sp>
      <p:sp>
        <p:nvSpPr>
          <p:cNvPr id="23" name="Text 2"/>
          <p:cNvSpPr/>
          <p:nvPr/>
        </p:nvSpPr>
        <p:spPr>
          <a:xfrm>
            <a:off x="621720" y="2880360"/>
            <a:ext cx="7314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07C41"/>
                </a:solidFill>
                <a:effectLst/>
                <a:uFillTx/>
                <a:latin typeface="Calibri"/>
                <a:ea typeface="Calibri"/>
              </a:rPr>
              <a:t>Deep Reinforcement Learning Assignment-1</a:t>
            </a:r>
            <a:endParaRPr lang="en-US" sz="1700" b="0" u="none" strike="noStrike">
              <a:solidFill>
                <a:srgbClr val="FFFFFF"/>
              </a:solidFill>
              <a:effectLst/>
              <a:uFillTx/>
              <a:latin typeface="Arial"/>
            </a:endParaRPr>
          </a:p>
        </p:txBody>
      </p:sp>
      <p:sp>
        <p:nvSpPr>
          <p:cNvPr id="24" name="Text 3"/>
          <p:cNvSpPr/>
          <p:nvPr/>
        </p:nvSpPr>
        <p:spPr>
          <a:xfrm>
            <a:off x="621720" y="3291840"/>
            <a:ext cx="7772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9AA5AA"/>
                </a:solidFill>
                <a:effectLst/>
                <a:uFillTx/>
                <a:latin typeface="Calibri"/>
                <a:ea typeface="Calibri"/>
              </a:rPr>
              <a:t>Reference Paper: AAMAS 2020 | James Ault, Josiah P. Hanna, Guni Sharon</a:t>
            </a:r>
            <a:endParaRPr lang="en-US" sz="1250" b="0" u="none" strike="noStrike">
              <a:solidFill>
                <a:srgbClr val="FFFFFF"/>
              </a:solidFill>
              <a:effectLst/>
              <a:uFillTx/>
              <a:latin typeface="Arial"/>
            </a:endParaRPr>
          </a:p>
        </p:txBody>
      </p:sp>
      <p:sp>
        <p:nvSpPr>
          <p:cNvPr id="25" name="Shape 4"/>
          <p:cNvSpPr/>
          <p:nvPr/>
        </p:nvSpPr>
        <p:spPr>
          <a:xfrm>
            <a:off x="621720" y="3977640"/>
            <a:ext cx="5486040" cy="1462680"/>
          </a:xfrm>
          <a:prstGeom prst="roundRect">
            <a:avLst>
              <a:gd name="adj" fmla="val 5000"/>
            </a:avLst>
          </a:prstGeom>
          <a:solidFill>
            <a:srgbClr val="233643"/>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 name="Text 5"/>
          <p:cNvSpPr/>
          <p:nvPr/>
        </p:nvSpPr>
        <p:spPr>
          <a:xfrm>
            <a:off x="621720" y="4114800"/>
            <a:ext cx="54860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07C41"/>
                </a:solidFill>
                <a:effectLst/>
                <a:uFillTx/>
                <a:latin typeface="Calibri"/>
                <a:ea typeface="Calibri"/>
              </a:rPr>
              <a:t>GROUP 87</a:t>
            </a:r>
            <a:endParaRPr lang="en-US" sz="1300" b="0" u="none" strike="noStrike">
              <a:solidFill>
                <a:srgbClr val="FFFFFF"/>
              </a:solidFill>
              <a:effectLst/>
              <a:uFillTx/>
              <a:latin typeface="Arial"/>
            </a:endParaRPr>
          </a:p>
        </p:txBody>
      </p:sp>
      <p:sp>
        <p:nvSpPr>
          <p:cNvPr id="27" name="Text 6"/>
          <p:cNvSpPr/>
          <p:nvPr/>
        </p:nvSpPr>
        <p:spPr>
          <a:xfrm>
            <a:off x="896040" y="4434840"/>
            <a:ext cx="49374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CONTRIBUTORS &amp; BITS ID PANEL:</a:t>
            </a:r>
            <a:endParaRPr lang="en-US" sz="1200" b="0" u="none" strike="noStrike">
              <a:solidFill>
                <a:srgbClr val="FFFFFF"/>
              </a:solidFill>
              <a:effectLst/>
              <a:uFillTx/>
              <a:latin typeface="Arial"/>
            </a:endParaRPr>
          </a:p>
        </p:txBody>
      </p:sp>
      <p:sp>
        <p:nvSpPr>
          <p:cNvPr id="28" name="Text 7"/>
          <p:cNvSpPr/>
          <p:nvPr/>
        </p:nvSpPr>
        <p:spPr>
          <a:xfrm>
            <a:off x="896040" y="4709160"/>
            <a:ext cx="4937400" cy="548280"/>
          </a:xfrm>
          <a:prstGeom prst="rect">
            <a:avLst/>
          </a:prstGeom>
          <a:noFill/>
          <a:ln w="0">
            <a:noFill/>
          </a:ln>
        </p:spPr>
        <p:style>
          <a:lnRef idx="0"/>
          <a:fillRef idx="0"/>
          <a:effectRef idx="0"/>
          <a:fontRef idx="minor"/>
        </p:style>
        <p:txBody>
          <a:bodyPr lIns="0" tIns="0" rIns="0" bIns="0" anchor="ctr">
            <a:noAutofit/>
          </a:bodyPr>
          <a:p>
            <a:pPr defTabSz="914400">
              <a:lnSpc>
                <a:spcPct val="120000"/>
              </a:lnSpc>
              <a:tabLst>
                <a:tab pos="0" algn="l"/>
              </a:tabLst>
            </a:pPr>
            <a:r>
              <a:rPr lang="en-US" sz="1150" b="0" u="none" strike="noStrike">
                <a:solidFill>
                  <a:srgbClr val="D6DADB"/>
                </a:solidFill>
                <a:effectLst/>
                <a:uFillTx/>
                <a:latin typeface="Calibri"/>
                <a:ea typeface="Calibri"/>
              </a:rPr>
              <a:t>1. BUDHDI PRAKASH SHARMA   (BITS ID: 2025AG05273)</a:t>
            </a:r>
            <a:endParaRPr lang="en-US" sz="1150" b="0" u="none" strike="noStrike">
              <a:solidFill>
                <a:srgbClr val="FFFFFF"/>
              </a:solidFill>
              <a:effectLst/>
              <a:uFillTx/>
              <a:latin typeface="Arial"/>
            </a:endParaRPr>
          </a:p>
          <a:p>
            <a:pPr defTabSz="914400">
              <a:lnSpc>
                <a:spcPct val="100000"/>
              </a:lnSpc>
              <a:tabLst>
                <a:tab pos="0" algn="l"/>
              </a:tabLst>
            </a:pPr>
            <a:r>
              <a:rPr lang="en-US" sz="1150" b="0" u="none" strike="noStrike">
                <a:solidFill>
                  <a:srgbClr val="D6DADB"/>
                </a:solidFill>
                <a:effectLst/>
                <a:uFillTx/>
                <a:latin typeface="Calibri"/>
                <a:ea typeface="Calibri"/>
              </a:rPr>
              <a:t>2. SUMEET KULKARNI   (BITS ID: 2025AG05175)</a:t>
            </a:r>
            <a:endParaRPr lang="en-US" sz="11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29" name="Text 0"/>
          <p:cNvSpPr/>
          <p:nvPr/>
        </p:nvSpPr>
        <p:spPr>
          <a:xfrm>
            <a:off x="457200" y="292680"/>
            <a:ext cx="11274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192A30"/>
                </a:solidFill>
                <a:effectLst/>
                <a:uFillTx/>
                <a:latin typeface="Calibri"/>
                <a:ea typeface="Calibri"/>
              </a:rPr>
              <a:t>Why This Problem Matters</a:t>
            </a:r>
            <a:endParaRPr lang="en-US" sz="2200" b="0" u="none" strike="noStrike">
              <a:solidFill>
                <a:srgbClr val="000000"/>
              </a:solidFill>
              <a:effectLst/>
              <a:uFillTx/>
              <a:latin typeface="Arial"/>
            </a:endParaRPr>
          </a:p>
        </p:txBody>
      </p:sp>
      <p:sp>
        <p:nvSpPr>
          <p:cNvPr id="30" name="Text 1"/>
          <p:cNvSpPr/>
          <p:nvPr/>
        </p:nvSpPr>
        <p:spPr>
          <a:xfrm>
            <a:off x="457200" y="713160"/>
            <a:ext cx="11274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92A30"/>
                </a:solidFill>
                <a:effectLst/>
                <a:uFillTx/>
                <a:latin typeface="Calibri"/>
                <a:ea typeface="Calibri"/>
              </a:rPr>
              <a:t>PROBLEM &amp; MOTIVATION</a:t>
            </a:r>
            <a:endParaRPr lang="en-US" sz="1300" b="0" u="none" strike="noStrike">
              <a:solidFill>
                <a:srgbClr val="000000"/>
              </a:solidFill>
              <a:effectLst/>
              <a:uFillTx/>
              <a:latin typeface="Arial"/>
            </a:endParaRPr>
          </a:p>
        </p:txBody>
      </p:sp>
      <p:sp>
        <p:nvSpPr>
          <p:cNvPr id="31" name="Shape 2"/>
          <p:cNvSpPr/>
          <p:nvPr/>
        </p:nvSpPr>
        <p:spPr>
          <a:xfrm>
            <a:off x="457200" y="1600200"/>
            <a:ext cx="5211720" cy="4205880"/>
          </a:xfrm>
          <a:prstGeom prst="roundRect">
            <a:avLst>
              <a:gd name="adj" fmla="val 2609"/>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 name="Shape 3"/>
          <p:cNvSpPr/>
          <p:nvPr/>
        </p:nvSpPr>
        <p:spPr>
          <a:xfrm>
            <a:off x="65844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3" name="Text 4"/>
          <p:cNvSpPr/>
          <p:nvPr/>
        </p:nvSpPr>
        <p:spPr>
          <a:xfrm>
            <a:off x="65844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34" name="Text 5"/>
          <p:cNvSpPr/>
          <p:nvPr/>
        </p:nvSpPr>
        <p:spPr>
          <a:xfrm>
            <a:off x="1115640" y="1783080"/>
            <a:ext cx="43887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92A30"/>
                </a:solidFill>
                <a:effectLst/>
                <a:uFillTx/>
                <a:latin typeface="Calibri"/>
                <a:ea typeface="Calibri"/>
              </a:rPr>
              <a:t>Why Optimize Traffic Signals</a:t>
            </a:r>
            <a:endParaRPr lang="en-US" sz="1300" b="0" u="none" strike="noStrike">
              <a:solidFill>
                <a:srgbClr val="000000"/>
              </a:solidFill>
              <a:effectLst/>
              <a:uFillTx/>
              <a:latin typeface="Arial"/>
            </a:endParaRPr>
          </a:p>
        </p:txBody>
      </p:sp>
      <p:sp>
        <p:nvSpPr>
          <p:cNvPr id="35" name="Text 6"/>
          <p:cNvSpPr/>
          <p:nvPr/>
        </p:nvSpPr>
        <p:spPr>
          <a:xfrm>
            <a:off x="749880" y="2377440"/>
            <a:ext cx="4617360" cy="3291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Signalized intersections can account for 12–55% of urban commute travel-time delay (stopped or approach delay).</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Better signal policies cut delay, congestion, fuel use, and emissions — without major infrastructure changes.</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Traffic control is safety-critical: any actuation policy must respect non-conflicting movements and clearance rules.</a:t>
            </a:r>
            <a:endParaRPr lang="en-US" sz="1250" b="0" u="none" strike="noStrike">
              <a:solidFill>
                <a:srgbClr val="000000"/>
              </a:solidFill>
              <a:effectLst/>
              <a:uFillTx/>
              <a:latin typeface="Arial"/>
            </a:endParaRPr>
          </a:p>
        </p:txBody>
      </p:sp>
      <p:sp>
        <p:nvSpPr>
          <p:cNvPr id="36" name="Shape 7"/>
          <p:cNvSpPr/>
          <p:nvPr/>
        </p:nvSpPr>
        <p:spPr>
          <a:xfrm>
            <a:off x="6035040" y="1600200"/>
            <a:ext cx="5211720" cy="4205880"/>
          </a:xfrm>
          <a:prstGeom prst="roundRect">
            <a:avLst>
              <a:gd name="adj" fmla="val 2609"/>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7" name="Shape 8"/>
          <p:cNvSpPr/>
          <p:nvPr/>
        </p:nvSpPr>
        <p:spPr>
          <a:xfrm>
            <a:off x="623628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8" name="Text 9"/>
          <p:cNvSpPr/>
          <p:nvPr/>
        </p:nvSpPr>
        <p:spPr>
          <a:xfrm>
            <a:off x="623628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39" name="Text 10"/>
          <p:cNvSpPr/>
          <p:nvPr/>
        </p:nvSpPr>
        <p:spPr>
          <a:xfrm>
            <a:off x="6693480" y="1783080"/>
            <a:ext cx="43887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92A30"/>
                </a:solidFill>
                <a:effectLst/>
                <a:uFillTx/>
                <a:latin typeface="Calibri"/>
                <a:ea typeface="Calibri"/>
              </a:rPr>
              <a:t>Why Standard Deep RL Isn’t Enough</a:t>
            </a:r>
            <a:endParaRPr lang="en-US" sz="1300" b="0" u="none" strike="noStrike">
              <a:solidFill>
                <a:srgbClr val="000000"/>
              </a:solidFill>
              <a:effectLst/>
              <a:uFillTx/>
              <a:latin typeface="Arial"/>
            </a:endParaRPr>
          </a:p>
        </p:txBody>
      </p:sp>
      <p:sp>
        <p:nvSpPr>
          <p:cNvPr id="40" name="Text 11"/>
          <p:cNvSpPr/>
          <p:nvPr/>
        </p:nvSpPr>
        <p:spPr>
          <a:xfrm>
            <a:off x="6327720" y="2377440"/>
            <a:ext cx="4617360" cy="3291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Prior work (DQN-based controllers) shows strong delay reduction, but the underlying policy is a black-box DNN.</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DNNs lack an interpretable inference process — agencies can’t audit why a light changed.</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Core question this paper asks: can we keep most of Deep RL’s performance while executing a policy a human can inspect and regulate?</a:t>
            </a:r>
            <a:endParaRPr lang="en-US" sz="1250" b="0" u="none" strike="noStrike">
              <a:solidFill>
                <a:srgbClr val="000000"/>
              </a:solidFill>
              <a:effectLst/>
              <a:uFillTx/>
              <a:latin typeface="Arial"/>
            </a:endParaRPr>
          </a:p>
        </p:txBody>
      </p:sp>
      <p:sp>
        <p:nvSpPr>
          <p:cNvPr id="41" name="Text 12"/>
          <p:cNvSpPr/>
          <p:nvPr/>
        </p:nvSpPr>
        <p:spPr>
          <a:xfrm>
            <a:off x="457200" y="640080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7F8C8D"/>
                </a:solidFill>
                <a:effectLst/>
                <a:uFillTx/>
                <a:latin typeface="Arial"/>
                <a:ea typeface="Arial"/>
              </a:rPr>
              <a:t>BITS Pilani | Deep Reinforcement Learning (WILP) | Assignment - I</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42" name="Text 0"/>
          <p:cNvSpPr/>
          <p:nvPr/>
        </p:nvSpPr>
        <p:spPr>
          <a:xfrm>
            <a:off x="457200" y="292680"/>
            <a:ext cx="11274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192A30"/>
                </a:solidFill>
                <a:effectLst/>
                <a:uFillTx/>
                <a:latin typeface="Calibri"/>
                <a:ea typeface="Calibri"/>
              </a:rPr>
              <a:t>Traffic Signal Control as an MDP</a:t>
            </a:r>
            <a:endParaRPr lang="en-US" sz="2200" b="0" u="none" strike="noStrike">
              <a:solidFill>
                <a:srgbClr val="000000"/>
              </a:solidFill>
              <a:effectLst/>
              <a:uFillTx/>
              <a:latin typeface="Arial"/>
            </a:endParaRPr>
          </a:p>
        </p:txBody>
      </p:sp>
      <p:sp>
        <p:nvSpPr>
          <p:cNvPr id="43" name="Text 1"/>
          <p:cNvSpPr/>
          <p:nvPr/>
        </p:nvSpPr>
        <p:spPr>
          <a:xfrm>
            <a:off x="457200" y="713160"/>
            <a:ext cx="11274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92A30"/>
                </a:solidFill>
                <a:effectLst/>
                <a:uFillTx/>
                <a:latin typeface="Calibri"/>
                <a:ea typeface="Calibri"/>
              </a:rPr>
              <a:t>DRL FORMULATION</a:t>
            </a:r>
            <a:endParaRPr lang="en-US" sz="1300" b="0" u="none" strike="noStrike">
              <a:solidFill>
                <a:srgbClr val="000000"/>
              </a:solidFill>
              <a:effectLst/>
              <a:uFillTx/>
              <a:latin typeface="Arial"/>
            </a:endParaRPr>
          </a:p>
        </p:txBody>
      </p:sp>
      <p:sp>
        <p:nvSpPr>
          <p:cNvPr id="44" name="Shape 2"/>
          <p:cNvSpPr/>
          <p:nvPr/>
        </p:nvSpPr>
        <p:spPr>
          <a:xfrm>
            <a:off x="457200" y="1554480"/>
            <a:ext cx="2633040" cy="3931560"/>
          </a:xfrm>
          <a:prstGeom prst="roundRect">
            <a:avLst>
              <a:gd name="adj" fmla="val 4167"/>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5" name="Shape 3"/>
          <p:cNvSpPr/>
          <p:nvPr/>
        </p:nvSpPr>
        <p:spPr>
          <a:xfrm>
            <a:off x="1517760" y="1810440"/>
            <a:ext cx="511560" cy="51156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6" name="Text 4"/>
          <p:cNvSpPr/>
          <p:nvPr/>
        </p:nvSpPr>
        <p:spPr>
          <a:xfrm>
            <a:off x="1517760" y="1810440"/>
            <a:ext cx="511560" cy="511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S</a:t>
            </a:r>
            <a:endParaRPr lang="en-US" sz="2000" b="0" u="none" strike="noStrike">
              <a:solidFill>
                <a:srgbClr val="000000"/>
              </a:solidFill>
              <a:effectLst/>
              <a:uFillTx/>
              <a:latin typeface="Arial"/>
            </a:endParaRPr>
          </a:p>
        </p:txBody>
      </p:sp>
      <p:sp>
        <p:nvSpPr>
          <p:cNvPr id="47" name="Text 5"/>
          <p:cNvSpPr/>
          <p:nvPr/>
        </p:nvSpPr>
        <p:spPr>
          <a:xfrm>
            <a:off x="594360" y="2468880"/>
            <a:ext cx="23587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92A30"/>
                </a:solidFill>
                <a:effectLst/>
                <a:uFillTx/>
                <a:latin typeface="Calibri"/>
                <a:ea typeface="Calibri"/>
              </a:rPr>
              <a:t>State</a:t>
            </a:r>
            <a:endParaRPr lang="en-US" sz="1400" b="0" u="none" strike="noStrike">
              <a:solidFill>
                <a:srgbClr val="000000"/>
              </a:solidFill>
              <a:effectLst/>
              <a:uFillTx/>
              <a:latin typeface="Arial"/>
            </a:endParaRPr>
          </a:p>
        </p:txBody>
      </p:sp>
      <p:sp>
        <p:nvSpPr>
          <p:cNvPr id="48" name="Text 6"/>
          <p:cNvSpPr/>
          <p:nvPr/>
        </p:nvSpPr>
        <p:spPr>
          <a:xfrm>
            <a:off x="658440" y="2880360"/>
            <a:ext cx="2230920" cy="2468520"/>
          </a:xfrm>
          <a:prstGeom prst="rect">
            <a:avLst/>
          </a:prstGeom>
          <a:noFill/>
          <a:ln w="0">
            <a:noFill/>
          </a:ln>
        </p:spPr>
        <p:style>
          <a:lnRef idx="0"/>
          <a:fillRef idx="0"/>
          <a:effectRef idx="0"/>
          <a:fontRef idx="minor"/>
        </p:style>
        <p:txBody>
          <a:bodyPr lIns="0" tIns="0" rIns="0" bIns="0" anchor="ctr">
            <a:noAutofit/>
          </a:bodyPr>
          <a:p>
            <a:pPr defTabSz="914400">
              <a:lnSpc>
                <a:spcPct val="112000"/>
              </a:lnSpc>
              <a:tabLst>
                <a:tab pos="0" algn="l"/>
              </a:tabLst>
            </a:pPr>
            <a:r>
              <a:rPr lang="en-US" sz="1080" b="0" u="none" strike="noStrike">
                <a:solidFill>
                  <a:srgbClr val="192A30"/>
                </a:solidFill>
                <a:effectLst/>
                <a:uFillTx/>
                <a:latin typeface="Calibri"/>
                <a:ea typeface="Calibri"/>
              </a:rPr>
              <a:t>6 phase-dependent variables per phase: stopped vehicles, approaching vehicles, cumulative stopped time, average stopped time, average queue length, average approach speed.</a:t>
            </a:r>
            <a:endParaRPr lang="en-US" sz="1080" b="0" u="none" strike="noStrike">
              <a:solidFill>
                <a:srgbClr val="000000"/>
              </a:solidFill>
              <a:effectLst/>
              <a:uFillTx/>
              <a:latin typeface="Arial"/>
            </a:endParaRPr>
          </a:p>
        </p:txBody>
      </p:sp>
      <p:sp>
        <p:nvSpPr>
          <p:cNvPr id="49" name="Shape 7"/>
          <p:cNvSpPr/>
          <p:nvPr/>
        </p:nvSpPr>
        <p:spPr>
          <a:xfrm>
            <a:off x="3227760" y="1554480"/>
            <a:ext cx="2633040" cy="3931560"/>
          </a:xfrm>
          <a:prstGeom prst="roundRect">
            <a:avLst>
              <a:gd name="adj" fmla="val 4167"/>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0" name="Shape 8"/>
          <p:cNvSpPr/>
          <p:nvPr/>
        </p:nvSpPr>
        <p:spPr>
          <a:xfrm>
            <a:off x="4288680" y="1810440"/>
            <a:ext cx="511560" cy="51156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1" name="Text 9"/>
          <p:cNvSpPr/>
          <p:nvPr/>
        </p:nvSpPr>
        <p:spPr>
          <a:xfrm>
            <a:off x="4288680" y="1810440"/>
            <a:ext cx="511560" cy="511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A</a:t>
            </a:r>
            <a:endParaRPr lang="en-US" sz="2000" b="0" u="none" strike="noStrike">
              <a:solidFill>
                <a:srgbClr val="000000"/>
              </a:solidFill>
              <a:effectLst/>
              <a:uFillTx/>
              <a:latin typeface="Arial"/>
            </a:endParaRPr>
          </a:p>
        </p:txBody>
      </p:sp>
      <p:sp>
        <p:nvSpPr>
          <p:cNvPr id="52" name="Text 10"/>
          <p:cNvSpPr/>
          <p:nvPr/>
        </p:nvSpPr>
        <p:spPr>
          <a:xfrm>
            <a:off x="3364920" y="2468880"/>
            <a:ext cx="23587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92A30"/>
                </a:solidFill>
                <a:effectLst/>
                <a:uFillTx/>
                <a:latin typeface="Calibri"/>
                <a:ea typeface="Calibri"/>
              </a:rPr>
              <a:t>Action</a:t>
            </a:r>
            <a:endParaRPr lang="en-US" sz="1400" b="0" u="none" strike="noStrike">
              <a:solidFill>
                <a:srgbClr val="000000"/>
              </a:solidFill>
              <a:effectLst/>
              <a:uFillTx/>
              <a:latin typeface="Arial"/>
            </a:endParaRPr>
          </a:p>
        </p:txBody>
      </p:sp>
      <p:sp>
        <p:nvSpPr>
          <p:cNvPr id="53" name="Text 11"/>
          <p:cNvSpPr/>
          <p:nvPr/>
        </p:nvSpPr>
        <p:spPr>
          <a:xfrm>
            <a:off x="3429000" y="2880360"/>
            <a:ext cx="2230920" cy="2468520"/>
          </a:xfrm>
          <a:prstGeom prst="rect">
            <a:avLst/>
          </a:prstGeom>
          <a:noFill/>
          <a:ln w="0">
            <a:noFill/>
          </a:ln>
        </p:spPr>
        <p:style>
          <a:lnRef idx="0"/>
          <a:fillRef idx="0"/>
          <a:effectRef idx="0"/>
          <a:fontRef idx="minor"/>
        </p:style>
        <p:txBody>
          <a:bodyPr lIns="0" tIns="0" rIns="0" bIns="0" anchor="ctr">
            <a:noAutofit/>
          </a:bodyPr>
          <a:p>
            <a:pPr defTabSz="914400">
              <a:lnSpc>
                <a:spcPct val="112000"/>
              </a:lnSpc>
              <a:tabLst>
                <a:tab pos="0" algn="l"/>
              </a:tabLst>
            </a:pPr>
            <a:r>
              <a:rPr lang="en-US" sz="1080" b="0" u="none" strike="noStrike">
                <a:solidFill>
                  <a:srgbClr val="192A30"/>
                </a:solidFill>
                <a:effectLst/>
                <a:uFillTx/>
                <a:latin typeface="Calibri"/>
                <a:ea typeface="Calibri"/>
              </a:rPr>
              <a:t>Choose the next valid non-conflicting phase combination for at least the minimum phase length; conflicting movements are excluded by the environment.</a:t>
            </a:r>
            <a:endParaRPr lang="en-US" sz="1080" b="0" u="none" strike="noStrike">
              <a:solidFill>
                <a:srgbClr val="000000"/>
              </a:solidFill>
              <a:effectLst/>
              <a:uFillTx/>
              <a:latin typeface="Arial"/>
            </a:endParaRPr>
          </a:p>
        </p:txBody>
      </p:sp>
      <p:sp>
        <p:nvSpPr>
          <p:cNvPr id="54" name="Shape 12"/>
          <p:cNvSpPr/>
          <p:nvPr/>
        </p:nvSpPr>
        <p:spPr>
          <a:xfrm>
            <a:off x="5998320" y="1554480"/>
            <a:ext cx="2633040" cy="3931560"/>
          </a:xfrm>
          <a:prstGeom prst="roundRect">
            <a:avLst>
              <a:gd name="adj" fmla="val 4167"/>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5" name="Shape 13"/>
          <p:cNvSpPr/>
          <p:nvPr/>
        </p:nvSpPr>
        <p:spPr>
          <a:xfrm>
            <a:off x="7059240" y="1810440"/>
            <a:ext cx="511560" cy="51156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6" name="Text 14"/>
          <p:cNvSpPr/>
          <p:nvPr/>
        </p:nvSpPr>
        <p:spPr>
          <a:xfrm>
            <a:off x="7059240" y="1810440"/>
            <a:ext cx="511560" cy="511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P</a:t>
            </a:r>
            <a:endParaRPr lang="en-US" sz="2000" b="0" u="none" strike="noStrike">
              <a:solidFill>
                <a:srgbClr val="000000"/>
              </a:solidFill>
              <a:effectLst/>
              <a:uFillTx/>
              <a:latin typeface="Arial"/>
            </a:endParaRPr>
          </a:p>
        </p:txBody>
      </p:sp>
      <p:sp>
        <p:nvSpPr>
          <p:cNvPr id="57" name="Text 15"/>
          <p:cNvSpPr/>
          <p:nvPr/>
        </p:nvSpPr>
        <p:spPr>
          <a:xfrm>
            <a:off x="6135480" y="2468880"/>
            <a:ext cx="23587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92A30"/>
                </a:solidFill>
                <a:effectLst/>
                <a:uFillTx/>
                <a:latin typeface="Calibri"/>
                <a:ea typeface="Calibri"/>
              </a:rPr>
              <a:t>Transition</a:t>
            </a:r>
            <a:endParaRPr lang="en-US" sz="1400" b="0" u="none" strike="noStrike">
              <a:solidFill>
                <a:srgbClr val="000000"/>
              </a:solidFill>
              <a:effectLst/>
              <a:uFillTx/>
              <a:latin typeface="Arial"/>
            </a:endParaRPr>
          </a:p>
        </p:txBody>
      </p:sp>
      <p:sp>
        <p:nvSpPr>
          <p:cNvPr id="58" name="Text 16"/>
          <p:cNvSpPr/>
          <p:nvPr/>
        </p:nvSpPr>
        <p:spPr>
          <a:xfrm>
            <a:off x="6199560" y="2880360"/>
            <a:ext cx="2230920" cy="2468520"/>
          </a:xfrm>
          <a:prstGeom prst="rect">
            <a:avLst/>
          </a:prstGeom>
          <a:noFill/>
          <a:ln w="0">
            <a:noFill/>
          </a:ln>
        </p:spPr>
        <p:style>
          <a:lnRef idx="0"/>
          <a:fillRef idx="0"/>
          <a:effectRef idx="0"/>
          <a:fontRef idx="minor"/>
        </p:style>
        <p:txBody>
          <a:bodyPr lIns="0" tIns="0" rIns="0" bIns="0" anchor="ctr">
            <a:noAutofit/>
          </a:bodyPr>
          <a:p>
            <a:pPr defTabSz="914400">
              <a:lnSpc>
                <a:spcPct val="112000"/>
              </a:lnSpc>
              <a:tabLst>
                <a:tab pos="0" algn="l"/>
              </a:tabLst>
            </a:pPr>
            <a:r>
              <a:rPr lang="en-US" sz="1080" b="0" u="none" strike="noStrike">
                <a:solidFill>
                  <a:srgbClr val="192A30"/>
                </a:solidFill>
                <a:effectLst/>
                <a:uFillTx/>
                <a:latin typeface="Calibri"/>
                <a:ea typeface="Calibri"/>
              </a:rPr>
              <a:t>SUMO advances the traffic state after each action. Yellow / all-red clearance is enforced automatically — it is never chosen by the agent.</a:t>
            </a:r>
            <a:endParaRPr lang="en-US" sz="1080" b="0" u="none" strike="noStrike">
              <a:solidFill>
                <a:srgbClr val="000000"/>
              </a:solidFill>
              <a:effectLst/>
              <a:uFillTx/>
              <a:latin typeface="Arial"/>
            </a:endParaRPr>
          </a:p>
        </p:txBody>
      </p:sp>
      <p:sp>
        <p:nvSpPr>
          <p:cNvPr id="59" name="Shape 17"/>
          <p:cNvSpPr/>
          <p:nvPr/>
        </p:nvSpPr>
        <p:spPr>
          <a:xfrm>
            <a:off x="8769240" y="1554480"/>
            <a:ext cx="2633040" cy="3931560"/>
          </a:xfrm>
          <a:prstGeom prst="roundRect">
            <a:avLst>
              <a:gd name="adj" fmla="val 4167"/>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0" name="Shape 18"/>
          <p:cNvSpPr/>
          <p:nvPr/>
        </p:nvSpPr>
        <p:spPr>
          <a:xfrm>
            <a:off x="9829800" y="1810440"/>
            <a:ext cx="511560" cy="51156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1" name="Text 19"/>
          <p:cNvSpPr/>
          <p:nvPr/>
        </p:nvSpPr>
        <p:spPr>
          <a:xfrm>
            <a:off x="9829800" y="1810440"/>
            <a:ext cx="511560" cy="511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R</a:t>
            </a:r>
            <a:endParaRPr lang="en-US" sz="2000" b="0" u="none" strike="noStrike">
              <a:solidFill>
                <a:srgbClr val="000000"/>
              </a:solidFill>
              <a:effectLst/>
              <a:uFillTx/>
              <a:latin typeface="Arial"/>
            </a:endParaRPr>
          </a:p>
        </p:txBody>
      </p:sp>
      <p:sp>
        <p:nvSpPr>
          <p:cNvPr id="62" name="Text 20"/>
          <p:cNvSpPr/>
          <p:nvPr/>
        </p:nvSpPr>
        <p:spPr>
          <a:xfrm>
            <a:off x="8906400" y="2468880"/>
            <a:ext cx="235872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92A30"/>
                </a:solidFill>
                <a:effectLst/>
                <a:uFillTx/>
                <a:latin typeface="Calibri"/>
                <a:ea typeface="Calibri"/>
              </a:rPr>
              <a:t>Reward</a:t>
            </a:r>
            <a:endParaRPr lang="en-US" sz="1400" b="0" u="none" strike="noStrike">
              <a:solidFill>
                <a:srgbClr val="000000"/>
              </a:solidFill>
              <a:effectLst/>
              <a:uFillTx/>
              <a:latin typeface="Arial"/>
            </a:endParaRPr>
          </a:p>
        </p:txBody>
      </p:sp>
      <p:sp>
        <p:nvSpPr>
          <p:cNvPr id="63" name="Text 21"/>
          <p:cNvSpPr/>
          <p:nvPr/>
        </p:nvSpPr>
        <p:spPr>
          <a:xfrm>
            <a:off x="8970120" y="2880360"/>
            <a:ext cx="2230920" cy="2468520"/>
          </a:xfrm>
          <a:prstGeom prst="rect">
            <a:avLst/>
          </a:prstGeom>
          <a:noFill/>
          <a:ln w="0">
            <a:noFill/>
          </a:ln>
        </p:spPr>
        <p:style>
          <a:lnRef idx="0"/>
          <a:fillRef idx="0"/>
          <a:effectRef idx="0"/>
          <a:fontRef idx="minor"/>
        </p:style>
        <p:txBody>
          <a:bodyPr lIns="0" tIns="0" rIns="0" bIns="0" anchor="ctr">
            <a:noAutofit/>
          </a:bodyPr>
          <a:p>
            <a:pPr defTabSz="914400">
              <a:lnSpc>
                <a:spcPct val="112000"/>
              </a:lnSpc>
              <a:tabLst>
                <a:tab pos="0" algn="l"/>
              </a:tabLst>
            </a:pPr>
            <a:r>
              <a:rPr lang="en-US" sz="1080" b="0" u="none" strike="noStrike">
                <a:solidFill>
                  <a:srgbClr val="192A30"/>
                </a:solidFill>
                <a:effectLst/>
                <a:uFillTx/>
                <a:latin typeface="Calibri"/>
                <a:ea typeface="Calibri"/>
              </a:rPr>
              <a:t>Tied directly to reduction in accumulated vehicle delay. Goal: maximize discounted return while keeping the executed policy regulatable.</a:t>
            </a:r>
            <a:endParaRPr lang="en-US" sz="1080" b="0" u="none" strike="noStrike">
              <a:solidFill>
                <a:srgbClr val="000000"/>
              </a:solidFill>
              <a:effectLst/>
              <a:uFillTx/>
              <a:latin typeface="Arial"/>
            </a:endParaRPr>
          </a:p>
        </p:txBody>
      </p:sp>
      <p:sp>
        <p:nvSpPr>
          <p:cNvPr id="64" name="Text 22"/>
          <p:cNvSpPr/>
          <p:nvPr/>
        </p:nvSpPr>
        <p:spPr>
          <a:xfrm>
            <a:off x="457200" y="5623560"/>
            <a:ext cx="106981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i="1" u="none" strike="noStrike">
                <a:solidFill>
                  <a:srgbClr val="7F8C8D"/>
                </a:solidFill>
                <a:effectLst/>
                <a:uFillTx/>
                <a:latin typeface="Calibri"/>
                <a:ea typeface="Calibri"/>
              </a:rPr>
              <a:t>Assumptions the authors state explicitly: the intersection layout (lanes, phases, conflicts) is known in advance, and real-time per-lane sensing is available — justified by radar, Wi-Fi scanning, connected vehicles, and image/infrared sensing.</a:t>
            </a:r>
            <a:endParaRPr lang="en-US" sz="1050" b="0" u="none" strike="noStrike">
              <a:solidFill>
                <a:srgbClr val="000000"/>
              </a:solidFill>
              <a:effectLst/>
              <a:uFillTx/>
              <a:latin typeface="Arial"/>
            </a:endParaRPr>
          </a:p>
        </p:txBody>
      </p:sp>
      <p:sp>
        <p:nvSpPr>
          <p:cNvPr id="65" name="Text 23"/>
          <p:cNvSpPr/>
          <p:nvPr/>
        </p:nvSpPr>
        <p:spPr>
          <a:xfrm>
            <a:off x="457200" y="640080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7F8C8D"/>
                </a:solidFill>
                <a:effectLst/>
                <a:uFillTx/>
                <a:latin typeface="Arial"/>
                <a:ea typeface="Arial"/>
              </a:rPr>
              <a:t>BITS Pilani | Deep Reinforcement Learning (WILP) | Assignment - I</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66" name="Text 0"/>
          <p:cNvSpPr/>
          <p:nvPr/>
        </p:nvSpPr>
        <p:spPr>
          <a:xfrm>
            <a:off x="457200" y="292680"/>
            <a:ext cx="11274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192A30"/>
                </a:solidFill>
                <a:effectLst/>
                <a:uFillTx/>
                <a:latin typeface="Calibri"/>
                <a:ea typeface="Calibri"/>
              </a:rPr>
              <a:t>Phases, Conflicts &amp; Clearance Intervals</a:t>
            </a:r>
            <a:endParaRPr lang="en-US" sz="2200" b="0" u="none" strike="noStrike">
              <a:solidFill>
                <a:srgbClr val="000000"/>
              </a:solidFill>
              <a:effectLst/>
              <a:uFillTx/>
              <a:latin typeface="Arial"/>
            </a:endParaRPr>
          </a:p>
        </p:txBody>
      </p:sp>
      <p:sp>
        <p:nvSpPr>
          <p:cNvPr id="67" name="Text 1"/>
          <p:cNvSpPr/>
          <p:nvPr/>
        </p:nvSpPr>
        <p:spPr>
          <a:xfrm>
            <a:off x="457200" y="713160"/>
            <a:ext cx="11274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92A30"/>
                </a:solidFill>
                <a:effectLst/>
                <a:uFillTx/>
                <a:latin typeface="Calibri"/>
                <a:ea typeface="Calibri"/>
              </a:rPr>
              <a:t>PROBLEM STRUCTURE</a:t>
            </a:r>
            <a:endParaRPr lang="en-US" sz="1300" b="0" u="none" strike="noStrike">
              <a:solidFill>
                <a:srgbClr val="000000"/>
              </a:solidFill>
              <a:effectLst/>
              <a:uFillTx/>
              <a:latin typeface="Arial"/>
            </a:endParaRPr>
          </a:p>
        </p:txBody>
      </p:sp>
      <p:sp>
        <p:nvSpPr>
          <p:cNvPr id="68" name="Shape 2"/>
          <p:cNvSpPr/>
          <p:nvPr/>
        </p:nvSpPr>
        <p:spPr>
          <a:xfrm>
            <a:off x="457200" y="1554480"/>
            <a:ext cx="5577480" cy="4160160"/>
          </a:xfrm>
          <a:prstGeom prst="roundRect">
            <a:avLst>
              <a:gd name="adj" fmla="val 2637"/>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9" name="Text 3"/>
          <p:cNvSpPr/>
          <p:nvPr/>
        </p:nvSpPr>
        <p:spPr>
          <a:xfrm>
            <a:off x="731520" y="1737360"/>
            <a:ext cx="5028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92A30"/>
                </a:solidFill>
                <a:effectLst/>
                <a:uFillTx/>
                <a:latin typeface="Calibri"/>
                <a:ea typeface="Calibri"/>
              </a:rPr>
              <a:t>A 4-WAY INTERSECTION HAS 8 CANDIDATE PHASES (φ1…φ8)</a:t>
            </a:r>
            <a:endParaRPr lang="en-US" sz="1100" b="0" u="none" strike="noStrike">
              <a:solidFill>
                <a:srgbClr val="000000"/>
              </a:solidFill>
              <a:effectLst/>
              <a:uFillTx/>
              <a:latin typeface="Arial"/>
            </a:endParaRPr>
          </a:p>
        </p:txBody>
      </p:sp>
      <p:sp>
        <p:nvSpPr>
          <p:cNvPr id="70" name="Shape 4"/>
          <p:cNvSpPr/>
          <p:nvPr/>
        </p:nvSpPr>
        <p:spPr>
          <a:xfrm>
            <a:off x="777240" y="2148840"/>
            <a:ext cx="1170000" cy="1170000"/>
          </a:xfrm>
          <a:prstGeom prst="roundRect">
            <a:avLst>
              <a:gd name="adj" fmla="val 6250"/>
            </a:avLst>
          </a:prstGeom>
          <a:solidFill>
            <a:srgbClr val="F4F6F6"/>
          </a:solidFill>
          <a:ln w="15875">
            <a:solidFill>
              <a:srgbClr val="107C4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1" name="Text 5"/>
          <p:cNvSpPr/>
          <p:nvPr/>
        </p:nvSpPr>
        <p:spPr>
          <a:xfrm>
            <a:off x="777240" y="2148840"/>
            <a:ext cx="1170000" cy="117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07C41"/>
                </a:solidFill>
                <a:effectLst/>
                <a:uFillTx/>
                <a:latin typeface="Calibri"/>
                <a:ea typeface="Calibri"/>
              </a:rPr>
              <a:t>φ1</a:t>
            </a:r>
            <a:endParaRPr lang="en-US" sz="2000" b="0" u="none" strike="noStrike">
              <a:solidFill>
                <a:srgbClr val="000000"/>
              </a:solidFill>
              <a:effectLst/>
              <a:uFillTx/>
              <a:latin typeface="Arial"/>
            </a:endParaRPr>
          </a:p>
        </p:txBody>
      </p:sp>
      <p:sp>
        <p:nvSpPr>
          <p:cNvPr id="72" name="Shape 6"/>
          <p:cNvSpPr/>
          <p:nvPr/>
        </p:nvSpPr>
        <p:spPr>
          <a:xfrm>
            <a:off x="2039040" y="2148840"/>
            <a:ext cx="1170000" cy="1170000"/>
          </a:xfrm>
          <a:prstGeom prst="roundRect">
            <a:avLst>
              <a:gd name="adj" fmla="val 6250"/>
            </a:avLst>
          </a:prstGeom>
          <a:solidFill>
            <a:srgbClr val="F4F6F6"/>
          </a:solidFill>
          <a:ln w="15875">
            <a:solidFill>
              <a:srgbClr val="107C4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3" name="Text 7"/>
          <p:cNvSpPr/>
          <p:nvPr/>
        </p:nvSpPr>
        <p:spPr>
          <a:xfrm>
            <a:off x="2039040" y="2148840"/>
            <a:ext cx="1170000" cy="117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07C41"/>
                </a:solidFill>
                <a:effectLst/>
                <a:uFillTx/>
                <a:latin typeface="Calibri"/>
                <a:ea typeface="Calibri"/>
              </a:rPr>
              <a:t>φ2</a:t>
            </a:r>
            <a:endParaRPr lang="en-US" sz="2000" b="0" u="none" strike="noStrike">
              <a:solidFill>
                <a:srgbClr val="000000"/>
              </a:solidFill>
              <a:effectLst/>
              <a:uFillTx/>
              <a:latin typeface="Arial"/>
            </a:endParaRPr>
          </a:p>
        </p:txBody>
      </p:sp>
      <p:sp>
        <p:nvSpPr>
          <p:cNvPr id="74" name="Shape 8"/>
          <p:cNvSpPr/>
          <p:nvPr/>
        </p:nvSpPr>
        <p:spPr>
          <a:xfrm>
            <a:off x="3300840" y="2148840"/>
            <a:ext cx="1170000" cy="1170000"/>
          </a:xfrm>
          <a:prstGeom prst="roundRect">
            <a:avLst>
              <a:gd name="adj" fmla="val 6250"/>
            </a:avLst>
          </a:prstGeom>
          <a:solidFill>
            <a:srgbClr val="F4F6F6"/>
          </a:solidFill>
          <a:ln w="15875">
            <a:solidFill>
              <a:srgbClr val="107C4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5" name="Text 9"/>
          <p:cNvSpPr/>
          <p:nvPr/>
        </p:nvSpPr>
        <p:spPr>
          <a:xfrm>
            <a:off x="3300840" y="2148840"/>
            <a:ext cx="1170000" cy="117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07C41"/>
                </a:solidFill>
                <a:effectLst/>
                <a:uFillTx/>
                <a:latin typeface="Calibri"/>
                <a:ea typeface="Calibri"/>
              </a:rPr>
              <a:t>φ3</a:t>
            </a:r>
            <a:endParaRPr lang="en-US" sz="2000" b="0" u="none" strike="noStrike">
              <a:solidFill>
                <a:srgbClr val="000000"/>
              </a:solidFill>
              <a:effectLst/>
              <a:uFillTx/>
              <a:latin typeface="Arial"/>
            </a:endParaRPr>
          </a:p>
        </p:txBody>
      </p:sp>
      <p:sp>
        <p:nvSpPr>
          <p:cNvPr id="76" name="Shape 10"/>
          <p:cNvSpPr/>
          <p:nvPr/>
        </p:nvSpPr>
        <p:spPr>
          <a:xfrm>
            <a:off x="4563000" y="2148840"/>
            <a:ext cx="1170000" cy="1170000"/>
          </a:xfrm>
          <a:prstGeom prst="roundRect">
            <a:avLst>
              <a:gd name="adj" fmla="val 6250"/>
            </a:avLst>
          </a:prstGeom>
          <a:solidFill>
            <a:srgbClr val="F4F6F6"/>
          </a:solidFill>
          <a:ln w="15875">
            <a:solidFill>
              <a:srgbClr val="107C4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7" name="Text 11"/>
          <p:cNvSpPr/>
          <p:nvPr/>
        </p:nvSpPr>
        <p:spPr>
          <a:xfrm>
            <a:off x="4563000" y="2148840"/>
            <a:ext cx="1170000" cy="117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07C41"/>
                </a:solidFill>
                <a:effectLst/>
                <a:uFillTx/>
                <a:latin typeface="Calibri"/>
                <a:ea typeface="Calibri"/>
              </a:rPr>
              <a:t>φ4</a:t>
            </a:r>
            <a:endParaRPr lang="en-US" sz="2000" b="0" u="none" strike="noStrike">
              <a:solidFill>
                <a:srgbClr val="000000"/>
              </a:solidFill>
              <a:effectLst/>
              <a:uFillTx/>
              <a:latin typeface="Arial"/>
            </a:endParaRPr>
          </a:p>
        </p:txBody>
      </p:sp>
      <p:sp>
        <p:nvSpPr>
          <p:cNvPr id="78" name="Shape 12"/>
          <p:cNvSpPr/>
          <p:nvPr/>
        </p:nvSpPr>
        <p:spPr>
          <a:xfrm>
            <a:off x="777240" y="3410640"/>
            <a:ext cx="1170000" cy="1170000"/>
          </a:xfrm>
          <a:prstGeom prst="roundRect">
            <a:avLst>
              <a:gd name="adj" fmla="val 6250"/>
            </a:avLst>
          </a:prstGeom>
          <a:solidFill>
            <a:srgbClr val="F4F6F6"/>
          </a:solidFill>
          <a:ln w="15875">
            <a:solidFill>
              <a:srgbClr val="107C4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9" name="Text 13"/>
          <p:cNvSpPr/>
          <p:nvPr/>
        </p:nvSpPr>
        <p:spPr>
          <a:xfrm>
            <a:off x="777240" y="3410640"/>
            <a:ext cx="1170000" cy="117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07C41"/>
                </a:solidFill>
                <a:effectLst/>
                <a:uFillTx/>
                <a:latin typeface="Calibri"/>
                <a:ea typeface="Calibri"/>
              </a:rPr>
              <a:t>φ5</a:t>
            </a:r>
            <a:endParaRPr lang="en-US" sz="2000" b="0" u="none" strike="noStrike">
              <a:solidFill>
                <a:srgbClr val="000000"/>
              </a:solidFill>
              <a:effectLst/>
              <a:uFillTx/>
              <a:latin typeface="Arial"/>
            </a:endParaRPr>
          </a:p>
        </p:txBody>
      </p:sp>
      <p:sp>
        <p:nvSpPr>
          <p:cNvPr id="80" name="Shape 14"/>
          <p:cNvSpPr/>
          <p:nvPr/>
        </p:nvSpPr>
        <p:spPr>
          <a:xfrm>
            <a:off x="2039040" y="3410640"/>
            <a:ext cx="1170000" cy="1170000"/>
          </a:xfrm>
          <a:prstGeom prst="roundRect">
            <a:avLst>
              <a:gd name="adj" fmla="val 6250"/>
            </a:avLst>
          </a:prstGeom>
          <a:solidFill>
            <a:srgbClr val="F4F6F6"/>
          </a:solidFill>
          <a:ln w="15875">
            <a:solidFill>
              <a:srgbClr val="107C4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1" name="Text 15"/>
          <p:cNvSpPr/>
          <p:nvPr/>
        </p:nvSpPr>
        <p:spPr>
          <a:xfrm>
            <a:off x="2039040" y="3410640"/>
            <a:ext cx="1170000" cy="117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07C41"/>
                </a:solidFill>
                <a:effectLst/>
                <a:uFillTx/>
                <a:latin typeface="Calibri"/>
                <a:ea typeface="Calibri"/>
              </a:rPr>
              <a:t>φ6</a:t>
            </a:r>
            <a:endParaRPr lang="en-US" sz="2000" b="0" u="none" strike="noStrike">
              <a:solidFill>
                <a:srgbClr val="000000"/>
              </a:solidFill>
              <a:effectLst/>
              <a:uFillTx/>
              <a:latin typeface="Arial"/>
            </a:endParaRPr>
          </a:p>
        </p:txBody>
      </p:sp>
      <p:sp>
        <p:nvSpPr>
          <p:cNvPr id="82" name="Shape 16"/>
          <p:cNvSpPr/>
          <p:nvPr/>
        </p:nvSpPr>
        <p:spPr>
          <a:xfrm>
            <a:off x="3300840" y="3410640"/>
            <a:ext cx="1170000" cy="1170000"/>
          </a:xfrm>
          <a:prstGeom prst="roundRect">
            <a:avLst>
              <a:gd name="adj" fmla="val 6250"/>
            </a:avLst>
          </a:prstGeom>
          <a:solidFill>
            <a:srgbClr val="F4F6F6"/>
          </a:solidFill>
          <a:ln w="15875">
            <a:solidFill>
              <a:srgbClr val="107C4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3" name="Text 17"/>
          <p:cNvSpPr/>
          <p:nvPr/>
        </p:nvSpPr>
        <p:spPr>
          <a:xfrm>
            <a:off x="3300840" y="3410640"/>
            <a:ext cx="1170000" cy="117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07C41"/>
                </a:solidFill>
                <a:effectLst/>
                <a:uFillTx/>
                <a:latin typeface="Calibri"/>
                <a:ea typeface="Calibri"/>
              </a:rPr>
              <a:t>φ7</a:t>
            </a:r>
            <a:endParaRPr lang="en-US" sz="2000" b="0" u="none" strike="noStrike">
              <a:solidFill>
                <a:srgbClr val="000000"/>
              </a:solidFill>
              <a:effectLst/>
              <a:uFillTx/>
              <a:latin typeface="Arial"/>
            </a:endParaRPr>
          </a:p>
        </p:txBody>
      </p:sp>
      <p:sp>
        <p:nvSpPr>
          <p:cNvPr id="84" name="Shape 18"/>
          <p:cNvSpPr/>
          <p:nvPr/>
        </p:nvSpPr>
        <p:spPr>
          <a:xfrm>
            <a:off x="4563000" y="3410640"/>
            <a:ext cx="1170000" cy="1170000"/>
          </a:xfrm>
          <a:prstGeom prst="roundRect">
            <a:avLst>
              <a:gd name="adj" fmla="val 6250"/>
            </a:avLst>
          </a:prstGeom>
          <a:solidFill>
            <a:srgbClr val="F4F6F6"/>
          </a:solidFill>
          <a:ln w="15875">
            <a:solidFill>
              <a:srgbClr val="107C41"/>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5" name="Text 19"/>
          <p:cNvSpPr/>
          <p:nvPr/>
        </p:nvSpPr>
        <p:spPr>
          <a:xfrm>
            <a:off x="4563000" y="3410640"/>
            <a:ext cx="1170000" cy="1170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107C41"/>
                </a:solidFill>
                <a:effectLst/>
                <a:uFillTx/>
                <a:latin typeface="Calibri"/>
                <a:ea typeface="Calibri"/>
              </a:rPr>
              <a:t>φ8</a:t>
            </a:r>
            <a:endParaRPr lang="en-US" sz="2000" b="0" u="none" strike="noStrike">
              <a:solidFill>
                <a:srgbClr val="000000"/>
              </a:solidFill>
              <a:effectLst/>
              <a:uFillTx/>
              <a:latin typeface="Arial"/>
            </a:endParaRPr>
          </a:p>
        </p:txBody>
      </p:sp>
      <p:sp>
        <p:nvSpPr>
          <p:cNvPr id="86" name="Text 20"/>
          <p:cNvSpPr/>
          <p:nvPr/>
        </p:nvSpPr>
        <p:spPr>
          <a:xfrm>
            <a:off x="731520" y="4809600"/>
            <a:ext cx="5028840" cy="82260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080" b="0" u="none" strike="noStrike">
                <a:solidFill>
                  <a:srgbClr val="192A30"/>
                </a:solidFill>
                <a:effectLst/>
                <a:uFillTx/>
                <a:latin typeface="Calibri"/>
                <a:ea typeface="Calibri"/>
              </a:rPr>
              <a:t>Two phases conflict if their traffic movements intersect (e.g. φ1 and φ2 in the reference layout). A valid signal assignment activates only non-conflicting phases together, for the general 8-phase layout: {(φ1,φ2)}×{(φ5,φ6)} ∪ {(φ3,φ4)}×{(φ7,φ8)}.</a:t>
            </a:r>
            <a:endParaRPr lang="en-US" sz="1080" b="0" u="none" strike="noStrike">
              <a:solidFill>
                <a:srgbClr val="000000"/>
              </a:solidFill>
              <a:effectLst/>
              <a:uFillTx/>
              <a:latin typeface="Arial"/>
            </a:endParaRPr>
          </a:p>
        </p:txBody>
      </p:sp>
      <p:sp>
        <p:nvSpPr>
          <p:cNvPr id="87" name="Shape 21"/>
          <p:cNvSpPr/>
          <p:nvPr/>
        </p:nvSpPr>
        <p:spPr>
          <a:xfrm>
            <a:off x="6263640" y="1554480"/>
            <a:ext cx="5467680" cy="4160160"/>
          </a:xfrm>
          <a:prstGeom prst="roundRect">
            <a:avLst>
              <a:gd name="adj" fmla="val 2637"/>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8" name="Text 22"/>
          <p:cNvSpPr/>
          <p:nvPr/>
        </p:nvSpPr>
        <p:spPr>
          <a:xfrm>
            <a:off x="6537960" y="1737360"/>
            <a:ext cx="4919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92A30"/>
                </a:solidFill>
                <a:effectLst/>
                <a:uFillTx/>
                <a:latin typeface="Calibri"/>
                <a:ea typeface="Calibri"/>
              </a:rPr>
              <a:t>TRANSITIONING BETWEEN PHASE SETS TRIGGERS ONE CLEARANCE CASE</a:t>
            </a:r>
            <a:endParaRPr lang="en-US" sz="1100" b="0" u="none" strike="noStrike">
              <a:solidFill>
                <a:srgbClr val="000000"/>
              </a:solidFill>
              <a:effectLst/>
              <a:uFillTx/>
              <a:latin typeface="Arial"/>
            </a:endParaRPr>
          </a:p>
        </p:txBody>
      </p:sp>
      <p:sp>
        <p:nvSpPr>
          <p:cNvPr id="89" name="Shape 23"/>
          <p:cNvSpPr/>
          <p:nvPr/>
        </p:nvSpPr>
        <p:spPr>
          <a:xfrm>
            <a:off x="6537960" y="2121480"/>
            <a:ext cx="310680" cy="31068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0" name="Text 24"/>
          <p:cNvSpPr/>
          <p:nvPr/>
        </p:nvSpPr>
        <p:spPr>
          <a:xfrm>
            <a:off x="6537960" y="212148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91" name="Text 25"/>
          <p:cNvSpPr/>
          <p:nvPr/>
        </p:nvSpPr>
        <p:spPr>
          <a:xfrm>
            <a:off x="6976800" y="2094120"/>
            <a:ext cx="14626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92A30"/>
                </a:solidFill>
                <a:effectLst/>
                <a:uFillTx/>
                <a:latin typeface="Calibri"/>
                <a:ea typeface="Calibri"/>
              </a:rPr>
              <a:t>Full</a:t>
            </a:r>
            <a:endParaRPr lang="en-US" sz="1200" b="0" u="none" strike="noStrike">
              <a:solidFill>
                <a:srgbClr val="000000"/>
              </a:solidFill>
              <a:effectLst/>
              <a:uFillTx/>
              <a:latin typeface="Arial"/>
            </a:endParaRPr>
          </a:p>
        </p:txBody>
      </p:sp>
      <p:sp>
        <p:nvSpPr>
          <p:cNvPr id="92" name="Text 26"/>
          <p:cNvSpPr/>
          <p:nvPr/>
        </p:nvSpPr>
        <p:spPr>
          <a:xfrm>
            <a:off x="8412480" y="2066400"/>
            <a:ext cx="3090240" cy="50256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080" b="0" u="none" strike="noStrike">
                <a:solidFill>
                  <a:srgbClr val="192A30"/>
                </a:solidFill>
                <a:effectLst/>
                <a:uFillTx/>
                <a:latin typeface="Calibri"/>
                <a:ea typeface="Calibri"/>
              </a:rPr>
              <a:t>No phase active at all (all-red).</a:t>
            </a:r>
            <a:endParaRPr lang="en-US" sz="1080" b="0" u="none" strike="noStrike">
              <a:solidFill>
                <a:srgbClr val="000000"/>
              </a:solidFill>
              <a:effectLst/>
              <a:uFillTx/>
              <a:latin typeface="Arial"/>
            </a:endParaRPr>
          </a:p>
        </p:txBody>
      </p:sp>
      <p:sp>
        <p:nvSpPr>
          <p:cNvPr id="93" name="Shape 27"/>
          <p:cNvSpPr/>
          <p:nvPr/>
        </p:nvSpPr>
        <p:spPr>
          <a:xfrm>
            <a:off x="6537960" y="2834640"/>
            <a:ext cx="310680" cy="31068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4" name="Text 28"/>
          <p:cNvSpPr/>
          <p:nvPr/>
        </p:nvSpPr>
        <p:spPr>
          <a:xfrm>
            <a:off x="6537960" y="283464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95" name="Text 29"/>
          <p:cNvSpPr/>
          <p:nvPr/>
        </p:nvSpPr>
        <p:spPr>
          <a:xfrm>
            <a:off x="6976800" y="2807280"/>
            <a:ext cx="14626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92A30"/>
                </a:solidFill>
                <a:effectLst/>
                <a:uFillTx/>
                <a:latin typeface="Calibri"/>
                <a:ea typeface="Calibri"/>
              </a:rPr>
              <a:t>Partial</a:t>
            </a:r>
            <a:endParaRPr lang="en-US" sz="1200" b="0" u="none" strike="noStrike">
              <a:solidFill>
                <a:srgbClr val="000000"/>
              </a:solidFill>
              <a:effectLst/>
              <a:uFillTx/>
              <a:latin typeface="Arial"/>
            </a:endParaRPr>
          </a:p>
        </p:txBody>
      </p:sp>
      <p:sp>
        <p:nvSpPr>
          <p:cNvPr id="96" name="Text 30"/>
          <p:cNvSpPr/>
          <p:nvPr/>
        </p:nvSpPr>
        <p:spPr>
          <a:xfrm>
            <a:off x="8412480" y="2779920"/>
            <a:ext cx="3090240" cy="50256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080" b="0" u="none" strike="noStrike">
                <a:solidFill>
                  <a:srgbClr val="192A30"/>
                </a:solidFill>
                <a:effectLst/>
                <a:uFillTx/>
                <a:latin typeface="Calibri"/>
                <a:ea typeface="Calibri"/>
              </a:rPr>
              <a:t>Part of the incoming phase set is still inactive before becoming active.</a:t>
            </a:r>
            <a:endParaRPr lang="en-US" sz="1080" b="0" u="none" strike="noStrike">
              <a:solidFill>
                <a:srgbClr val="000000"/>
              </a:solidFill>
              <a:effectLst/>
              <a:uFillTx/>
              <a:latin typeface="Arial"/>
            </a:endParaRPr>
          </a:p>
        </p:txBody>
      </p:sp>
      <p:sp>
        <p:nvSpPr>
          <p:cNvPr id="97" name="Shape 31"/>
          <p:cNvSpPr/>
          <p:nvPr/>
        </p:nvSpPr>
        <p:spPr>
          <a:xfrm>
            <a:off x="6537960" y="3547800"/>
            <a:ext cx="310680" cy="31068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8" name="Text 32"/>
          <p:cNvSpPr/>
          <p:nvPr/>
        </p:nvSpPr>
        <p:spPr>
          <a:xfrm>
            <a:off x="6537960" y="354780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99" name="Text 33"/>
          <p:cNvSpPr/>
          <p:nvPr/>
        </p:nvSpPr>
        <p:spPr>
          <a:xfrm>
            <a:off x="6976800" y="3520440"/>
            <a:ext cx="14626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92A30"/>
                </a:solidFill>
                <a:effectLst/>
                <a:uFillTx/>
                <a:latin typeface="Calibri"/>
                <a:ea typeface="Calibri"/>
              </a:rPr>
              <a:t>Permissive</a:t>
            </a:r>
            <a:endParaRPr lang="en-US" sz="1200" b="0" u="none" strike="noStrike">
              <a:solidFill>
                <a:srgbClr val="000000"/>
              </a:solidFill>
              <a:effectLst/>
              <a:uFillTx/>
              <a:latin typeface="Arial"/>
            </a:endParaRPr>
          </a:p>
        </p:txBody>
      </p:sp>
      <p:sp>
        <p:nvSpPr>
          <p:cNvPr id="100" name="Text 34"/>
          <p:cNvSpPr/>
          <p:nvPr/>
        </p:nvSpPr>
        <p:spPr>
          <a:xfrm>
            <a:off x="8412480" y="3493080"/>
            <a:ext cx="3090240" cy="50256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080" b="0" u="none" strike="noStrike">
                <a:solidFill>
                  <a:srgbClr val="192A30"/>
                </a:solidFill>
                <a:effectLst/>
                <a:uFillTx/>
                <a:latin typeface="Calibri"/>
                <a:ea typeface="Calibri"/>
              </a:rPr>
              <a:t>A shorter inactive interval, typically from an active permissive-left phase.</a:t>
            </a:r>
            <a:endParaRPr lang="en-US" sz="1080" b="0" u="none" strike="noStrike">
              <a:solidFill>
                <a:srgbClr val="000000"/>
              </a:solidFill>
              <a:effectLst/>
              <a:uFillTx/>
              <a:latin typeface="Arial"/>
            </a:endParaRPr>
          </a:p>
        </p:txBody>
      </p:sp>
      <p:sp>
        <p:nvSpPr>
          <p:cNvPr id="101" name="Shape 35"/>
          <p:cNvSpPr/>
          <p:nvPr/>
        </p:nvSpPr>
        <p:spPr>
          <a:xfrm>
            <a:off x="6537960" y="4260960"/>
            <a:ext cx="310680" cy="31068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2" name="Text 36"/>
          <p:cNvSpPr/>
          <p:nvPr/>
        </p:nvSpPr>
        <p:spPr>
          <a:xfrm>
            <a:off x="6537960" y="426096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103" name="Text 37"/>
          <p:cNvSpPr/>
          <p:nvPr/>
        </p:nvSpPr>
        <p:spPr>
          <a:xfrm>
            <a:off x="6976800" y="4233600"/>
            <a:ext cx="14626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92A30"/>
                </a:solidFill>
                <a:effectLst/>
                <a:uFillTx/>
                <a:latin typeface="Calibri"/>
                <a:ea typeface="Calibri"/>
              </a:rPr>
              <a:t>No clearance</a:t>
            </a:r>
            <a:endParaRPr lang="en-US" sz="1200" b="0" u="none" strike="noStrike">
              <a:solidFill>
                <a:srgbClr val="000000"/>
              </a:solidFill>
              <a:effectLst/>
              <a:uFillTx/>
              <a:latin typeface="Arial"/>
            </a:endParaRPr>
          </a:p>
        </p:txBody>
      </p:sp>
      <p:sp>
        <p:nvSpPr>
          <p:cNvPr id="104" name="Text 38"/>
          <p:cNvSpPr/>
          <p:nvPr/>
        </p:nvSpPr>
        <p:spPr>
          <a:xfrm>
            <a:off x="8412480" y="4206240"/>
            <a:ext cx="3090240" cy="50256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080" b="0" u="none" strike="noStrike">
                <a:solidFill>
                  <a:srgbClr val="192A30"/>
                </a:solidFill>
                <a:effectLst/>
                <a:uFillTx/>
                <a:latin typeface="Calibri"/>
                <a:ea typeface="Calibri"/>
              </a:rPr>
              <a:t>None required — the transition is immediate.</a:t>
            </a:r>
            <a:endParaRPr lang="en-US" sz="1080" b="0" u="none" strike="noStrike">
              <a:solidFill>
                <a:srgbClr val="000000"/>
              </a:solidFill>
              <a:effectLst/>
              <a:uFillTx/>
              <a:latin typeface="Arial"/>
            </a:endParaRPr>
          </a:p>
        </p:txBody>
      </p:sp>
      <p:sp>
        <p:nvSpPr>
          <p:cNvPr id="105" name="Text 39"/>
          <p:cNvSpPr/>
          <p:nvPr/>
        </p:nvSpPr>
        <p:spPr>
          <a:xfrm>
            <a:off x="6537960" y="4992480"/>
            <a:ext cx="4919040" cy="548280"/>
          </a:xfrm>
          <a:prstGeom prst="rect">
            <a:avLst/>
          </a:prstGeom>
          <a:noFill/>
          <a:ln w="0">
            <a:noFill/>
          </a:ln>
        </p:spPr>
        <p:style>
          <a:lnRef idx="0"/>
          <a:fillRef idx="0"/>
          <a:effectRef idx="0"/>
          <a:fontRef idx="minor"/>
        </p:style>
        <p:txBody>
          <a:bodyPr lIns="0" tIns="0" rIns="0" bIns="0" anchor="ctr">
            <a:noAutofit/>
          </a:bodyPr>
          <a:p>
            <a:pPr defTabSz="914400">
              <a:lnSpc>
                <a:spcPct val="110000"/>
              </a:lnSpc>
              <a:tabLst>
                <a:tab pos="0" algn="l"/>
              </a:tabLst>
            </a:pPr>
            <a:r>
              <a:rPr lang="en-US" sz="1050" b="0" i="1" u="none" strike="noStrike">
                <a:solidFill>
                  <a:srgbClr val="7F8C8D"/>
                </a:solidFill>
                <a:effectLst/>
                <a:uFillTx/>
                <a:latin typeface="Calibri"/>
                <a:ea typeface="Calibri"/>
              </a:rPr>
              <a:t>Each case maps to a binary flag f₁…f₄ that feeds directly into the precedence function (next slide) — clearance is penalized, not hand-coded as a separate rule.</a:t>
            </a:r>
            <a:endParaRPr lang="en-US" sz="1050" b="0" u="none" strike="noStrike">
              <a:solidFill>
                <a:srgbClr val="000000"/>
              </a:solidFill>
              <a:effectLst/>
              <a:uFillTx/>
              <a:latin typeface="Arial"/>
            </a:endParaRPr>
          </a:p>
        </p:txBody>
      </p:sp>
      <p:sp>
        <p:nvSpPr>
          <p:cNvPr id="106" name="Text 40"/>
          <p:cNvSpPr/>
          <p:nvPr/>
        </p:nvSpPr>
        <p:spPr>
          <a:xfrm>
            <a:off x="457200" y="640080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7F8C8D"/>
                </a:solidFill>
                <a:effectLst/>
                <a:uFillTx/>
                <a:latin typeface="Arial"/>
                <a:ea typeface="Arial"/>
              </a:rPr>
              <a:t>BITS Pilani | Deep Reinforcement Learning (WILP) | Assignment - I</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107" name="Text 0"/>
          <p:cNvSpPr/>
          <p:nvPr/>
        </p:nvSpPr>
        <p:spPr>
          <a:xfrm>
            <a:off x="457200" y="292680"/>
            <a:ext cx="11274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192A30"/>
                </a:solidFill>
                <a:effectLst/>
                <a:uFillTx/>
                <a:latin typeface="Calibri"/>
                <a:ea typeface="Calibri"/>
              </a:rPr>
              <a:t>What Makes the Policy 'Regulatable'?</a:t>
            </a:r>
            <a:endParaRPr lang="en-US" sz="2200" b="0" u="none" strike="noStrike">
              <a:solidFill>
                <a:srgbClr val="000000"/>
              </a:solidFill>
              <a:effectLst/>
              <a:uFillTx/>
              <a:latin typeface="Arial"/>
            </a:endParaRPr>
          </a:p>
        </p:txBody>
      </p:sp>
      <p:sp>
        <p:nvSpPr>
          <p:cNvPr id="108" name="Text 1"/>
          <p:cNvSpPr/>
          <p:nvPr/>
        </p:nvSpPr>
        <p:spPr>
          <a:xfrm>
            <a:off x="457200" y="713160"/>
            <a:ext cx="11274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92A30"/>
                </a:solidFill>
                <a:effectLst/>
                <a:uFillTx/>
                <a:latin typeface="Calibri"/>
                <a:ea typeface="Calibri"/>
              </a:rPr>
              <a:t>INTERPRETABILITY BY DESIGN</a:t>
            </a:r>
            <a:endParaRPr lang="en-US" sz="1300" b="0" u="none" strike="noStrike">
              <a:solidFill>
                <a:srgbClr val="000000"/>
              </a:solidFill>
              <a:effectLst/>
              <a:uFillTx/>
              <a:latin typeface="Arial"/>
            </a:endParaRPr>
          </a:p>
        </p:txBody>
      </p:sp>
      <p:sp>
        <p:nvSpPr>
          <p:cNvPr id="109" name="Shape 2"/>
          <p:cNvSpPr/>
          <p:nvPr/>
        </p:nvSpPr>
        <p:spPr>
          <a:xfrm>
            <a:off x="457200" y="1600200"/>
            <a:ext cx="5211720" cy="4205880"/>
          </a:xfrm>
          <a:prstGeom prst="roundRect">
            <a:avLst>
              <a:gd name="adj" fmla="val 2609"/>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0" name="Shape 3"/>
          <p:cNvSpPr/>
          <p:nvPr/>
        </p:nvSpPr>
        <p:spPr>
          <a:xfrm>
            <a:off x="65844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1" name="Text 4"/>
          <p:cNvSpPr/>
          <p:nvPr/>
        </p:nvSpPr>
        <p:spPr>
          <a:xfrm>
            <a:off x="65844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112" name="Text 5"/>
          <p:cNvSpPr/>
          <p:nvPr/>
        </p:nvSpPr>
        <p:spPr>
          <a:xfrm>
            <a:off x="1115640" y="1783080"/>
            <a:ext cx="43887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92A30"/>
                </a:solidFill>
                <a:effectLst/>
                <a:uFillTx/>
                <a:latin typeface="Calibri"/>
                <a:ea typeface="Calibri"/>
              </a:rPr>
              <a:t>Precedence Function</a:t>
            </a:r>
            <a:endParaRPr lang="en-US" sz="1300" b="0" u="none" strike="noStrike">
              <a:solidFill>
                <a:srgbClr val="000000"/>
              </a:solidFill>
              <a:effectLst/>
              <a:uFillTx/>
              <a:latin typeface="Arial"/>
            </a:endParaRPr>
          </a:p>
        </p:txBody>
      </p:sp>
      <p:sp>
        <p:nvSpPr>
          <p:cNvPr id="113" name="Text 6"/>
          <p:cNvSpPr/>
          <p:nvPr/>
        </p:nvSpPr>
        <p:spPr>
          <a:xfrm>
            <a:off x="749880" y="2377440"/>
            <a:ext cx="4617360" cy="3291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g(s, Φ; θ′) assigns a score to every valid, non-conflicting phase combination Φ.</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The controller simply selects the combination with the highest precedence — argmaxΦ g(s, Φ; θ′).</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A Q-function could serve as a precedence function, but a precedence function need not be a Q-function — it only needs to rank actions correctly.</a:t>
            </a:r>
            <a:endParaRPr lang="en-US" sz="1250" b="0" u="none" strike="noStrike">
              <a:solidFill>
                <a:srgbClr val="000000"/>
              </a:solidFill>
              <a:effectLst/>
              <a:uFillTx/>
              <a:latin typeface="Arial"/>
            </a:endParaRPr>
          </a:p>
        </p:txBody>
      </p:sp>
      <p:sp>
        <p:nvSpPr>
          <p:cNvPr id="114" name="Shape 7"/>
          <p:cNvSpPr/>
          <p:nvPr/>
        </p:nvSpPr>
        <p:spPr>
          <a:xfrm>
            <a:off x="6035040" y="1600200"/>
            <a:ext cx="5211720" cy="4205880"/>
          </a:xfrm>
          <a:prstGeom prst="roundRect">
            <a:avLst>
              <a:gd name="adj" fmla="val 2609"/>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5" name="Shape 8"/>
          <p:cNvSpPr/>
          <p:nvPr/>
        </p:nvSpPr>
        <p:spPr>
          <a:xfrm>
            <a:off x="623628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6" name="Text 9"/>
          <p:cNvSpPr/>
          <p:nvPr/>
        </p:nvSpPr>
        <p:spPr>
          <a:xfrm>
            <a:off x="623628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117" name="Text 10"/>
          <p:cNvSpPr/>
          <p:nvPr/>
        </p:nvSpPr>
        <p:spPr>
          <a:xfrm>
            <a:off x="6693480" y="1783080"/>
            <a:ext cx="43887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92A30"/>
                </a:solidFill>
                <a:effectLst/>
                <a:uFillTx/>
                <a:latin typeface="Calibri"/>
                <a:ea typeface="Calibri"/>
              </a:rPr>
              <a:t>The Regulatable (Monotonic) Condition</a:t>
            </a:r>
            <a:endParaRPr lang="en-US" sz="1300" b="0" u="none" strike="noStrike">
              <a:solidFill>
                <a:srgbClr val="000000"/>
              </a:solidFill>
              <a:effectLst/>
              <a:uFillTx/>
              <a:latin typeface="Arial"/>
            </a:endParaRPr>
          </a:p>
        </p:txBody>
      </p:sp>
      <p:sp>
        <p:nvSpPr>
          <p:cNvPr id="118" name="Text 11"/>
          <p:cNvSpPr/>
          <p:nvPr/>
        </p:nvSpPr>
        <p:spPr>
          <a:xfrm>
            <a:off x="6327720" y="2377440"/>
            <a:ext cx="4617360" cy="3291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Definition 1: for every state variable s[i], ∂g/∂s[i] must exist and keep one consistent sign (≥ 0 or ≤ 0) for any valid state.</a:t>
            </a:r>
            <a:endParaRPr lang="en-US" sz="1250" b="0" u="none" strike="noStrike">
              <a:solidFill>
                <a:srgbClr val="000000"/>
              </a:solidFill>
              <a:effectLst/>
              <a:uFillTx/>
              <a:latin typeface="Arial"/>
            </a:endParaRPr>
          </a:p>
          <a:p>
            <a:pPr marL="343080" indent="-343080" defTabSz="914400">
              <a:lnSpc>
                <a:spcPct val="100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So, each input has one fixed direction of influence, each state variable influences an action's precedence in a consistent direction across valid states.</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Monotonicity improves auditability; it is not a formal proof that every resulting behaviour is globally safe or optimal.</a:t>
            </a:r>
            <a:endParaRPr lang="en-US" sz="1250" b="0" u="none" strike="noStrike">
              <a:solidFill>
                <a:srgbClr val="000000"/>
              </a:solidFill>
              <a:effectLst/>
              <a:uFillTx/>
              <a:latin typeface="Arial"/>
            </a:endParaRPr>
          </a:p>
        </p:txBody>
      </p:sp>
      <p:sp>
        <p:nvSpPr>
          <p:cNvPr id="119" name="Text 12"/>
          <p:cNvSpPr/>
          <p:nvPr/>
        </p:nvSpPr>
        <p:spPr>
          <a:xfrm>
            <a:off x="457200" y="640080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7F8C8D"/>
                </a:solidFill>
                <a:effectLst/>
                <a:uFillTx/>
                <a:latin typeface="Arial"/>
                <a:ea typeface="Arial"/>
              </a:rPr>
              <a:t>BITS Pilani | Deep Reinforcement Learning (WILP) | Assignment - I</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120"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Precedence Score and Monotonicity</a:t>
            </a:r>
            <a:endParaRPr lang="en-US" sz="2200" b="0" u="none" strike="noStrike">
              <a:solidFill>
                <a:srgbClr val="000000"/>
              </a:solidFill>
              <a:effectLst/>
              <a:uFillTx/>
              <a:latin typeface="Arial"/>
            </a:endParaRPr>
          </a:p>
        </p:txBody>
      </p:sp>
      <p:sp>
        <p:nvSpPr>
          <p:cNvPr id="121"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THE SCORE, ITS DERIVATIVE AND THE IMPLEMENTATION</a:t>
            </a:r>
            <a:endParaRPr lang="en-US" sz="1300" b="0" u="none" strike="noStrike">
              <a:solidFill>
                <a:srgbClr val="000000"/>
              </a:solidFill>
              <a:effectLst/>
              <a:uFillTx/>
              <a:latin typeface="Arial"/>
            </a:endParaRPr>
          </a:p>
        </p:txBody>
      </p:sp>
      <p:sp>
        <p:nvSpPr>
          <p:cNvPr id="122"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123"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6</a:t>
            </a:r>
            <a:endParaRPr lang="en-US" sz="950" b="0" u="none" strike="noStrike">
              <a:solidFill>
                <a:srgbClr val="000000"/>
              </a:solidFill>
              <a:effectLst/>
              <a:uFillTx/>
              <a:latin typeface="Arial"/>
            </a:endParaRPr>
          </a:p>
        </p:txBody>
      </p:sp>
      <p:sp>
        <p:nvSpPr>
          <p:cNvPr id="124" name=""/>
          <p:cNvSpPr/>
          <p:nvPr/>
        </p:nvSpPr>
        <p:spPr>
          <a:xfrm>
            <a:off x="457200" y="1495440"/>
            <a:ext cx="10858320" cy="323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1" u="none" strike="noStrike">
                <a:solidFill>
                  <a:srgbClr val="107C41"/>
                </a:solidFill>
                <a:effectLst/>
                <a:uFillTx/>
                <a:latin typeface="Calibri"/>
                <a:ea typeface="Calibri"/>
              </a:rPr>
              <a:t>Paper Equation 1</a:t>
            </a:r>
            <a:endParaRPr lang="en-US" sz="1650" b="0" u="none" strike="noStrike">
              <a:solidFill>
                <a:srgbClr val="000000"/>
              </a:solidFill>
              <a:effectLst/>
              <a:uFillTx/>
              <a:latin typeface="Arial"/>
            </a:endParaRPr>
          </a:p>
        </p:txBody>
      </p:sp>
      <p:sp>
        <p:nvSpPr>
          <p:cNvPr id="125" name=""/>
          <p:cNvSpPr/>
          <p:nvPr/>
        </p:nvSpPr>
        <p:spPr>
          <a:xfrm>
            <a:off x="457200" y="1943280"/>
            <a:ext cx="11277360" cy="5713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50" b="0" u="none" strike="noStrike">
                <a:solidFill>
                  <a:srgbClr val="192A30"/>
                </a:solidFill>
                <a:effectLst/>
                <a:uFillTx/>
                <a:latin typeface="Calibri"/>
                <a:ea typeface="Calibri"/>
              </a:rPr>
              <a:t>g(s, Φ) = Σφ Σi (wφ,i × sφ[i])^pφ,i × Σj (w′Φ,j × fj)^p′Φ,j</a:t>
            </a:r>
            <a:endParaRPr lang="en-US" sz="2250" b="0" u="none" strike="noStrike">
              <a:solidFill>
                <a:srgbClr val="000000"/>
              </a:solidFill>
              <a:effectLst/>
              <a:uFillTx/>
              <a:latin typeface="Arial"/>
            </a:endParaRPr>
          </a:p>
        </p:txBody>
      </p:sp>
      <p:sp>
        <p:nvSpPr>
          <p:cNvPr id="126" name=""/>
          <p:cNvSpPr/>
          <p:nvPr/>
        </p:nvSpPr>
        <p:spPr>
          <a:xfrm>
            <a:off x="457200" y="2610000"/>
            <a:ext cx="11277360" cy="3711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0" u="none" strike="noStrike">
                <a:solidFill>
                  <a:srgbClr val="192A30"/>
                </a:solidFill>
                <a:effectLst/>
                <a:uFillTx/>
                <a:latin typeface="Calibri"/>
                <a:ea typeface="Calibri"/>
              </a:rPr>
              <a:t>6 traffic inputs per phase. 4 clearance flags. 352 parameters for the studied intersection.</a:t>
            </a:r>
            <a:endParaRPr lang="en-US" sz="1580" b="0" u="none" strike="noStrike">
              <a:solidFill>
                <a:srgbClr val="000000"/>
              </a:solidFill>
              <a:effectLst/>
              <a:uFillTx/>
              <a:latin typeface="Arial"/>
            </a:endParaRPr>
          </a:p>
        </p:txBody>
      </p:sp>
      <p:sp>
        <p:nvSpPr>
          <p:cNvPr id="127" name=""/>
          <p:cNvSpPr/>
          <p:nvPr/>
        </p:nvSpPr>
        <p:spPr>
          <a:xfrm>
            <a:off x="457200" y="3333600"/>
            <a:ext cx="11277360" cy="2314080"/>
          </a:xfrm>
          <a:prstGeom prst="roundRect">
            <a:avLst>
              <a:gd name="adj" fmla="val 3292"/>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8" name=""/>
          <p:cNvSpPr/>
          <p:nvPr/>
        </p:nvSpPr>
        <p:spPr>
          <a:xfrm>
            <a:off x="647640" y="3505320"/>
            <a:ext cx="10382040" cy="3330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1" u="none" strike="noStrike">
                <a:solidFill>
                  <a:srgbClr val="107C41"/>
                </a:solidFill>
                <a:effectLst/>
                <a:uFillTx/>
                <a:latin typeface="Calibri"/>
                <a:ea typeface="Calibri"/>
              </a:rPr>
              <a:t>Local implementation</a:t>
            </a:r>
            <a:endParaRPr lang="en-US" sz="1650" b="0" u="none" strike="noStrike">
              <a:solidFill>
                <a:srgbClr val="000000"/>
              </a:solidFill>
              <a:effectLst/>
              <a:uFillTx/>
              <a:latin typeface="Arial"/>
            </a:endParaRPr>
          </a:p>
        </p:txBody>
      </p:sp>
      <p:sp>
        <p:nvSpPr>
          <p:cNvPr id="129" name=""/>
          <p:cNvSpPr/>
          <p:nvPr/>
        </p:nvSpPr>
        <p:spPr>
          <a:xfrm>
            <a:off x="647640" y="3990960"/>
            <a:ext cx="10382040" cy="437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50" b="0" u="none" strike="noStrike">
                <a:solidFill>
                  <a:srgbClr val="192A30"/>
                </a:solidFill>
                <a:effectLst/>
                <a:uFillTx/>
                <a:latin typeface="Calibri"/>
                <a:ea typeface="Calibri"/>
              </a:rPr>
              <a:t>G(a) = c(a) × Σi w(a,i) × x(i)^p(a,i)</a:t>
            </a:r>
            <a:endParaRPr lang="en-US" sz="2250" b="0" u="none" strike="noStrike">
              <a:solidFill>
                <a:srgbClr val="000000"/>
              </a:solidFill>
              <a:effectLst/>
              <a:uFillTx/>
              <a:latin typeface="Arial"/>
            </a:endParaRPr>
          </a:p>
        </p:txBody>
      </p:sp>
      <p:sp>
        <p:nvSpPr>
          <p:cNvPr id="130" name=""/>
          <p:cNvSpPr/>
          <p:nvPr/>
        </p:nvSpPr>
        <p:spPr>
          <a:xfrm>
            <a:off x="647640" y="4533840"/>
            <a:ext cx="10382040" cy="4093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950" b="0" u="none" strike="noStrike">
                <a:solidFill>
                  <a:srgbClr val="192A30"/>
                </a:solidFill>
                <a:effectLst/>
                <a:uFillTx/>
                <a:latin typeface="Calibri"/>
                <a:ea typeface="Calibri"/>
              </a:rPr>
              <a:t>∂G / ∂x(i) = c(a) × w(a,i) × p(a,i) × x(i)^(p−1)</a:t>
            </a:r>
            <a:endParaRPr lang="en-US" sz="1950" b="0" u="none" strike="noStrike">
              <a:solidFill>
                <a:srgbClr val="000000"/>
              </a:solidFill>
              <a:effectLst/>
              <a:uFillTx/>
              <a:latin typeface="Arial"/>
            </a:endParaRPr>
          </a:p>
        </p:txBody>
      </p:sp>
      <p:sp>
        <p:nvSpPr>
          <p:cNvPr id="131" name=""/>
          <p:cNvSpPr/>
          <p:nvPr/>
        </p:nvSpPr>
        <p:spPr>
          <a:xfrm>
            <a:off x="647640" y="5162400"/>
            <a:ext cx="10524600" cy="3330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0" u="none" strike="noStrike">
                <a:solidFill>
                  <a:srgbClr val="192A30"/>
                </a:solidFill>
                <a:effectLst/>
                <a:uFillTx/>
                <a:latin typeface="Calibri"/>
                <a:ea typeface="Calibri"/>
              </a:rPr>
              <a:t>x ≥ 0, c &gt; 0, 1 &lt; p &lt; 2. The weight fixes the derivative sign at a saved checkpoint.</a:t>
            </a:r>
            <a:endParaRPr lang="en-US" sz="1580" b="0" u="none" strike="noStrike">
              <a:solidFill>
                <a:srgbClr val="000000"/>
              </a:solidFill>
              <a:effectLst/>
              <a:uFillTx/>
              <a:latin typeface="Arial"/>
            </a:endParaRPr>
          </a:p>
        </p:txBody>
      </p:sp>
      <p:sp>
        <p:nvSpPr>
          <p:cNvPr id="132"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Adaptation: weights outside powers, fixed positive scales, 56 actor parameters. The environment also enforces clearance.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133"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A Worked Precedence Decision</a:t>
            </a:r>
            <a:endParaRPr lang="en-US" sz="2200" b="0" u="none" strike="noStrike">
              <a:solidFill>
                <a:srgbClr val="000000"/>
              </a:solidFill>
              <a:effectLst/>
              <a:uFillTx/>
              <a:latin typeface="Arial"/>
            </a:endParaRPr>
          </a:p>
        </p:txBody>
      </p:sp>
      <p:sp>
        <p:nvSpPr>
          <p:cNvPr id="134"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FIGURE 2 ARITHMETIC</a:t>
            </a:r>
            <a:endParaRPr lang="en-US" sz="1300" b="0" u="none" strike="noStrike">
              <a:solidFill>
                <a:srgbClr val="000000"/>
              </a:solidFill>
              <a:effectLst/>
              <a:uFillTx/>
              <a:latin typeface="Arial"/>
            </a:endParaRPr>
          </a:p>
        </p:txBody>
      </p:sp>
      <p:sp>
        <p:nvSpPr>
          <p:cNvPr id="135"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136"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7</a:t>
            </a:r>
            <a:endParaRPr lang="en-US" sz="950" b="0" u="none" strike="noStrike">
              <a:solidFill>
                <a:srgbClr val="000000"/>
              </a:solidFill>
              <a:effectLst/>
              <a:uFillTx/>
              <a:latin typeface="Arial"/>
            </a:endParaRPr>
          </a:p>
        </p:txBody>
      </p:sp>
      <p:graphicFrame>
        <p:nvGraphicFramePr>
          <p:cNvPr id="137" name=""/>
          <p:cNvGraphicFramePr/>
          <p:nvPr/>
        </p:nvGraphicFramePr>
        <p:xfrm>
          <a:off x="457200" y="1657440"/>
          <a:ext cx="11277360" cy="1990440"/>
        </p:xfrm>
        <a:graphic>
          <a:graphicData uri="http://schemas.openxmlformats.org/drawingml/2006/table">
            <a:tbl>
              <a:tblPr/>
              <a:tblGrid>
                <a:gridCol w="3143160"/>
                <a:gridCol w="2523960"/>
                <a:gridCol w="2523960"/>
                <a:gridCol w="3085920"/>
              </a:tblGrid>
              <a:tr h="663480">
                <a:tc>
                  <a:txBody>
                    <a:bodyPr anchor="t">
                      <a:noAutofit/>
                    </a:bodyPr>
                    <a:p>
                      <a:pPr>
                        <a:lnSpc>
                          <a:spcPct val="100000"/>
                        </a:lnSpc>
                      </a:pPr>
                      <a:r>
                        <a:rPr lang="en-US" sz="1800" b="1" u="none" strike="noStrike">
                          <a:solidFill>
                            <a:srgbClr val="FFFFFF"/>
                          </a:solidFill>
                          <a:effectLst/>
                          <a:uFillTx/>
                          <a:latin typeface="Calibri"/>
                          <a:ea typeface="Calibri"/>
                        </a:rPr>
                        <a:t>Configuration</a:t>
                      </a:r>
                      <a:endParaRPr lang="en-US" sz="180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800" b="1" u="none" strike="noStrike">
                          <a:solidFill>
                            <a:srgbClr val="FFFFFF"/>
                          </a:solidFill>
                          <a:effectLst/>
                          <a:uFillTx/>
                          <a:latin typeface="Calibri"/>
                          <a:ea typeface="Calibri"/>
                        </a:rPr>
                        <a:t>Through terms</a:t>
                      </a:r>
                      <a:endParaRPr lang="en-US" sz="180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800" b="1" u="none" strike="noStrike">
                          <a:solidFill>
                            <a:srgbClr val="FFFFFF"/>
                          </a:solidFill>
                          <a:effectLst/>
                          <a:uFillTx/>
                          <a:latin typeface="Calibri"/>
                          <a:ea typeface="Calibri"/>
                        </a:rPr>
                        <a:t>Left terms</a:t>
                      </a:r>
                      <a:endParaRPr lang="en-US" sz="180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800" b="1" u="none" strike="noStrike">
                          <a:solidFill>
                            <a:srgbClr val="FFFFFF"/>
                          </a:solidFill>
                          <a:effectLst/>
                          <a:uFillTx/>
                          <a:latin typeface="Calibri"/>
                          <a:ea typeface="Calibri"/>
                        </a:rPr>
                        <a:t>Combined score</a:t>
                      </a:r>
                      <a:endParaRPr lang="en-US" sz="180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r>
              <a:tr h="663480">
                <a:tc>
                  <a:txBody>
                    <a:bodyPr anchor="t">
                      <a:noAutofit/>
                    </a:bodyPr>
                    <a:p>
                      <a:pPr>
                        <a:lnSpc>
                          <a:spcPct val="100000"/>
                        </a:lnSpc>
                      </a:pPr>
                      <a:r>
                        <a:rPr lang="en-US" sz="1800" b="0" u="none" strike="noStrike">
                          <a:solidFill>
                            <a:srgbClr val="192A30"/>
                          </a:solidFill>
                          <a:effectLst/>
                          <a:uFillTx/>
                          <a:latin typeface="Calibri"/>
                          <a:ea typeface="Calibri"/>
                        </a:rPr>
                        <a:t>Westbound</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800" b="0" u="none" strike="noStrike">
                          <a:solidFill>
                            <a:srgbClr val="192A30"/>
                          </a:solidFill>
                          <a:effectLst/>
                          <a:uFillTx/>
                          <a:latin typeface="Calibri"/>
                          <a:ea typeface="Calibri"/>
                        </a:rPr>
                        <a:t>2.43</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800" b="0" u="none" strike="noStrike">
                          <a:solidFill>
                            <a:srgbClr val="192A30"/>
                          </a:solidFill>
                          <a:effectLst/>
                          <a:uFillTx/>
                          <a:latin typeface="Calibri"/>
                          <a:ea typeface="Calibri"/>
                        </a:rPr>
                        <a:t>20.10</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800" b="0" u="none" strike="noStrike">
                          <a:solidFill>
                            <a:srgbClr val="192A30"/>
                          </a:solidFill>
                          <a:effectLst/>
                          <a:uFillTx/>
                          <a:latin typeface="Calibri"/>
                          <a:ea typeface="Calibri"/>
                        </a:rPr>
                        <a:t>22.53</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663480">
                <a:tc>
                  <a:txBody>
                    <a:bodyPr anchor="t">
                      <a:noAutofit/>
                    </a:bodyPr>
                    <a:p>
                      <a:pPr>
                        <a:lnSpc>
                          <a:spcPct val="100000"/>
                        </a:lnSpc>
                      </a:pPr>
                      <a:r>
                        <a:rPr lang="en-US" sz="1800" b="0" u="none" strike="noStrike">
                          <a:solidFill>
                            <a:srgbClr val="192A30"/>
                          </a:solidFill>
                          <a:effectLst/>
                          <a:uFillTx/>
                          <a:latin typeface="Calibri"/>
                          <a:ea typeface="Calibri"/>
                        </a:rPr>
                        <a:t>Eastbound</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800" b="0" u="none" strike="noStrike">
                          <a:solidFill>
                            <a:srgbClr val="192A30"/>
                          </a:solidFill>
                          <a:effectLst/>
                          <a:uFillTx/>
                          <a:latin typeface="Calibri"/>
                          <a:ea typeface="Calibri"/>
                        </a:rPr>
                        <a:t>1.98</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800" b="0" u="none" strike="noStrike">
                          <a:solidFill>
                            <a:srgbClr val="192A30"/>
                          </a:solidFill>
                          <a:effectLst/>
                          <a:uFillTx/>
                          <a:latin typeface="Calibri"/>
                          <a:ea typeface="Calibri"/>
                        </a:rPr>
                        <a:t>17.33</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800" b="0" u="none" strike="noStrike">
                          <a:solidFill>
                            <a:srgbClr val="192A30"/>
                          </a:solidFill>
                          <a:effectLst/>
                          <a:uFillTx/>
                          <a:latin typeface="Calibri"/>
                          <a:ea typeface="Calibri"/>
                        </a:rPr>
                        <a:t>19.31</a:t>
                      </a:r>
                      <a:endParaRPr lang="en-US" sz="18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r>
            </a:tbl>
          </a:graphicData>
        </a:graphic>
      </p:graphicFrame>
      <p:sp>
        <p:nvSpPr>
          <p:cNvPr id="138" name=""/>
          <p:cNvSpPr/>
          <p:nvPr/>
        </p:nvSpPr>
        <p:spPr>
          <a:xfrm>
            <a:off x="457200" y="4114800"/>
            <a:ext cx="11277360" cy="5522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700" b="1" u="none" strike="noStrike">
                <a:solidFill>
                  <a:srgbClr val="107C41"/>
                </a:solidFill>
                <a:effectLst/>
                <a:uFillTx/>
                <a:latin typeface="Calibri"/>
                <a:ea typeface="Calibri"/>
              </a:rPr>
              <a:t>Westbound wins because 22.53 &gt; 19.31</a:t>
            </a:r>
            <a:endParaRPr lang="en-US" sz="2700" b="0" u="none" strike="noStrike">
              <a:solidFill>
                <a:srgbClr val="000000"/>
              </a:solidFill>
              <a:effectLst/>
              <a:uFillTx/>
              <a:latin typeface="Arial"/>
            </a:endParaRPr>
          </a:p>
        </p:txBody>
      </p:sp>
      <p:sp>
        <p:nvSpPr>
          <p:cNvPr id="139" name=""/>
          <p:cNvSpPr/>
          <p:nvPr/>
        </p:nvSpPr>
        <p:spPr>
          <a:xfrm>
            <a:off x="457200" y="4857840"/>
            <a:ext cx="11277360" cy="818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92A30"/>
                </a:solidFill>
                <a:effectLst/>
                <a:uFillTx/>
                <a:latin typeface="Calibri"/>
                <a:ea typeface="Calibri"/>
              </a:rPr>
              <a:t>22.53 belongs to the whole westbound configuration.</a:t>
            </a:r>
            <a:endParaRPr lang="en-US" sz="1870" b="0" u="none" strike="noStrike">
              <a:solidFill>
                <a:srgbClr val="000000"/>
              </a:solidFill>
              <a:effectLst/>
              <a:uFillTx/>
              <a:latin typeface="Arial"/>
            </a:endParaRPr>
          </a:p>
          <a:p>
            <a:pPr defTabSz="914400">
              <a:lnSpc>
                <a:spcPct val="100000"/>
              </a:lnSpc>
            </a:pPr>
            <a:r>
              <a:rPr lang="en-US" sz="1870" b="0" u="none" strike="noStrike">
                <a:solidFill>
                  <a:srgbClr val="192A30"/>
                </a:solidFill>
                <a:effectLst/>
                <a:uFillTx/>
                <a:latin typeface="Calibri"/>
                <a:ea typeface="Calibri"/>
              </a:rPr>
              <a:t>The westbound left-turn contribution alone is 20.10.</a:t>
            </a:r>
            <a:endParaRPr lang="en-US" sz="1870" b="0" u="none" strike="noStrike">
              <a:solidFill>
                <a:srgbClr val="000000"/>
              </a:solidFill>
              <a:effectLst/>
              <a:uFillTx/>
              <a:latin typeface="Arial"/>
            </a:endParaRPr>
          </a:p>
        </p:txBody>
      </p:sp>
      <p:sp>
        <p:nvSpPr>
          <p:cNvPr id="140"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Paper Figure 2. Notebook Section 14 checks the arithmetic. These values do not come from the local experiment.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141" name="Text 0"/>
          <p:cNvSpPr/>
          <p:nvPr/>
        </p:nvSpPr>
        <p:spPr>
          <a:xfrm>
            <a:off x="457200" y="292680"/>
            <a:ext cx="11274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192A30"/>
                </a:solidFill>
                <a:effectLst/>
                <a:uFillTx/>
                <a:latin typeface="Calibri"/>
                <a:ea typeface="Calibri"/>
              </a:rPr>
              <a:t>How Deep RL Trains an Interpretable Controller</a:t>
            </a:r>
            <a:endParaRPr lang="en-US" sz="2200" b="0" u="none" strike="noStrike">
              <a:solidFill>
                <a:srgbClr val="000000"/>
              </a:solidFill>
              <a:effectLst/>
              <a:uFillTx/>
              <a:latin typeface="Arial"/>
            </a:endParaRPr>
          </a:p>
        </p:txBody>
      </p:sp>
      <p:sp>
        <p:nvSpPr>
          <p:cNvPr id="142" name="Text 1"/>
          <p:cNvSpPr/>
          <p:nvPr/>
        </p:nvSpPr>
        <p:spPr>
          <a:xfrm>
            <a:off x="457200" y="713160"/>
            <a:ext cx="11274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92A30"/>
                </a:solidFill>
                <a:effectLst/>
                <a:uFillTx/>
                <a:latin typeface="Calibri"/>
                <a:ea typeface="Calibri"/>
              </a:rPr>
              <a:t>SYSTEM ARCHITECTURE</a:t>
            </a:r>
            <a:endParaRPr lang="en-US" sz="1300" b="0" u="none" strike="noStrike">
              <a:solidFill>
                <a:srgbClr val="000000"/>
              </a:solidFill>
              <a:effectLst/>
              <a:uFillTx/>
              <a:latin typeface="Arial"/>
            </a:endParaRPr>
          </a:p>
        </p:txBody>
      </p:sp>
      <p:sp>
        <p:nvSpPr>
          <p:cNvPr id="143" name="Shape 2"/>
          <p:cNvSpPr/>
          <p:nvPr/>
        </p:nvSpPr>
        <p:spPr>
          <a:xfrm>
            <a:off x="457200" y="1737360"/>
            <a:ext cx="2331360" cy="1051200"/>
          </a:xfrm>
          <a:prstGeom prst="roundRect">
            <a:avLst>
              <a:gd name="adj" fmla="val 8696"/>
            </a:avLst>
          </a:prstGeom>
          <a:solidFill>
            <a:srgbClr val="FFFFFF"/>
          </a:solidFill>
          <a:ln w="0">
            <a:noFill/>
          </a:ln>
          <a:effectLst>
            <a:outerShdw algn="bl" blurRad="63360" dir="5400000" dist="25560" rotWithShape="0">
              <a:srgbClr val="000000">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4" name="Text 3"/>
          <p:cNvSpPr/>
          <p:nvPr/>
        </p:nvSpPr>
        <p:spPr>
          <a:xfrm>
            <a:off x="594360" y="1847160"/>
            <a:ext cx="2057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92A30"/>
                </a:solidFill>
                <a:effectLst/>
                <a:uFillTx/>
                <a:latin typeface="Calibri"/>
                <a:ea typeface="Calibri"/>
              </a:rPr>
              <a:t>Traffic State</a:t>
            </a:r>
            <a:endParaRPr lang="en-US" sz="1250" b="0" u="none" strike="noStrike">
              <a:solidFill>
                <a:srgbClr val="000000"/>
              </a:solidFill>
              <a:effectLst/>
              <a:uFillTx/>
              <a:latin typeface="Arial"/>
            </a:endParaRPr>
          </a:p>
        </p:txBody>
      </p:sp>
      <p:sp>
        <p:nvSpPr>
          <p:cNvPr id="145" name="Text 4"/>
          <p:cNvSpPr/>
          <p:nvPr/>
        </p:nvSpPr>
        <p:spPr>
          <a:xfrm>
            <a:off x="594360" y="2267640"/>
            <a:ext cx="20570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7F8C8D"/>
                </a:solidFill>
                <a:effectLst/>
                <a:uFillTx/>
                <a:latin typeface="Calibri"/>
                <a:ea typeface="Calibri"/>
              </a:rPr>
              <a:t>Queues, speed, wait</a:t>
            </a:r>
            <a:endParaRPr lang="en-US" sz="1050" b="0" u="none" strike="noStrike">
              <a:solidFill>
                <a:srgbClr val="000000"/>
              </a:solidFill>
              <a:effectLst/>
              <a:uFillTx/>
              <a:latin typeface="Arial"/>
            </a:endParaRPr>
          </a:p>
        </p:txBody>
      </p:sp>
      <p:sp>
        <p:nvSpPr>
          <p:cNvPr id="146" name="Shape 5"/>
          <p:cNvSpPr/>
          <p:nvPr/>
        </p:nvSpPr>
        <p:spPr>
          <a:xfrm>
            <a:off x="2816280" y="2135160"/>
            <a:ext cx="273960" cy="255600"/>
          </a:xfrm>
          <a:prstGeom prst="chevron">
            <a:avLst>
              <a:gd name="adj" fmla="val 50000"/>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7" name="Shape 6"/>
          <p:cNvSpPr/>
          <p:nvPr/>
        </p:nvSpPr>
        <p:spPr>
          <a:xfrm>
            <a:off x="3108960" y="1737360"/>
            <a:ext cx="2331360" cy="1051200"/>
          </a:xfrm>
          <a:prstGeom prst="roundRect">
            <a:avLst>
              <a:gd name="adj" fmla="val 8696"/>
            </a:avLst>
          </a:prstGeom>
          <a:solidFill>
            <a:srgbClr val="FFFFFF"/>
          </a:solidFill>
          <a:ln w="0">
            <a:noFill/>
          </a:ln>
          <a:effectLst>
            <a:outerShdw algn="bl" blurRad="63360" dir="5400000" dist="25560" rotWithShape="0">
              <a:srgbClr val="000000">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8" name="Text 7"/>
          <p:cNvSpPr/>
          <p:nvPr/>
        </p:nvSpPr>
        <p:spPr>
          <a:xfrm>
            <a:off x="3246120" y="1847160"/>
            <a:ext cx="2057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92A30"/>
                </a:solidFill>
                <a:effectLst/>
                <a:uFillTx/>
                <a:latin typeface="Calibri"/>
                <a:ea typeface="Calibri"/>
              </a:rPr>
              <a:t>Environment</a:t>
            </a:r>
            <a:endParaRPr lang="en-US" sz="1250" b="0" u="none" strike="noStrike">
              <a:solidFill>
                <a:srgbClr val="000000"/>
              </a:solidFill>
              <a:effectLst/>
              <a:uFillTx/>
              <a:latin typeface="Arial"/>
            </a:endParaRPr>
          </a:p>
        </p:txBody>
      </p:sp>
      <p:sp>
        <p:nvSpPr>
          <p:cNvPr id="149" name="Text 8"/>
          <p:cNvSpPr/>
          <p:nvPr/>
        </p:nvSpPr>
        <p:spPr>
          <a:xfrm>
            <a:off x="3246120" y="2267640"/>
            <a:ext cx="20570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7F8C8D"/>
                </a:solidFill>
                <a:effectLst/>
                <a:uFillTx/>
                <a:latin typeface="Calibri"/>
                <a:ea typeface="Calibri"/>
              </a:rPr>
              <a:t>SUMO</a:t>
            </a:r>
            <a:endParaRPr lang="en-US" sz="1050" b="0" u="none" strike="noStrike">
              <a:solidFill>
                <a:srgbClr val="000000"/>
              </a:solidFill>
              <a:effectLst/>
              <a:uFillTx/>
              <a:latin typeface="Arial"/>
            </a:endParaRPr>
          </a:p>
        </p:txBody>
      </p:sp>
      <p:sp>
        <p:nvSpPr>
          <p:cNvPr id="150" name="Shape 9"/>
          <p:cNvSpPr/>
          <p:nvPr/>
        </p:nvSpPr>
        <p:spPr>
          <a:xfrm>
            <a:off x="5468040" y="2135160"/>
            <a:ext cx="273960" cy="255600"/>
          </a:xfrm>
          <a:prstGeom prst="chevron">
            <a:avLst>
              <a:gd name="adj" fmla="val 50000"/>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1" name="Shape 10"/>
          <p:cNvSpPr/>
          <p:nvPr/>
        </p:nvSpPr>
        <p:spPr>
          <a:xfrm>
            <a:off x="5760720" y="1737360"/>
            <a:ext cx="2331360" cy="1051200"/>
          </a:xfrm>
          <a:prstGeom prst="roundRect">
            <a:avLst>
              <a:gd name="adj" fmla="val 8696"/>
            </a:avLst>
          </a:prstGeom>
          <a:solidFill>
            <a:srgbClr val="FFFFFF"/>
          </a:solidFill>
          <a:ln w="0">
            <a:noFill/>
          </a:ln>
          <a:effectLst>
            <a:outerShdw algn="bl" blurRad="63360" dir="5400000" dist="25560" rotWithShape="0">
              <a:srgbClr val="000000">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2" name="Text 11"/>
          <p:cNvSpPr/>
          <p:nvPr/>
        </p:nvSpPr>
        <p:spPr>
          <a:xfrm>
            <a:off x="5897880" y="1847160"/>
            <a:ext cx="2057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92A30"/>
                </a:solidFill>
                <a:effectLst/>
                <a:uFillTx/>
                <a:latin typeface="Calibri"/>
                <a:ea typeface="Calibri"/>
              </a:rPr>
              <a:t>DQN Q-Network</a:t>
            </a:r>
            <a:endParaRPr lang="en-US" sz="1250" b="0" u="none" strike="noStrike">
              <a:solidFill>
                <a:srgbClr val="000000"/>
              </a:solidFill>
              <a:effectLst/>
              <a:uFillTx/>
              <a:latin typeface="Arial"/>
            </a:endParaRPr>
          </a:p>
        </p:txBody>
      </p:sp>
      <p:sp>
        <p:nvSpPr>
          <p:cNvPr id="153" name="Text 12"/>
          <p:cNvSpPr/>
          <p:nvPr/>
        </p:nvSpPr>
        <p:spPr>
          <a:xfrm>
            <a:off x="5897880" y="2267640"/>
            <a:ext cx="20570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7F8C8D"/>
                </a:solidFill>
                <a:effectLst/>
                <a:uFillTx/>
                <a:latin typeface="Calibri"/>
                <a:ea typeface="Calibri"/>
              </a:rPr>
              <a:t>Learns Q(s,a)</a:t>
            </a:r>
            <a:endParaRPr lang="en-US" sz="1050" b="0" u="none" strike="noStrike">
              <a:solidFill>
                <a:srgbClr val="000000"/>
              </a:solidFill>
              <a:effectLst/>
              <a:uFillTx/>
              <a:latin typeface="Arial"/>
            </a:endParaRPr>
          </a:p>
        </p:txBody>
      </p:sp>
      <p:sp>
        <p:nvSpPr>
          <p:cNvPr id="154" name="Shape 13"/>
          <p:cNvSpPr/>
          <p:nvPr/>
        </p:nvSpPr>
        <p:spPr>
          <a:xfrm>
            <a:off x="8119800" y="2135160"/>
            <a:ext cx="273960" cy="255600"/>
          </a:xfrm>
          <a:prstGeom prst="chevron">
            <a:avLst>
              <a:gd name="adj" fmla="val 50000"/>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5" name="Shape 14"/>
          <p:cNvSpPr/>
          <p:nvPr/>
        </p:nvSpPr>
        <p:spPr>
          <a:xfrm>
            <a:off x="8412480" y="1737360"/>
            <a:ext cx="2331360" cy="1051200"/>
          </a:xfrm>
          <a:prstGeom prst="roundRect">
            <a:avLst>
              <a:gd name="adj" fmla="val 8696"/>
            </a:avLst>
          </a:prstGeom>
          <a:solidFill>
            <a:srgbClr val="FFFFFF"/>
          </a:solidFill>
          <a:ln w="0">
            <a:noFill/>
          </a:ln>
          <a:effectLst>
            <a:outerShdw algn="bl" blurRad="63360" dir="5400000" dist="25560" rotWithShape="0">
              <a:srgbClr val="000000">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6" name="Text 15"/>
          <p:cNvSpPr/>
          <p:nvPr/>
        </p:nvSpPr>
        <p:spPr>
          <a:xfrm>
            <a:off x="8549640" y="1847160"/>
            <a:ext cx="2057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92A30"/>
                </a:solidFill>
                <a:effectLst/>
                <a:uFillTx/>
                <a:latin typeface="Calibri"/>
                <a:ea typeface="Calibri"/>
              </a:rPr>
              <a:t>Best Action</a:t>
            </a:r>
            <a:endParaRPr lang="en-US" sz="1250" b="0" u="none" strike="noStrike">
              <a:solidFill>
                <a:srgbClr val="000000"/>
              </a:solidFill>
              <a:effectLst/>
              <a:uFillTx/>
              <a:latin typeface="Arial"/>
            </a:endParaRPr>
          </a:p>
        </p:txBody>
      </p:sp>
      <p:sp>
        <p:nvSpPr>
          <p:cNvPr id="157" name="Text 16"/>
          <p:cNvSpPr/>
          <p:nvPr/>
        </p:nvSpPr>
        <p:spPr>
          <a:xfrm>
            <a:off x="8549640" y="2267640"/>
            <a:ext cx="20570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7F8C8D"/>
                </a:solidFill>
                <a:effectLst/>
                <a:uFillTx/>
                <a:latin typeface="Calibri"/>
                <a:ea typeface="Calibri"/>
              </a:rPr>
              <a:t>argmax Q</a:t>
            </a:r>
            <a:endParaRPr lang="en-US" sz="1050" b="0" u="none" strike="noStrike">
              <a:solidFill>
                <a:srgbClr val="000000"/>
              </a:solidFill>
              <a:effectLst/>
              <a:uFillTx/>
              <a:latin typeface="Arial"/>
            </a:endParaRPr>
          </a:p>
        </p:txBody>
      </p:sp>
      <p:sp>
        <p:nvSpPr>
          <p:cNvPr id="158" name="Shape 17"/>
          <p:cNvSpPr/>
          <p:nvPr/>
        </p:nvSpPr>
        <p:spPr>
          <a:xfrm>
            <a:off x="9450360" y="2862000"/>
            <a:ext cx="255600" cy="365400"/>
          </a:xfrm>
          <a:prstGeom prst="downArrow">
            <a:avLst>
              <a:gd name="adj1" fmla="val 50000"/>
              <a:gd name="adj2" fmla="val 50000"/>
            </a:avLst>
          </a:prstGeom>
          <a:solidFill>
            <a:srgbClr val="8A9497"/>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9" name="Shape 18"/>
          <p:cNvSpPr/>
          <p:nvPr/>
        </p:nvSpPr>
        <p:spPr>
          <a:xfrm>
            <a:off x="457200" y="3383280"/>
            <a:ext cx="2331360" cy="1051200"/>
          </a:xfrm>
          <a:prstGeom prst="roundRect">
            <a:avLst>
              <a:gd name="adj" fmla="val 8696"/>
            </a:avLst>
          </a:prstGeom>
          <a:solidFill>
            <a:srgbClr val="FFFFFF"/>
          </a:solidFill>
          <a:ln w="0">
            <a:noFill/>
          </a:ln>
          <a:effectLst>
            <a:outerShdw algn="bl" blurRad="63360" dir="5400000" dist="25560" rotWithShape="0">
              <a:srgbClr val="000000">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0" name="Text 19"/>
          <p:cNvSpPr/>
          <p:nvPr/>
        </p:nvSpPr>
        <p:spPr>
          <a:xfrm>
            <a:off x="594360" y="3493080"/>
            <a:ext cx="2057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92A30"/>
                </a:solidFill>
                <a:effectLst/>
                <a:uFillTx/>
                <a:latin typeface="Calibri"/>
                <a:ea typeface="Calibri"/>
              </a:rPr>
              <a:t>Signal Action</a:t>
            </a:r>
            <a:endParaRPr lang="en-US" sz="1250" b="0" u="none" strike="noStrike">
              <a:solidFill>
                <a:srgbClr val="000000"/>
              </a:solidFill>
              <a:effectLst/>
              <a:uFillTx/>
              <a:latin typeface="Arial"/>
            </a:endParaRPr>
          </a:p>
        </p:txBody>
      </p:sp>
      <p:sp>
        <p:nvSpPr>
          <p:cNvPr id="161" name="Text 20"/>
          <p:cNvSpPr/>
          <p:nvPr/>
        </p:nvSpPr>
        <p:spPr>
          <a:xfrm>
            <a:off x="594360" y="3913560"/>
            <a:ext cx="20570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7F8C8D"/>
                </a:solidFill>
                <a:effectLst/>
                <a:uFillTx/>
                <a:latin typeface="Calibri"/>
                <a:ea typeface="Calibri"/>
              </a:rPr>
              <a:t>Valid phase set</a:t>
            </a:r>
            <a:endParaRPr lang="en-US" sz="1050" b="0" u="none" strike="noStrike">
              <a:solidFill>
                <a:srgbClr val="000000"/>
              </a:solidFill>
              <a:effectLst/>
              <a:uFillTx/>
              <a:latin typeface="Arial"/>
            </a:endParaRPr>
          </a:p>
        </p:txBody>
      </p:sp>
      <p:sp>
        <p:nvSpPr>
          <p:cNvPr id="162" name="Shape 21"/>
          <p:cNvSpPr/>
          <p:nvPr/>
        </p:nvSpPr>
        <p:spPr>
          <a:xfrm>
            <a:off x="2807280" y="3790080"/>
            <a:ext cx="273960" cy="237240"/>
          </a:xfrm>
          <a:prstGeom prst="leftArrow">
            <a:avLst>
              <a:gd name="adj1" fmla="val 50000"/>
              <a:gd name="adj2" fmla="val 50000"/>
            </a:avLst>
          </a:prstGeom>
          <a:solidFill>
            <a:srgbClr val="8A9497"/>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3" name="Shape 22"/>
          <p:cNvSpPr/>
          <p:nvPr/>
        </p:nvSpPr>
        <p:spPr>
          <a:xfrm>
            <a:off x="3108960" y="3383280"/>
            <a:ext cx="2331360" cy="1051200"/>
          </a:xfrm>
          <a:prstGeom prst="roundRect">
            <a:avLst>
              <a:gd name="adj" fmla="val 8696"/>
            </a:avLst>
          </a:prstGeom>
          <a:solidFill>
            <a:srgbClr val="FFFFFF"/>
          </a:solidFill>
          <a:ln w="0">
            <a:noFill/>
          </a:ln>
          <a:effectLst>
            <a:outerShdw algn="bl" blurRad="63360" dir="5400000" dist="25560" rotWithShape="0">
              <a:srgbClr val="000000">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4" name="Text 23"/>
          <p:cNvSpPr/>
          <p:nvPr/>
        </p:nvSpPr>
        <p:spPr>
          <a:xfrm>
            <a:off x="3246120" y="3493080"/>
            <a:ext cx="2057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92A30"/>
                </a:solidFill>
                <a:effectLst/>
                <a:uFillTx/>
                <a:latin typeface="Calibri"/>
                <a:ea typeface="Calibri"/>
              </a:rPr>
              <a:t>Regulatable G</a:t>
            </a:r>
            <a:endParaRPr lang="en-US" sz="1250" b="0" u="none" strike="noStrike">
              <a:solidFill>
                <a:srgbClr val="000000"/>
              </a:solidFill>
              <a:effectLst/>
              <a:uFillTx/>
              <a:latin typeface="Arial"/>
            </a:endParaRPr>
          </a:p>
        </p:txBody>
      </p:sp>
      <p:sp>
        <p:nvSpPr>
          <p:cNvPr id="165" name="Text 24"/>
          <p:cNvSpPr/>
          <p:nvPr/>
        </p:nvSpPr>
        <p:spPr>
          <a:xfrm>
            <a:off x="3246120" y="3913560"/>
            <a:ext cx="20570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7F8C8D"/>
                </a:solidFill>
                <a:effectLst/>
                <a:uFillTx/>
                <a:latin typeface="Calibri"/>
                <a:ea typeface="Calibri"/>
              </a:rPr>
              <a:t>Monotonic policy</a:t>
            </a:r>
            <a:endParaRPr lang="en-US" sz="1050" b="0" u="none" strike="noStrike">
              <a:solidFill>
                <a:srgbClr val="000000"/>
              </a:solidFill>
              <a:effectLst/>
              <a:uFillTx/>
              <a:latin typeface="Arial"/>
            </a:endParaRPr>
          </a:p>
        </p:txBody>
      </p:sp>
      <p:sp>
        <p:nvSpPr>
          <p:cNvPr id="166" name="Shape 25"/>
          <p:cNvSpPr/>
          <p:nvPr/>
        </p:nvSpPr>
        <p:spPr>
          <a:xfrm>
            <a:off x="5459040" y="3790080"/>
            <a:ext cx="273960" cy="237240"/>
          </a:xfrm>
          <a:prstGeom prst="leftArrow">
            <a:avLst>
              <a:gd name="adj1" fmla="val 50000"/>
              <a:gd name="adj2" fmla="val 50000"/>
            </a:avLst>
          </a:prstGeom>
          <a:solidFill>
            <a:srgbClr val="8A9497"/>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7" name="Shape 26"/>
          <p:cNvSpPr/>
          <p:nvPr/>
        </p:nvSpPr>
        <p:spPr>
          <a:xfrm>
            <a:off x="5760720" y="3383280"/>
            <a:ext cx="2331360" cy="1051200"/>
          </a:xfrm>
          <a:prstGeom prst="roundRect">
            <a:avLst>
              <a:gd name="adj" fmla="val 8696"/>
            </a:avLst>
          </a:prstGeom>
          <a:solidFill>
            <a:srgbClr val="107C41"/>
          </a:solidFill>
          <a:ln w="0">
            <a:noFill/>
          </a:ln>
          <a:effectLst>
            <a:outerShdw algn="bl" blurRad="63360" dir="5400000" dist="25560" rotWithShape="0">
              <a:srgbClr val="000000">
                <a:alpha val="10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8" name="Text 27"/>
          <p:cNvSpPr/>
          <p:nvPr/>
        </p:nvSpPr>
        <p:spPr>
          <a:xfrm>
            <a:off x="5897880" y="3493080"/>
            <a:ext cx="2057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FFFFFF"/>
                </a:solidFill>
                <a:effectLst/>
                <a:uFillTx/>
                <a:latin typeface="Calibri"/>
                <a:ea typeface="Calibri"/>
              </a:rPr>
              <a:t>DRHQ Training</a:t>
            </a:r>
            <a:endParaRPr lang="en-US" sz="1250" b="0" u="none" strike="noStrike">
              <a:solidFill>
                <a:srgbClr val="000000"/>
              </a:solidFill>
              <a:effectLst/>
              <a:uFillTx/>
              <a:latin typeface="Arial"/>
            </a:endParaRPr>
          </a:p>
        </p:txBody>
      </p:sp>
      <p:sp>
        <p:nvSpPr>
          <p:cNvPr id="169" name="Text 28"/>
          <p:cNvSpPr/>
          <p:nvPr/>
        </p:nvSpPr>
        <p:spPr>
          <a:xfrm>
            <a:off x="5897880" y="3913560"/>
            <a:ext cx="20570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E4F2EA"/>
                </a:solidFill>
                <a:effectLst/>
                <a:uFillTx/>
                <a:latin typeface="Calibri"/>
                <a:ea typeface="Calibri"/>
              </a:rPr>
              <a:t>Cross-entropy SGD</a:t>
            </a:r>
            <a:endParaRPr lang="en-US" sz="1050" b="0" u="none" strike="noStrike">
              <a:solidFill>
                <a:srgbClr val="000000"/>
              </a:solidFill>
              <a:effectLst/>
              <a:uFillTx/>
              <a:latin typeface="Arial"/>
            </a:endParaRPr>
          </a:p>
        </p:txBody>
      </p:sp>
      <p:sp>
        <p:nvSpPr>
          <p:cNvPr id="170" name="Shape 29"/>
          <p:cNvSpPr/>
          <p:nvPr/>
        </p:nvSpPr>
        <p:spPr>
          <a:xfrm>
            <a:off x="457200" y="4754880"/>
            <a:ext cx="10816920" cy="1234080"/>
          </a:xfrm>
          <a:prstGeom prst="roundRect">
            <a:avLst>
              <a:gd name="adj" fmla="val 8889"/>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1" name="Text 30"/>
          <p:cNvSpPr/>
          <p:nvPr/>
        </p:nvSpPr>
        <p:spPr>
          <a:xfrm>
            <a:off x="731520" y="4892040"/>
            <a:ext cx="5486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92A30"/>
                </a:solidFill>
                <a:effectLst/>
                <a:uFillTx/>
                <a:latin typeface="Calibri"/>
                <a:ea typeface="Calibri"/>
              </a:rPr>
              <a:t>WHY THIS WORKS</a:t>
            </a:r>
            <a:endParaRPr lang="en-US" sz="1100" b="0" u="none" strike="noStrike">
              <a:solidFill>
                <a:srgbClr val="000000"/>
              </a:solidFill>
              <a:effectLst/>
              <a:uFillTx/>
              <a:latin typeface="Arial"/>
            </a:endParaRPr>
          </a:p>
        </p:txBody>
      </p:sp>
      <p:sp>
        <p:nvSpPr>
          <p:cNvPr id="172" name="Text 31"/>
          <p:cNvSpPr/>
          <p:nvPr/>
        </p:nvSpPr>
        <p:spPr>
          <a:xfrm>
            <a:off x="731520" y="5184720"/>
            <a:ext cx="10240920" cy="7768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192A30"/>
              </a:buClr>
              <a:buFont typeface="Symbol" charset="2"/>
              <a:buChar char=""/>
            </a:pPr>
            <a:r>
              <a:rPr lang="en-US" sz="1080" b="0" u="none" strike="noStrike">
                <a:solidFill>
                  <a:srgbClr val="192A30"/>
                </a:solidFill>
                <a:effectLst/>
                <a:uFillTx/>
                <a:latin typeface="Calibri"/>
                <a:ea typeface="Calibri"/>
              </a:rPr>
              <a:t>DQN is off-policy: its Q-network keeps learning from replay even while the regulatable policy G is the one acting in the environment.</a:t>
            </a:r>
            <a:endParaRPr lang="en-US" sz="108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080" b="0" u="none" strike="noStrike">
                <a:solidFill>
                  <a:srgbClr val="192A30"/>
                </a:solidFill>
                <a:effectLst/>
                <a:uFillTx/>
                <a:latin typeface="Calibri"/>
                <a:ea typeface="Calibri"/>
              </a:rPr>
              <a:t>The high-capacity DNN supplies learning signal; G is only used for action selection — separating learning capacity from deployment interpretability.</a:t>
            </a:r>
            <a:endParaRPr lang="en-US" sz="1080" b="0" u="none" strike="noStrike">
              <a:solidFill>
                <a:srgbClr val="000000"/>
              </a:solidFill>
              <a:effectLst/>
              <a:uFillTx/>
              <a:latin typeface="Arial"/>
            </a:endParaRPr>
          </a:p>
        </p:txBody>
      </p:sp>
      <p:sp>
        <p:nvSpPr>
          <p:cNvPr id="173" name="Text 32"/>
          <p:cNvSpPr/>
          <p:nvPr/>
        </p:nvSpPr>
        <p:spPr>
          <a:xfrm>
            <a:off x="457200" y="640080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7F8C8D"/>
                </a:solidFill>
                <a:effectLst/>
                <a:uFillTx/>
                <a:latin typeface="Arial"/>
                <a:ea typeface="Arial"/>
              </a:rPr>
              <a:t>BITS Pilani | Deep Reinforcement Learning (WILP) | Assignment - I</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174"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One Training Update</a:t>
            </a:r>
            <a:endParaRPr lang="en-US" sz="2200" b="0" u="none" strike="noStrike">
              <a:solidFill>
                <a:srgbClr val="000000"/>
              </a:solidFill>
              <a:effectLst/>
              <a:uFillTx/>
              <a:latin typeface="Arial"/>
            </a:endParaRPr>
          </a:p>
        </p:txBody>
      </p:sp>
      <p:sp>
        <p:nvSpPr>
          <p:cNvPr id="175"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REPLAY, TARGET NETWORK AND ACTOR TEACHING</a:t>
            </a:r>
            <a:endParaRPr lang="en-US" sz="1300" b="0" u="none" strike="noStrike">
              <a:solidFill>
                <a:srgbClr val="000000"/>
              </a:solidFill>
              <a:effectLst/>
              <a:uFillTx/>
              <a:latin typeface="Arial"/>
            </a:endParaRPr>
          </a:p>
        </p:txBody>
      </p:sp>
      <p:sp>
        <p:nvSpPr>
          <p:cNvPr id="176"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177"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9</a:t>
            </a:r>
            <a:endParaRPr lang="en-US" sz="950" b="0" u="none" strike="noStrike">
              <a:solidFill>
                <a:srgbClr val="000000"/>
              </a:solidFill>
              <a:effectLst/>
              <a:uFillTx/>
              <a:latin typeface="Arial"/>
            </a:endParaRPr>
          </a:p>
        </p:txBody>
      </p:sp>
      <p:sp>
        <p:nvSpPr>
          <p:cNvPr id="178" name=""/>
          <p:cNvSpPr/>
          <p:nvPr/>
        </p:nvSpPr>
        <p:spPr>
          <a:xfrm>
            <a:off x="457200" y="1562040"/>
            <a:ext cx="2361960" cy="856800"/>
          </a:xfrm>
          <a:prstGeom prst="roundRect">
            <a:avLst>
              <a:gd name="adj" fmla="val 8889"/>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79" name=""/>
          <p:cNvSpPr/>
          <p:nvPr/>
        </p:nvSpPr>
        <p:spPr>
          <a:xfrm>
            <a:off x="581040" y="1695600"/>
            <a:ext cx="2114280" cy="6663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1" u="none" strike="noStrike">
                <a:solidFill>
                  <a:srgbClr val="192A30"/>
                </a:solidFill>
                <a:effectLst/>
                <a:uFillTx/>
                <a:latin typeface="Calibri"/>
                <a:ea typeface="Calibri"/>
              </a:rPr>
              <a:t>Observe state</a:t>
            </a:r>
            <a:endParaRPr lang="en-US" sz="1650" b="0" u="none" strike="noStrike">
              <a:solidFill>
                <a:srgbClr val="000000"/>
              </a:solidFill>
              <a:effectLst/>
              <a:uFillTx/>
              <a:latin typeface="Arial"/>
            </a:endParaRPr>
          </a:p>
          <a:p>
            <a:pPr defTabSz="914400">
              <a:lnSpc>
                <a:spcPct val="100000"/>
              </a:lnSpc>
            </a:pPr>
            <a:r>
              <a:rPr lang="en-US" sz="1650" b="1" u="none" strike="noStrike">
                <a:solidFill>
                  <a:srgbClr val="192A30"/>
                </a:solidFill>
                <a:effectLst/>
                <a:uFillTx/>
                <a:latin typeface="Calibri"/>
                <a:ea typeface="Calibri"/>
              </a:rPr>
              <a:t>G selects action</a:t>
            </a:r>
            <a:endParaRPr lang="en-US" sz="1650" b="0" u="none" strike="noStrike">
              <a:solidFill>
                <a:srgbClr val="000000"/>
              </a:solidFill>
              <a:effectLst/>
              <a:uFillTx/>
              <a:latin typeface="Arial"/>
            </a:endParaRPr>
          </a:p>
        </p:txBody>
      </p:sp>
      <p:sp>
        <p:nvSpPr>
          <p:cNvPr id="180" name=""/>
          <p:cNvSpPr/>
          <p:nvPr/>
        </p:nvSpPr>
        <p:spPr>
          <a:xfrm>
            <a:off x="2971800" y="1857240"/>
            <a:ext cx="399600" cy="228240"/>
          </a:xfrm>
          <a:prstGeom prst="rightArrow">
            <a:avLst>
              <a:gd name="adj1" fmla="val 50000"/>
              <a:gd name="adj2" fmla="val 50000"/>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1" name=""/>
          <p:cNvSpPr/>
          <p:nvPr/>
        </p:nvSpPr>
        <p:spPr>
          <a:xfrm>
            <a:off x="3486240" y="1562040"/>
            <a:ext cx="2476080" cy="856800"/>
          </a:xfrm>
          <a:prstGeom prst="roundRect">
            <a:avLst>
              <a:gd name="adj" fmla="val 8889"/>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82" name=""/>
          <p:cNvSpPr/>
          <p:nvPr/>
        </p:nvSpPr>
        <p:spPr>
          <a:xfrm>
            <a:off x="3610080" y="1695600"/>
            <a:ext cx="2228400" cy="6663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1" u="none" strike="noStrike">
                <a:solidFill>
                  <a:srgbClr val="192A30"/>
                </a:solidFill>
                <a:effectLst/>
                <a:uFillTx/>
                <a:latin typeface="Calibri"/>
                <a:ea typeface="Calibri"/>
              </a:rPr>
              <a:t>Execute action</a:t>
            </a:r>
            <a:endParaRPr lang="en-US" sz="1650" b="0" u="none" strike="noStrike">
              <a:solidFill>
                <a:srgbClr val="000000"/>
              </a:solidFill>
              <a:effectLst/>
              <a:uFillTx/>
              <a:latin typeface="Arial"/>
            </a:endParaRPr>
          </a:p>
          <a:p>
            <a:pPr defTabSz="914400">
              <a:lnSpc>
                <a:spcPct val="100000"/>
              </a:lnSpc>
            </a:pPr>
            <a:r>
              <a:rPr lang="en-US" sz="1650" b="1" u="none" strike="noStrike">
                <a:solidFill>
                  <a:srgbClr val="192A30"/>
                </a:solidFill>
                <a:effectLst/>
                <a:uFillTx/>
                <a:latin typeface="Calibri"/>
                <a:ea typeface="Calibri"/>
              </a:rPr>
              <a:t>Store transition</a:t>
            </a:r>
            <a:endParaRPr lang="en-US" sz="1650" b="0" u="none" strike="noStrike">
              <a:solidFill>
                <a:srgbClr val="000000"/>
              </a:solidFill>
              <a:effectLst/>
              <a:uFillTx/>
              <a:latin typeface="Arial"/>
            </a:endParaRPr>
          </a:p>
        </p:txBody>
      </p:sp>
      <p:sp>
        <p:nvSpPr>
          <p:cNvPr id="183" name=""/>
          <p:cNvSpPr/>
          <p:nvPr/>
        </p:nvSpPr>
        <p:spPr>
          <a:xfrm>
            <a:off x="6095880" y="1857240"/>
            <a:ext cx="399600" cy="228240"/>
          </a:xfrm>
          <a:prstGeom prst="rightArrow">
            <a:avLst>
              <a:gd name="adj1" fmla="val 50000"/>
              <a:gd name="adj2" fmla="val 50000"/>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4" name=""/>
          <p:cNvSpPr/>
          <p:nvPr/>
        </p:nvSpPr>
        <p:spPr>
          <a:xfrm>
            <a:off x="6629400" y="1562040"/>
            <a:ext cx="2361960" cy="856800"/>
          </a:xfrm>
          <a:prstGeom prst="roundRect">
            <a:avLst>
              <a:gd name="adj" fmla="val 8889"/>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85" name=""/>
          <p:cNvSpPr/>
          <p:nvPr/>
        </p:nvSpPr>
        <p:spPr>
          <a:xfrm>
            <a:off x="6753240" y="1695600"/>
            <a:ext cx="2114280" cy="6663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1" u="none" strike="noStrike">
                <a:solidFill>
                  <a:srgbClr val="192A30"/>
                </a:solidFill>
                <a:effectLst/>
                <a:uFillTx/>
                <a:latin typeface="Calibri"/>
                <a:ea typeface="Calibri"/>
              </a:rPr>
              <a:t>Sample replay</a:t>
            </a:r>
            <a:endParaRPr lang="en-US" sz="1650" b="0" u="none" strike="noStrike">
              <a:solidFill>
                <a:srgbClr val="000000"/>
              </a:solidFill>
              <a:effectLst/>
              <a:uFillTx/>
              <a:latin typeface="Arial"/>
            </a:endParaRPr>
          </a:p>
          <a:p>
            <a:pPr defTabSz="914400">
              <a:lnSpc>
                <a:spcPct val="100000"/>
              </a:lnSpc>
            </a:pPr>
            <a:r>
              <a:rPr lang="en-US" sz="1650" b="1" u="none" strike="noStrike">
                <a:solidFill>
                  <a:srgbClr val="192A30"/>
                </a:solidFill>
                <a:effectLst/>
                <a:uFillTx/>
                <a:latin typeface="Calibri"/>
                <a:ea typeface="Calibri"/>
              </a:rPr>
              <a:t>Batch size 32</a:t>
            </a:r>
            <a:endParaRPr lang="en-US" sz="1650" b="0" u="none" strike="noStrike">
              <a:solidFill>
                <a:srgbClr val="000000"/>
              </a:solidFill>
              <a:effectLst/>
              <a:uFillTx/>
              <a:latin typeface="Arial"/>
            </a:endParaRPr>
          </a:p>
        </p:txBody>
      </p:sp>
      <p:sp>
        <p:nvSpPr>
          <p:cNvPr id="186" name=""/>
          <p:cNvSpPr/>
          <p:nvPr/>
        </p:nvSpPr>
        <p:spPr>
          <a:xfrm>
            <a:off x="9153360" y="1857240"/>
            <a:ext cx="399600" cy="228240"/>
          </a:xfrm>
          <a:prstGeom prst="rightArrow">
            <a:avLst>
              <a:gd name="adj1" fmla="val 50000"/>
              <a:gd name="adj2" fmla="val 50000"/>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7" name=""/>
          <p:cNvSpPr/>
          <p:nvPr/>
        </p:nvSpPr>
        <p:spPr>
          <a:xfrm>
            <a:off x="9563040" y="1562040"/>
            <a:ext cx="2171520" cy="856800"/>
          </a:xfrm>
          <a:prstGeom prst="roundRect">
            <a:avLst>
              <a:gd name="adj" fmla="val 8889"/>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88" name=""/>
          <p:cNvSpPr/>
          <p:nvPr/>
        </p:nvSpPr>
        <p:spPr>
          <a:xfrm>
            <a:off x="9686880" y="1695600"/>
            <a:ext cx="1923840" cy="6663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1" u="none" strike="noStrike">
                <a:solidFill>
                  <a:srgbClr val="192A30"/>
                </a:solidFill>
                <a:effectLst/>
                <a:uFillTx/>
                <a:latin typeface="Calibri"/>
                <a:ea typeface="Calibri"/>
              </a:rPr>
              <a:t>Update Q</a:t>
            </a:r>
            <a:endParaRPr lang="en-US" sz="1650" b="0" u="none" strike="noStrike">
              <a:solidFill>
                <a:srgbClr val="000000"/>
              </a:solidFill>
              <a:effectLst/>
              <a:uFillTx/>
              <a:latin typeface="Arial"/>
            </a:endParaRPr>
          </a:p>
          <a:p>
            <a:pPr defTabSz="914400">
              <a:lnSpc>
                <a:spcPct val="100000"/>
              </a:lnSpc>
            </a:pPr>
            <a:r>
              <a:rPr lang="en-US" sz="1650" b="1" u="none" strike="noStrike">
                <a:solidFill>
                  <a:srgbClr val="192A30"/>
                </a:solidFill>
                <a:effectLst/>
                <a:uFillTx/>
                <a:latin typeface="Calibri"/>
                <a:ea typeface="Calibri"/>
              </a:rPr>
              <a:t>Huber + Adam</a:t>
            </a:r>
            <a:endParaRPr lang="en-US" sz="1650" b="0" u="none" strike="noStrike">
              <a:solidFill>
                <a:srgbClr val="000000"/>
              </a:solidFill>
              <a:effectLst/>
              <a:uFillTx/>
              <a:latin typeface="Arial"/>
            </a:endParaRPr>
          </a:p>
        </p:txBody>
      </p:sp>
      <p:sp>
        <p:nvSpPr>
          <p:cNvPr id="189" name=""/>
          <p:cNvSpPr/>
          <p:nvPr/>
        </p:nvSpPr>
        <p:spPr>
          <a:xfrm>
            <a:off x="457200" y="289548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107C41"/>
                </a:solidFill>
                <a:effectLst/>
                <a:uFillTx/>
                <a:latin typeface="Calibri"/>
                <a:ea typeface="Calibri"/>
              </a:rPr>
              <a:t>Teacher: y = r + γ × (1 − terminal) × max Qtarget(s′)</a:t>
            </a:r>
            <a:endParaRPr lang="en-US" sz="2170" b="0" u="none" strike="noStrike">
              <a:solidFill>
                <a:srgbClr val="000000"/>
              </a:solidFill>
              <a:effectLst/>
              <a:uFillTx/>
              <a:latin typeface="Arial"/>
            </a:endParaRPr>
          </a:p>
        </p:txBody>
      </p:sp>
      <p:sp>
        <p:nvSpPr>
          <p:cNvPr id="190" name=""/>
          <p:cNvSpPr/>
          <p:nvPr/>
        </p:nvSpPr>
        <p:spPr>
          <a:xfrm>
            <a:off x="457200" y="3505320"/>
            <a:ext cx="11277360" cy="7426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00" b="0" u="none" strike="noStrike">
                <a:solidFill>
                  <a:srgbClr val="192A30"/>
                </a:solidFill>
                <a:effectLst/>
                <a:uFillTx/>
                <a:latin typeface="Calibri"/>
                <a:ea typeface="Calibri"/>
              </a:rPr>
              <a:t>Arithmetic check: r = −0.40, γ = 0.95, max Qtarget = −2.0</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192A30"/>
                </a:solidFill>
                <a:effectLst/>
                <a:uFillTx/>
                <a:latin typeface="Calibri"/>
                <a:ea typeface="Calibri"/>
              </a:rPr>
              <a:t>Nonterminal y = −2.30. Terminal y = −0.40.</a:t>
            </a:r>
            <a:endParaRPr lang="en-US" sz="1800" b="0" u="none" strike="noStrike">
              <a:solidFill>
                <a:srgbClr val="000000"/>
              </a:solidFill>
              <a:effectLst/>
              <a:uFillTx/>
              <a:latin typeface="Arial"/>
            </a:endParaRPr>
          </a:p>
        </p:txBody>
      </p:sp>
      <p:sp>
        <p:nvSpPr>
          <p:cNvPr id="191" name=""/>
          <p:cNvSpPr/>
          <p:nvPr/>
        </p:nvSpPr>
        <p:spPr>
          <a:xfrm>
            <a:off x="457200" y="4591080"/>
            <a:ext cx="11277360" cy="818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00" b="1" u="none" strike="noStrike">
                <a:solidFill>
                  <a:srgbClr val="107C41"/>
                </a:solidFill>
                <a:effectLst/>
                <a:uFillTx/>
                <a:latin typeface="Calibri"/>
                <a:ea typeface="Calibri"/>
              </a:rPr>
              <a:t>DRHQ target = one-hot(argmax Q)     z = softmax(G)</a:t>
            </a:r>
            <a:endParaRPr lang="en-US" sz="2100" b="0" u="none" strike="noStrike">
              <a:solidFill>
                <a:srgbClr val="000000"/>
              </a:solidFill>
              <a:effectLst/>
              <a:uFillTx/>
              <a:latin typeface="Arial"/>
            </a:endParaRPr>
          </a:p>
          <a:p>
            <a:pPr defTabSz="914400">
              <a:lnSpc>
                <a:spcPct val="100000"/>
              </a:lnSpc>
            </a:pPr>
            <a:r>
              <a:rPr lang="en-US" sz="2100" b="1" u="none" strike="noStrike">
                <a:solidFill>
                  <a:srgbClr val="107C41"/>
                </a:solidFill>
                <a:effectLst/>
                <a:uFillTx/>
                <a:latin typeface="Calibri"/>
                <a:ea typeface="Calibri"/>
              </a:rPr>
              <a:t>Actor loss = −Σa target(a) log z(a)</a:t>
            </a:r>
            <a:endParaRPr lang="en-US" sz="2100" b="0" u="none" strike="noStrike">
              <a:solidFill>
                <a:srgbClr val="000000"/>
              </a:solidFill>
              <a:effectLst/>
              <a:uFillTx/>
              <a:latin typeface="Arial"/>
            </a:endParaRPr>
          </a:p>
        </p:txBody>
      </p:sp>
      <p:sp>
        <p:nvSpPr>
          <p:cNvPr id="192" name=""/>
          <p:cNvSpPr/>
          <p:nvPr/>
        </p:nvSpPr>
        <p:spPr>
          <a:xfrm>
            <a:off x="457200" y="5667480"/>
            <a:ext cx="11277360" cy="323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0" u="none" strike="noStrike">
                <a:solidFill>
                  <a:srgbClr val="192A30"/>
                </a:solidFill>
                <a:effectLst/>
                <a:uFillTx/>
                <a:latin typeface="Calibri"/>
                <a:ea typeface="Calibri"/>
              </a:rPr>
              <a:t>Q = [−2, −1], G = [0.5, 1.5]: z = [0.269, 0.731]. Target EW gives loss 0.313.</a:t>
            </a:r>
            <a:endParaRPr lang="en-US" sz="1650" b="0" u="none" strike="noStrike">
              <a:solidFill>
                <a:srgbClr val="000000"/>
              </a:solidFill>
              <a:effectLst/>
              <a:uFillTx/>
              <a:latin typeface="Arial"/>
            </a:endParaRPr>
          </a:p>
        </p:txBody>
      </p:sp>
      <p:sp>
        <p:nvSpPr>
          <p:cNvPr id="193"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Local settings: Q network 32–32 units, γ 0.95, target sync every 100 updates, 2 actor batches per teacher update.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194" name="Text 0"/>
          <p:cNvSpPr/>
          <p:nvPr/>
        </p:nvSpPr>
        <p:spPr>
          <a:xfrm>
            <a:off x="457200" y="292680"/>
            <a:ext cx="11274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192A30"/>
                </a:solidFill>
                <a:effectLst/>
                <a:uFillTx/>
                <a:latin typeface="Calibri"/>
                <a:ea typeface="Calibri"/>
              </a:rPr>
              <a:t>DRQ vs DRSQ vs DRHQ</a:t>
            </a:r>
            <a:endParaRPr lang="en-US" sz="2200" b="0" u="none" strike="noStrike">
              <a:solidFill>
                <a:srgbClr val="000000"/>
              </a:solidFill>
              <a:effectLst/>
              <a:uFillTx/>
              <a:latin typeface="Arial"/>
            </a:endParaRPr>
          </a:p>
        </p:txBody>
      </p:sp>
      <p:sp>
        <p:nvSpPr>
          <p:cNvPr id="195" name="Text 1"/>
          <p:cNvSpPr/>
          <p:nvPr/>
        </p:nvSpPr>
        <p:spPr>
          <a:xfrm>
            <a:off x="457200" y="713160"/>
            <a:ext cx="11274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92A30"/>
                </a:solidFill>
                <a:effectLst/>
                <a:uFillTx/>
                <a:latin typeface="Calibri"/>
                <a:ea typeface="Calibri"/>
              </a:rPr>
              <a:t>THREE WAYS TO TRAIN THE REGULATABLE POLICY</a:t>
            </a:r>
            <a:endParaRPr lang="en-US" sz="1300" b="0" u="none" strike="noStrike">
              <a:solidFill>
                <a:srgbClr val="000000"/>
              </a:solidFill>
              <a:effectLst/>
              <a:uFillTx/>
              <a:latin typeface="Arial"/>
            </a:endParaRPr>
          </a:p>
        </p:txBody>
      </p:sp>
      <p:sp>
        <p:nvSpPr>
          <p:cNvPr id="196" name="Shape 2"/>
          <p:cNvSpPr/>
          <p:nvPr/>
        </p:nvSpPr>
        <p:spPr>
          <a:xfrm>
            <a:off x="457200" y="1600200"/>
            <a:ext cx="3456000" cy="4205880"/>
          </a:xfrm>
          <a:prstGeom prst="roundRect">
            <a:avLst>
              <a:gd name="adj" fmla="val 3175"/>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7" name="Shape 3"/>
          <p:cNvSpPr/>
          <p:nvPr/>
        </p:nvSpPr>
        <p:spPr>
          <a:xfrm>
            <a:off x="65844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98" name="Text 4"/>
          <p:cNvSpPr/>
          <p:nvPr/>
        </p:nvSpPr>
        <p:spPr>
          <a:xfrm>
            <a:off x="65844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199" name="Text 5"/>
          <p:cNvSpPr/>
          <p:nvPr/>
        </p:nvSpPr>
        <p:spPr>
          <a:xfrm>
            <a:off x="1115640" y="1764720"/>
            <a:ext cx="2633040" cy="548280"/>
          </a:xfrm>
          <a:prstGeom prst="rect">
            <a:avLst/>
          </a:prstGeom>
          <a:noFill/>
          <a:ln w="0">
            <a:noFill/>
          </a:ln>
        </p:spPr>
        <p:style>
          <a:lnRef idx="0"/>
          <a:fillRef idx="0"/>
          <a:effectRef idx="0"/>
          <a:fontRef idx="minor"/>
        </p:style>
        <p:txBody>
          <a:bodyPr lIns="0" tIns="0" rIns="0" bIns="0" anchor="ctr">
            <a:noAutofit/>
          </a:bodyPr>
          <a:p>
            <a:pPr defTabSz="914400">
              <a:lnSpc>
                <a:spcPct val="102000"/>
              </a:lnSpc>
              <a:tabLst>
                <a:tab pos="0" algn="l"/>
              </a:tabLst>
            </a:pPr>
            <a:r>
              <a:rPr lang="en-US" sz="1250" b="1" u="none" strike="noStrike">
                <a:solidFill>
                  <a:srgbClr val="192A30"/>
                </a:solidFill>
                <a:effectLst/>
                <a:uFillTx/>
                <a:latin typeface="Calibri"/>
                <a:ea typeface="Calibri"/>
              </a:rPr>
              <a:t>DRQ — Match Q-Values</a:t>
            </a:r>
            <a:endParaRPr lang="en-US" sz="1250" b="0" u="none" strike="noStrike">
              <a:solidFill>
                <a:srgbClr val="000000"/>
              </a:solidFill>
              <a:effectLst/>
              <a:uFillTx/>
              <a:latin typeface="Arial"/>
            </a:endParaRPr>
          </a:p>
        </p:txBody>
      </p:sp>
      <p:sp>
        <p:nvSpPr>
          <p:cNvPr id="200" name="Text 6"/>
          <p:cNvSpPr/>
          <p:nvPr/>
        </p:nvSpPr>
        <p:spPr>
          <a:xfrm>
            <a:off x="713160" y="2468880"/>
            <a:ext cx="2998800" cy="32000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192A30"/>
              </a:buClr>
              <a:buFont typeface="Symbol" charset="2"/>
              <a:buChar char=""/>
            </a:pPr>
            <a:r>
              <a:rPr lang="en-US" sz="1060" b="0" u="none" strike="noStrike">
                <a:solidFill>
                  <a:srgbClr val="192A30"/>
                </a:solidFill>
                <a:effectLst/>
                <a:uFillTx/>
                <a:latin typeface="Calibri"/>
                <a:ea typeface="Calibri"/>
              </a:rPr>
              <a:t>Goal: make G approximate DQN’s action values directly.</a:t>
            </a:r>
            <a:endParaRPr lang="en-US" sz="106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060" b="0" u="none" strike="noStrike">
                <a:solidFill>
                  <a:srgbClr val="192A30"/>
                </a:solidFill>
                <a:effectLst/>
                <a:uFillTx/>
                <a:latin typeface="Calibri"/>
                <a:ea typeface="Calibri"/>
              </a:rPr>
              <a:t>Loss: squared error (yj − G(s,a))².</a:t>
            </a:r>
            <a:endParaRPr lang="en-US" sz="106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060" b="0" u="none" strike="noStrike">
                <a:solidFill>
                  <a:srgbClr val="192A30"/>
                </a:solidFill>
                <a:effectLst/>
                <a:uFillTx/>
                <a:latin typeface="Calibri"/>
                <a:ea typeface="Calibri"/>
              </a:rPr>
              <a:t>Limitation: G is far more constrained than a DNN — exact value-fitting is infeasible and performs poorly in practice.</a:t>
            </a:r>
            <a:endParaRPr lang="en-US" sz="1060" b="0" u="none" strike="noStrike">
              <a:solidFill>
                <a:srgbClr val="000000"/>
              </a:solidFill>
              <a:effectLst/>
              <a:uFillTx/>
              <a:latin typeface="Arial"/>
            </a:endParaRPr>
          </a:p>
        </p:txBody>
      </p:sp>
      <p:sp>
        <p:nvSpPr>
          <p:cNvPr id="201" name="Shape 7"/>
          <p:cNvSpPr/>
          <p:nvPr/>
        </p:nvSpPr>
        <p:spPr>
          <a:xfrm>
            <a:off x="4096440" y="1600200"/>
            <a:ext cx="3456000" cy="4205880"/>
          </a:xfrm>
          <a:prstGeom prst="roundRect">
            <a:avLst>
              <a:gd name="adj" fmla="val 3175"/>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2" name="Shape 8"/>
          <p:cNvSpPr/>
          <p:nvPr/>
        </p:nvSpPr>
        <p:spPr>
          <a:xfrm>
            <a:off x="429768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03" name="Text 9"/>
          <p:cNvSpPr/>
          <p:nvPr/>
        </p:nvSpPr>
        <p:spPr>
          <a:xfrm>
            <a:off x="429768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204" name="Text 10"/>
          <p:cNvSpPr/>
          <p:nvPr/>
        </p:nvSpPr>
        <p:spPr>
          <a:xfrm>
            <a:off x="4754880" y="1764720"/>
            <a:ext cx="2633040" cy="548280"/>
          </a:xfrm>
          <a:prstGeom prst="rect">
            <a:avLst/>
          </a:prstGeom>
          <a:noFill/>
          <a:ln w="0">
            <a:noFill/>
          </a:ln>
        </p:spPr>
        <p:style>
          <a:lnRef idx="0"/>
          <a:fillRef idx="0"/>
          <a:effectRef idx="0"/>
          <a:fontRef idx="minor"/>
        </p:style>
        <p:txBody>
          <a:bodyPr lIns="0" tIns="0" rIns="0" bIns="0" anchor="ctr">
            <a:noAutofit/>
          </a:bodyPr>
          <a:p>
            <a:pPr defTabSz="914400">
              <a:lnSpc>
                <a:spcPct val="102000"/>
              </a:lnSpc>
              <a:tabLst>
                <a:tab pos="0" algn="l"/>
              </a:tabLst>
            </a:pPr>
            <a:r>
              <a:rPr lang="en-US" sz="1250" b="1" u="none" strike="noStrike">
                <a:solidFill>
                  <a:srgbClr val="192A30"/>
                </a:solidFill>
                <a:effectLst/>
                <a:uFillTx/>
                <a:latin typeface="Calibri"/>
                <a:ea typeface="Calibri"/>
              </a:rPr>
              <a:t>DRSQ — Match Preferences</a:t>
            </a:r>
            <a:endParaRPr lang="en-US" sz="1250" b="0" u="none" strike="noStrike">
              <a:solidFill>
                <a:srgbClr val="000000"/>
              </a:solidFill>
              <a:effectLst/>
              <a:uFillTx/>
              <a:latin typeface="Arial"/>
            </a:endParaRPr>
          </a:p>
        </p:txBody>
      </p:sp>
      <p:sp>
        <p:nvSpPr>
          <p:cNvPr id="205" name="Text 11"/>
          <p:cNvSpPr/>
          <p:nvPr/>
        </p:nvSpPr>
        <p:spPr>
          <a:xfrm>
            <a:off x="4352400" y="2468880"/>
            <a:ext cx="2998800" cy="32000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192A30"/>
              </a:buClr>
              <a:buFont typeface="Symbol" charset="2"/>
              <a:buChar char=""/>
            </a:pPr>
            <a:r>
              <a:rPr lang="en-US" sz="1060" b="0" u="none" strike="noStrike">
                <a:solidFill>
                  <a:srgbClr val="192A30"/>
                </a:solidFill>
                <a:effectLst/>
                <a:uFillTx/>
                <a:latin typeface="Calibri"/>
                <a:ea typeface="Calibri"/>
              </a:rPr>
              <a:t>Goal: match softmax-normalized preferences of Q and G.</a:t>
            </a:r>
            <a:endParaRPr lang="en-US" sz="106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060" b="0" u="none" strike="noStrike">
                <a:solidFill>
                  <a:srgbClr val="192A30"/>
                </a:solidFill>
                <a:effectLst/>
                <a:uFillTx/>
                <a:latin typeface="Calibri"/>
                <a:ea typeface="Calibri"/>
              </a:rPr>
              <a:t>Loss: cross-entropy between softmax(Q) and softmax(G).</a:t>
            </a:r>
            <a:endParaRPr lang="en-US" sz="106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060" b="0" u="none" strike="noStrike">
                <a:solidFill>
                  <a:srgbClr val="192A30"/>
                </a:solidFill>
                <a:effectLst/>
                <a:uFillTx/>
                <a:latin typeface="Calibri"/>
                <a:ea typeface="Calibri"/>
              </a:rPr>
              <a:t>Benefit: doesn’t need exact numerical equivalence — only relative ranking.</a:t>
            </a:r>
            <a:endParaRPr lang="en-US" sz="1060" b="0" u="none" strike="noStrike">
              <a:solidFill>
                <a:srgbClr val="000000"/>
              </a:solidFill>
              <a:effectLst/>
              <a:uFillTx/>
              <a:latin typeface="Arial"/>
            </a:endParaRPr>
          </a:p>
        </p:txBody>
      </p:sp>
      <p:sp>
        <p:nvSpPr>
          <p:cNvPr id="206" name="Shape 12"/>
          <p:cNvSpPr/>
          <p:nvPr/>
        </p:nvSpPr>
        <p:spPr>
          <a:xfrm>
            <a:off x="7735680" y="1600200"/>
            <a:ext cx="3456000" cy="4205880"/>
          </a:xfrm>
          <a:prstGeom prst="roundRect">
            <a:avLst>
              <a:gd name="adj" fmla="val 3175"/>
            </a:avLst>
          </a:prstGeom>
          <a:solidFill>
            <a:srgbClr val="0D2B1C"/>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07" name="Shape 13"/>
          <p:cNvSpPr/>
          <p:nvPr/>
        </p:nvSpPr>
        <p:spPr>
          <a:xfrm>
            <a:off x="793692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08" name="Text 14"/>
          <p:cNvSpPr/>
          <p:nvPr/>
        </p:nvSpPr>
        <p:spPr>
          <a:xfrm>
            <a:off x="793692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209" name="Text 15"/>
          <p:cNvSpPr/>
          <p:nvPr/>
        </p:nvSpPr>
        <p:spPr>
          <a:xfrm>
            <a:off x="8394120" y="1764720"/>
            <a:ext cx="2633040" cy="548280"/>
          </a:xfrm>
          <a:prstGeom prst="rect">
            <a:avLst/>
          </a:prstGeom>
          <a:noFill/>
          <a:ln w="0">
            <a:noFill/>
          </a:ln>
        </p:spPr>
        <p:style>
          <a:lnRef idx="0"/>
          <a:fillRef idx="0"/>
          <a:effectRef idx="0"/>
          <a:fontRef idx="minor"/>
        </p:style>
        <p:txBody>
          <a:bodyPr lIns="0" tIns="0" rIns="0" bIns="0" anchor="ctr">
            <a:noAutofit/>
          </a:bodyPr>
          <a:p>
            <a:pPr defTabSz="914400">
              <a:lnSpc>
                <a:spcPct val="102000"/>
              </a:lnSpc>
              <a:tabLst>
                <a:tab pos="0" algn="l"/>
              </a:tabLst>
            </a:pPr>
            <a:r>
              <a:rPr lang="en-US" sz="1250" b="1" u="none" strike="noStrike">
                <a:solidFill>
                  <a:srgbClr val="FFFFFF"/>
                </a:solidFill>
                <a:effectLst/>
                <a:uFillTx/>
                <a:latin typeface="Calibri"/>
                <a:ea typeface="Calibri"/>
              </a:rPr>
              <a:t>DRHQ — Match Best Action Only</a:t>
            </a:r>
            <a:endParaRPr lang="en-US" sz="1250" b="0" u="none" strike="noStrike">
              <a:solidFill>
                <a:srgbClr val="000000"/>
              </a:solidFill>
              <a:effectLst/>
              <a:uFillTx/>
              <a:latin typeface="Arial"/>
            </a:endParaRPr>
          </a:p>
        </p:txBody>
      </p:sp>
      <p:sp>
        <p:nvSpPr>
          <p:cNvPr id="210" name="Text 16"/>
          <p:cNvSpPr/>
          <p:nvPr/>
        </p:nvSpPr>
        <p:spPr>
          <a:xfrm>
            <a:off x="7992000" y="2468880"/>
            <a:ext cx="2998800" cy="32000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E4F2EA"/>
              </a:buClr>
              <a:buFont typeface="Symbol" charset="2"/>
              <a:buChar char=""/>
            </a:pPr>
            <a:r>
              <a:rPr lang="en-US" sz="1060" b="0" u="none" strike="noStrike">
                <a:solidFill>
                  <a:srgbClr val="E4F2EA"/>
                </a:solidFill>
                <a:effectLst/>
                <a:uFillTx/>
                <a:latin typeface="Calibri"/>
                <a:ea typeface="Calibri"/>
              </a:rPr>
              <a:t>Goal: match only argmaxₐ Q(s,a) — the single best action.</a:t>
            </a:r>
            <a:endParaRPr lang="en-US" sz="1060" b="0" u="none" strike="noStrike">
              <a:solidFill>
                <a:srgbClr val="000000"/>
              </a:solidFill>
              <a:effectLst/>
              <a:uFillTx/>
              <a:latin typeface="Arial"/>
            </a:endParaRPr>
          </a:p>
          <a:p>
            <a:pPr marL="343080" indent="-343080" defTabSz="914400">
              <a:lnSpc>
                <a:spcPct val="108000"/>
              </a:lnSpc>
              <a:spcAft>
                <a:spcPts val="799"/>
              </a:spcAft>
              <a:buClr>
                <a:srgbClr val="E4F2EA"/>
              </a:buClr>
              <a:buFont typeface="Symbol" charset="2"/>
              <a:buChar char=""/>
            </a:pPr>
            <a:r>
              <a:rPr lang="en-US" sz="1060" b="0" u="none" strike="noStrike">
                <a:solidFill>
                  <a:srgbClr val="E4F2EA"/>
                </a:solidFill>
                <a:effectLst/>
                <a:uFillTx/>
                <a:latin typeface="Calibri"/>
                <a:ea typeface="Calibri"/>
              </a:rPr>
              <a:t>Target: one-hot hardmax vector; loss vs softmax(G).</a:t>
            </a:r>
            <a:endParaRPr lang="en-US" sz="1060" b="0" u="none" strike="noStrike">
              <a:solidFill>
                <a:srgbClr val="000000"/>
              </a:solidFill>
              <a:effectLst/>
              <a:uFillTx/>
              <a:latin typeface="Arial"/>
            </a:endParaRPr>
          </a:p>
          <a:p>
            <a:pPr marL="343080" indent="-343080" defTabSz="914400">
              <a:lnSpc>
                <a:spcPct val="108000"/>
              </a:lnSpc>
              <a:spcAft>
                <a:spcPts val="799"/>
              </a:spcAft>
              <a:buClr>
                <a:srgbClr val="E4F2EA"/>
              </a:buClr>
              <a:buFont typeface="Symbol" charset="2"/>
              <a:buChar char=""/>
            </a:pPr>
            <a:r>
              <a:rPr lang="en-US" sz="1060" b="0" u="none" strike="noStrike">
                <a:solidFill>
                  <a:srgbClr val="E4F2EA"/>
                </a:solidFill>
                <a:effectLst/>
                <a:uFillTx/>
                <a:latin typeface="Calibri"/>
                <a:ea typeface="Calibri"/>
              </a:rPr>
              <a:t>Key insight: policy equivalence only needs the same best action, not the same full Q-function — the paper’s strongest variant.</a:t>
            </a:r>
            <a:endParaRPr lang="en-US" sz="1060" b="0" u="none" strike="noStrike">
              <a:solidFill>
                <a:srgbClr val="000000"/>
              </a:solidFill>
              <a:effectLst/>
              <a:uFillTx/>
              <a:latin typeface="Arial"/>
            </a:endParaRPr>
          </a:p>
        </p:txBody>
      </p:sp>
      <p:sp>
        <p:nvSpPr>
          <p:cNvPr id="211" name="Text 17"/>
          <p:cNvSpPr/>
          <p:nvPr/>
        </p:nvSpPr>
        <p:spPr>
          <a:xfrm>
            <a:off x="457200" y="640080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7F8C8D"/>
                </a:solidFill>
                <a:effectLst/>
                <a:uFillTx/>
                <a:latin typeface="Arial"/>
                <a:ea typeface="Arial"/>
              </a:rPr>
              <a:t>BITS Pilani | Deep Reinforcement Learning (WILP) | Assignment - I</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212" name="Text 0"/>
          <p:cNvSpPr/>
          <p:nvPr/>
        </p:nvSpPr>
        <p:spPr>
          <a:xfrm>
            <a:off x="457200" y="292680"/>
            <a:ext cx="11274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192A30"/>
                </a:solidFill>
                <a:effectLst/>
                <a:uFillTx/>
                <a:latin typeface="Calibri"/>
                <a:ea typeface="Calibri"/>
              </a:rPr>
              <a:t>CMA-ES vs PPO vs Q-Learning</a:t>
            </a:r>
            <a:endParaRPr lang="en-US" sz="2200" b="0" u="none" strike="noStrike">
              <a:solidFill>
                <a:srgbClr val="000000"/>
              </a:solidFill>
              <a:effectLst/>
              <a:uFillTx/>
              <a:latin typeface="Arial"/>
            </a:endParaRPr>
          </a:p>
        </p:txBody>
      </p:sp>
      <p:sp>
        <p:nvSpPr>
          <p:cNvPr id="213" name="Text 1"/>
          <p:cNvSpPr/>
          <p:nvPr/>
        </p:nvSpPr>
        <p:spPr>
          <a:xfrm>
            <a:off x="457200" y="713160"/>
            <a:ext cx="11274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92A30"/>
                </a:solidFill>
                <a:effectLst/>
                <a:uFillTx/>
                <a:latin typeface="Calibri"/>
                <a:ea typeface="Calibri"/>
              </a:rPr>
              <a:t>ONLINE OPTIMIZATION, COMPARED</a:t>
            </a:r>
            <a:endParaRPr lang="en-US" sz="1300" b="0" u="none" strike="noStrike">
              <a:solidFill>
                <a:srgbClr val="000000"/>
              </a:solidFill>
              <a:effectLst/>
              <a:uFillTx/>
              <a:latin typeface="Arial"/>
            </a:endParaRPr>
          </a:p>
        </p:txBody>
      </p:sp>
      <p:graphicFrame>
        <p:nvGraphicFramePr>
          <p:cNvPr id="214" name="Table 0"/>
          <p:cNvGraphicFramePr/>
          <p:nvPr/>
        </p:nvGraphicFramePr>
        <p:xfrm>
          <a:off x="457200" y="1600200"/>
          <a:ext cx="11274120" cy="4206240"/>
        </p:xfrm>
        <a:graphic>
          <a:graphicData uri="http://schemas.openxmlformats.org/drawingml/2006/table">
            <a:tbl>
              <a:tblPr/>
              <a:tblGrid>
                <a:gridCol w="1920240"/>
                <a:gridCol w="3200400"/>
                <a:gridCol w="3227760"/>
                <a:gridCol w="2926080"/>
              </a:tblGrid>
              <a:tr h="1051560">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Method</a:t>
                      </a:r>
                      <a:endParaRPr lang="en-US" sz="1100" b="0" u="none" strike="noStrike">
                        <a:solidFill>
                          <a:srgbClr val="FFFFFF"/>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192A30"/>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Sample Efficiency</a:t>
                      </a:r>
                      <a:endParaRPr lang="en-US" sz="1100" b="0" u="none" strike="noStrike">
                        <a:solidFill>
                          <a:srgbClr val="FFFFFF"/>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192A30"/>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Behaviour During Tuning</a:t>
                      </a:r>
                      <a:endParaRPr lang="en-US" sz="1100" b="0" u="none" strike="noStrike">
                        <a:solidFill>
                          <a:srgbClr val="FFFFFF"/>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192A30"/>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Verdict</a:t>
                      </a:r>
                      <a:endParaRPr lang="en-US" sz="1100" b="0" u="none" strike="noStrike">
                        <a:solidFill>
                          <a:srgbClr val="FFFFFF"/>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192A30"/>
                    </a:solidFill>
                  </a:tcPr>
                </a:tc>
              </a:tr>
              <a:tr h="1051560">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CMA-ES</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Very poor — 24 full episodes per update; needs ~4,000 episodes (≈11 years of traffic) to stabilize.</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Erratic exploration: some sampled parameter sets fail to clear traffic entirely.</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Not viable online — used only as an offline performance ceiling / validation benchmark.</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r>
              <a:tr h="1051560">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PPO</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Smooth, monotonic learning curve, smoothest or most bounded exploration.</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~15 episodes to reach actuated-level performance in low/medium demand; never reaches it in high demand.</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Bounded updates reduce large policy changes, but risks settling in a sub-optimal local minimum.</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r>
              <a:tr h="1051560">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DQN-based (DRQ/DRSQ/DRHQ)</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Fastest convergence: DRSQ/DRHQ beat the actuated baseline after a single episode (low/medium demand).</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Off-policy learning lets the high-capacity Q-network guide a constrained regulatable policy.</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92A30"/>
                          </a:solidFill>
                          <a:effectLst/>
                          <a:uFillTx/>
                          <a:latin typeface="Calibri"/>
                          <a:ea typeface="Calibri"/>
                        </a:rPr>
                        <a:t>Chosen approach, best balance of convergence speed, final performance, and interpretability.</a:t>
                      </a:r>
                      <a:endParaRPr lang="en-US" sz="1100" b="0" u="none" strike="noStrike">
                        <a:solidFill>
                          <a:srgbClr val="000000"/>
                        </a:solidFill>
                        <a:effectLst/>
                        <a:uFillTx/>
                        <a:latin typeface="Arial"/>
                      </a:endParaRPr>
                    </a:p>
                  </a:txBody>
                  <a:tcPr anchor="ctr" marL="91440" marR="91440" marT="45720" marB="45720">
                    <a:lnL w="9360">
                      <a:solidFill>
                        <a:srgbClr val="D9DEDE"/>
                      </a:solidFill>
                      <a:prstDash val="solid"/>
                    </a:lnL>
                    <a:lnR w="9360">
                      <a:solidFill>
                        <a:srgbClr val="D9DEDE"/>
                      </a:solidFill>
                      <a:prstDash val="solid"/>
                    </a:lnR>
                    <a:lnT w="9360">
                      <a:solidFill>
                        <a:srgbClr val="D9DEDE"/>
                      </a:solidFill>
                      <a:prstDash val="solid"/>
                    </a:lnT>
                    <a:lnB w="9360">
                      <a:solidFill>
                        <a:srgbClr val="D9DEDE"/>
                      </a:solidFill>
                      <a:prstDash val="solid"/>
                    </a:lnB>
                    <a:solidFill>
                      <a:srgbClr val="FFFFFF"/>
                    </a:solidFill>
                  </a:tcPr>
                </a:tc>
              </a:tr>
            </a:tbl>
          </a:graphicData>
        </a:graphic>
      </p:graphicFrame>
      <p:sp>
        <p:nvSpPr>
          <p:cNvPr id="215" name="Text 2"/>
          <p:cNvSpPr/>
          <p:nvPr/>
        </p:nvSpPr>
        <p:spPr>
          <a:xfrm>
            <a:off x="457200" y="640080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7F8C8D"/>
                </a:solidFill>
                <a:effectLst/>
                <a:uFillTx/>
                <a:latin typeface="Arial"/>
                <a:ea typeface="Arial"/>
              </a:rPr>
              <a:t>BITS Pilani | Deep Reinforcement Learning (WILP) | Assignment - I</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216" name="Text 0"/>
          <p:cNvSpPr/>
          <p:nvPr/>
        </p:nvSpPr>
        <p:spPr>
          <a:xfrm>
            <a:off x="457200" y="292680"/>
            <a:ext cx="11274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192A30"/>
                </a:solidFill>
                <a:effectLst/>
                <a:uFillTx/>
                <a:latin typeface="Calibri"/>
                <a:ea typeface="Calibri"/>
              </a:rPr>
              <a:t>Experimental Setup</a:t>
            </a:r>
            <a:endParaRPr lang="en-US" sz="2200" b="0" u="none" strike="noStrike">
              <a:solidFill>
                <a:srgbClr val="000000"/>
              </a:solidFill>
              <a:effectLst/>
              <a:uFillTx/>
              <a:latin typeface="Arial"/>
            </a:endParaRPr>
          </a:p>
        </p:txBody>
      </p:sp>
      <p:sp>
        <p:nvSpPr>
          <p:cNvPr id="217" name="Text 1"/>
          <p:cNvSpPr/>
          <p:nvPr/>
        </p:nvSpPr>
        <p:spPr>
          <a:xfrm>
            <a:off x="457200" y="713160"/>
            <a:ext cx="11274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92A30"/>
                </a:solidFill>
                <a:effectLst/>
                <a:uFillTx/>
                <a:latin typeface="Calibri"/>
                <a:ea typeface="Calibri"/>
              </a:rPr>
              <a:t>SUMO + REAL TRAFFIC DEMAND</a:t>
            </a:r>
            <a:endParaRPr lang="en-US" sz="1300" b="0" u="none" strike="noStrike">
              <a:solidFill>
                <a:srgbClr val="000000"/>
              </a:solidFill>
              <a:effectLst/>
              <a:uFillTx/>
              <a:latin typeface="Arial"/>
            </a:endParaRPr>
          </a:p>
        </p:txBody>
      </p:sp>
      <p:sp>
        <p:nvSpPr>
          <p:cNvPr id="218" name="Shape 2"/>
          <p:cNvSpPr/>
          <p:nvPr/>
        </p:nvSpPr>
        <p:spPr>
          <a:xfrm>
            <a:off x="457200" y="1600200"/>
            <a:ext cx="5211720" cy="4205880"/>
          </a:xfrm>
          <a:prstGeom prst="roundRect">
            <a:avLst>
              <a:gd name="adj" fmla="val 2609"/>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9" name="Shape 3"/>
          <p:cNvSpPr/>
          <p:nvPr/>
        </p:nvSpPr>
        <p:spPr>
          <a:xfrm>
            <a:off x="65844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20" name="Text 4"/>
          <p:cNvSpPr/>
          <p:nvPr/>
        </p:nvSpPr>
        <p:spPr>
          <a:xfrm>
            <a:off x="65844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221" name="Text 5"/>
          <p:cNvSpPr/>
          <p:nvPr/>
        </p:nvSpPr>
        <p:spPr>
          <a:xfrm>
            <a:off x="1115640" y="1783080"/>
            <a:ext cx="43887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92A30"/>
                </a:solidFill>
                <a:effectLst/>
                <a:uFillTx/>
                <a:latin typeface="Calibri"/>
                <a:ea typeface="Calibri"/>
              </a:rPr>
              <a:t>Real-World Traffic Data</a:t>
            </a:r>
            <a:endParaRPr lang="en-US" sz="1300" b="0" u="none" strike="noStrike">
              <a:solidFill>
                <a:srgbClr val="000000"/>
              </a:solidFill>
              <a:effectLst/>
              <a:uFillTx/>
              <a:latin typeface="Arial"/>
            </a:endParaRPr>
          </a:p>
        </p:txBody>
      </p:sp>
      <p:sp>
        <p:nvSpPr>
          <p:cNvPr id="222" name="Text 6"/>
          <p:cNvSpPr/>
          <p:nvPr/>
        </p:nvSpPr>
        <p:spPr>
          <a:xfrm>
            <a:off x="749880" y="2377440"/>
            <a:ext cx="4617360" cy="3291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Intersection: State St &amp; E 4500 S, Murray, Utah — over 50,000 vehicles/day, peaking at 95 cars/minute.</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UDOT counts (2,092 signalized intersections, public dataset) aggregated in 5-minute windows and replayed in SUMO.</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Three 14-hour demand profiles (7 AM–9 PM): Low 45,112 vehicles, Medium 51,298 vehicles, High 61,261 vehicles.</a:t>
            </a:r>
            <a:endParaRPr lang="en-US" sz="1250" b="0" u="none" strike="noStrike">
              <a:solidFill>
                <a:srgbClr val="000000"/>
              </a:solidFill>
              <a:effectLst/>
              <a:uFillTx/>
              <a:latin typeface="Arial"/>
            </a:endParaRPr>
          </a:p>
        </p:txBody>
      </p:sp>
      <p:sp>
        <p:nvSpPr>
          <p:cNvPr id="223" name="Shape 7"/>
          <p:cNvSpPr/>
          <p:nvPr/>
        </p:nvSpPr>
        <p:spPr>
          <a:xfrm>
            <a:off x="6035040" y="1600200"/>
            <a:ext cx="5211720" cy="4205880"/>
          </a:xfrm>
          <a:prstGeom prst="roundRect">
            <a:avLst>
              <a:gd name="adj" fmla="val 2609"/>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4" name="Shape 8"/>
          <p:cNvSpPr/>
          <p:nvPr/>
        </p:nvSpPr>
        <p:spPr>
          <a:xfrm>
            <a:off x="623628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25" name="Text 9"/>
          <p:cNvSpPr/>
          <p:nvPr/>
        </p:nvSpPr>
        <p:spPr>
          <a:xfrm>
            <a:off x="623628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226" name="Text 10"/>
          <p:cNvSpPr/>
          <p:nvPr/>
        </p:nvSpPr>
        <p:spPr>
          <a:xfrm>
            <a:off x="6693480" y="1783080"/>
            <a:ext cx="43887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92A30"/>
                </a:solidFill>
                <a:effectLst/>
                <a:uFillTx/>
                <a:latin typeface="Calibri"/>
                <a:ea typeface="Calibri"/>
              </a:rPr>
              <a:t>Model &amp; Baseline Configuration</a:t>
            </a:r>
            <a:endParaRPr lang="en-US" sz="1300" b="0" u="none" strike="noStrike">
              <a:solidFill>
                <a:srgbClr val="000000"/>
              </a:solidFill>
              <a:effectLst/>
              <a:uFillTx/>
              <a:latin typeface="Arial"/>
            </a:endParaRPr>
          </a:p>
        </p:txBody>
      </p:sp>
      <p:sp>
        <p:nvSpPr>
          <p:cNvPr id="227" name="Text 11"/>
          <p:cNvSpPr/>
          <p:nvPr/>
        </p:nvSpPr>
        <p:spPr>
          <a:xfrm>
            <a:off x="6327720" y="2377440"/>
            <a:ext cx="4617360" cy="3291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10 phases → 11 valid non-conflicting phase combinations; minimum phase length 3s; 352 tunable parameters.</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DQN/DRQ variants: replay buffer 100,000; minibatch 32; ε reduced 0.05→0 after 20 episodes; discount 0.8 (0.9 under high demand).</a:t>
            </a:r>
            <a:endParaRPr lang="en-US" sz="12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250" b="0" u="none" strike="noStrike">
                <a:solidFill>
                  <a:srgbClr val="192A30"/>
                </a:solidFill>
                <a:effectLst/>
                <a:uFillTx/>
                <a:latin typeface="Calibri"/>
                <a:ea typeface="Calibri"/>
              </a:rPr>
              <a:t>Baseline: the commonly deployed actuated controller provided natively by SUMO (max green 300s) — not the weaker fixed-timing baseline used in earlier papers.</a:t>
            </a:r>
            <a:endParaRPr lang="en-US" sz="1250" b="0" u="none" strike="noStrike">
              <a:solidFill>
                <a:srgbClr val="000000"/>
              </a:solidFill>
              <a:effectLst/>
              <a:uFillTx/>
              <a:latin typeface="Arial"/>
            </a:endParaRPr>
          </a:p>
        </p:txBody>
      </p:sp>
      <p:sp>
        <p:nvSpPr>
          <p:cNvPr id="228" name="Text 12"/>
          <p:cNvSpPr/>
          <p:nvPr/>
        </p:nvSpPr>
        <p:spPr>
          <a:xfrm>
            <a:off x="457200" y="640080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7F8C8D"/>
                </a:solidFill>
                <a:effectLst/>
                <a:uFillTx/>
                <a:latin typeface="Arial"/>
                <a:ea typeface="Arial"/>
              </a:rPr>
              <a:t>BITS Pilani | Deep Reinforcement Learning (WILP) | Assignment - I</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229"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Results: Performance vs Interpretability</a:t>
            </a:r>
            <a:endParaRPr lang="en-US" sz="2200" b="0" u="none" strike="noStrike">
              <a:solidFill>
                <a:srgbClr val="000000"/>
              </a:solidFill>
              <a:effectLst/>
              <a:uFillTx/>
              <a:latin typeface="Arial"/>
            </a:endParaRPr>
          </a:p>
        </p:txBody>
      </p:sp>
      <p:sp>
        <p:nvSpPr>
          <p:cNvPr id="230"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VERIFIED PAPER FINDINGS</a:t>
            </a:r>
            <a:endParaRPr lang="en-US" sz="1300" b="0" u="none" strike="noStrike">
              <a:solidFill>
                <a:srgbClr val="000000"/>
              </a:solidFill>
              <a:effectLst/>
              <a:uFillTx/>
              <a:latin typeface="Arial"/>
            </a:endParaRPr>
          </a:p>
        </p:txBody>
      </p:sp>
      <p:sp>
        <p:nvSpPr>
          <p:cNvPr id="231"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232"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13</a:t>
            </a:r>
            <a:endParaRPr lang="en-US" sz="950" b="0" u="none" strike="noStrike">
              <a:solidFill>
                <a:srgbClr val="000000"/>
              </a:solidFill>
              <a:effectLst/>
              <a:uFillTx/>
              <a:latin typeface="Arial"/>
            </a:endParaRPr>
          </a:p>
        </p:txBody>
      </p:sp>
      <p:sp>
        <p:nvSpPr>
          <p:cNvPr id="233" name=""/>
          <p:cNvSpPr/>
          <p:nvPr/>
        </p:nvSpPr>
        <p:spPr>
          <a:xfrm>
            <a:off x="457200" y="1447920"/>
            <a:ext cx="4285800" cy="12380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6680" b="1" u="none" strike="noStrike">
                <a:solidFill>
                  <a:srgbClr val="107C41"/>
                </a:solidFill>
                <a:effectLst/>
                <a:uFillTx/>
                <a:latin typeface="Calibri"/>
                <a:ea typeface="Calibri"/>
              </a:rPr>
              <a:t>19.4%</a:t>
            </a:r>
            <a:endParaRPr lang="en-US" sz="6680" b="0" u="none" strike="noStrike">
              <a:solidFill>
                <a:srgbClr val="000000"/>
              </a:solidFill>
              <a:effectLst/>
              <a:uFillTx/>
              <a:latin typeface="Arial"/>
            </a:endParaRPr>
          </a:p>
        </p:txBody>
      </p:sp>
      <p:sp>
        <p:nvSpPr>
          <p:cNvPr id="234" name=""/>
          <p:cNvSpPr/>
          <p:nvPr/>
        </p:nvSpPr>
        <p:spPr>
          <a:xfrm>
            <a:off x="457200" y="2714760"/>
            <a:ext cx="10572480" cy="780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00" b="0" u="none" strike="noStrike">
                <a:solidFill>
                  <a:srgbClr val="192A30"/>
                </a:solidFill>
                <a:effectLst/>
                <a:uFillTx/>
                <a:latin typeface="Calibri"/>
                <a:ea typeface="Calibri"/>
              </a:rPr>
              <a:t>Maximum DRHQ delay reduction reported</a:t>
            </a:r>
            <a:endParaRPr lang="en-US" sz="2100" b="0" u="none" strike="noStrike">
              <a:solidFill>
                <a:srgbClr val="000000"/>
              </a:solidFill>
              <a:effectLst/>
              <a:uFillTx/>
              <a:latin typeface="Arial"/>
            </a:endParaRPr>
          </a:p>
          <a:p>
            <a:pPr defTabSz="914400">
              <a:lnSpc>
                <a:spcPct val="100000"/>
              </a:lnSpc>
            </a:pPr>
            <a:r>
              <a:rPr lang="en-US" sz="2100" b="0" u="none" strike="noStrike">
                <a:solidFill>
                  <a:srgbClr val="192A30"/>
                </a:solidFill>
                <a:effectLst/>
                <a:uFillTx/>
                <a:latin typeface="Calibri"/>
                <a:ea typeface="Calibri"/>
              </a:rPr>
              <a:t>against the paper’s actuated controller</a:t>
            </a:r>
            <a:endParaRPr lang="en-US" sz="2100" b="0" u="none" strike="noStrike">
              <a:solidFill>
                <a:srgbClr val="000000"/>
              </a:solidFill>
              <a:effectLst/>
              <a:uFillTx/>
              <a:latin typeface="Arial"/>
            </a:endParaRPr>
          </a:p>
        </p:txBody>
      </p:sp>
      <p:graphicFrame>
        <p:nvGraphicFramePr>
          <p:cNvPr id="235" name=""/>
          <p:cNvGraphicFramePr/>
          <p:nvPr/>
        </p:nvGraphicFramePr>
        <p:xfrm>
          <a:off x="457200" y="3828960"/>
          <a:ext cx="11277360" cy="1714320"/>
        </p:xfrm>
        <a:graphic>
          <a:graphicData uri="http://schemas.openxmlformats.org/drawingml/2006/table">
            <a:tbl>
              <a:tblPr/>
              <a:tblGrid>
                <a:gridCol w="2381040"/>
                <a:gridCol w="4190760"/>
                <a:gridCol w="4705200"/>
              </a:tblGrid>
              <a:tr h="428400">
                <a:tc>
                  <a:txBody>
                    <a:bodyPr anchor="t">
                      <a:noAutofit/>
                    </a:bodyPr>
                    <a:p>
                      <a:pPr>
                        <a:lnSpc>
                          <a:spcPct val="100000"/>
                        </a:lnSpc>
                      </a:pPr>
                      <a:r>
                        <a:rPr lang="en-US" sz="1500" b="1" u="none" strike="noStrike">
                          <a:solidFill>
                            <a:srgbClr val="FFFFFF"/>
                          </a:solidFill>
                          <a:effectLst/>
                          <a:uFillTx/>
                          <a:latin typeface="Calibri"/>
                          <a:ea typeface="Calibri"/>
                        </a:rPr>
                        <a:t>Demand profile</a:t>
                      </a:r>
                      <a:endParaRPr lang="en-US" sz="150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500" b="1" u="none" strike="noStrike">
                          <a:solidFill>
                            <a:srgbClr val="FFFFFF"/>
                          </a:solidFill>
                          <a:effectLst/>
                          <a:uFillTx/>
                          <a:latin typeface="Calibri"/>
                          <a:ea typeface="Calibri"/>
                        </a:rPr>
                        <a:t>DRSQ / DRHQ beat Actuated</a:t>
                      </a:r>
                      <a:endParaRPr lang="en-US" sz="150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500" b="1" u="none" strike="noStrike">
                          <a:solidFill>
                            <a:srgbClr val="FFFFFF"/>
                          </a:solidFill>
                          <a:effectLst/>
                          <a:uFillTx/>
                          <a:latin typeface="Calibri"/>
                          <a:ea typeface="Calibri"/>
                        </a:rPr>
                        <a:t>Interpretation</a:t>
                      </a:r>
                      <a:endParaRPr lang="en-US" sz="150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r>
              <a:tr h="428400">
                <a:tc>
                  <a:txBody>
                    <a:bodyPr anchor="t">
                      <a:noAutofit/>
                    </a:bodyPr>
                    <a:p>
                      <a:pPr>
                        <a:lnSpc>
                          <a:spcPct val="100000"/>
                        </a:lnSpc>
                      </a:pPr>
                      <a:r>
                        <a:rPr lang="en-US" sz="1500" b="0" u="none" strike="noStrike">
                          <a:solidFill>
                            <a:srgbClr val="192A30"/>
                          </a:solidFill>
                          <a:effectLst/>
                          <a:uFillTx/>
                          <a:latin typeface="Calibri"/>
                          <a:ea typeface="Calibri"/>
                        </a:rPr>
                        <a:t>Low</a:t>
                      </a:r>
                      <a:endParaRPr lang="en-US" sz="15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500" b="0" u="none" strike="noStrike">
                          <a:solidFill>
                            <a:srgbClr val="192A30"/>
                          </a:solidFill>
                          <a:effectLst/>
                          <a:uFillTx/>
                          <a:latin typeface="Calibri"/>
                          <a:ea typeface="Calibri"/>
                        </a:rPr>
                        <a:t>After 1 episode</a:t>
                      </a:r>
                      <a:endParaRPr lang="en-US" sz="15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500" b="0" u="none" strike="noStrike">
                          <a:solidFill>
                            <a:srgbClr val="192A30"/>
                          </a:solidFill>
                          <a:effectLst/>
                          <a:uFillTx/>
                          <a:latin typeface="Calibri"/>
                          <a:ea typeface="Calibri"/>
                        </a:rPr>
                        <a:t>DRHQ slightly better than DRSQ</a:t>
                      </a:r>
                      <a:endParaRPr lang="en-US" sz="15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428400">
                <a:tc>
                  <a:txBody>
                    <a:bodyPr anchor="t">
                      <a:noAutofit/>
                    </a:bodyPr>
                    <a:p>
                      <a:pPr>
                        <a:lnSpc>
                          <a:spcPct val="100000"/>
                        </a:lnSpc>
                      </a:pPr>
                      <a:r>
                        <a:rPr lang="en-US" sz="1500" b="0" u="none" strike="noStrike">
                          <a:solidFill>
                            <a:srgbClr val="192A30"/>
                          </a:solidFill>
                          <a:effectLst/>
                          <a:uFillTx/>
                          <a:latin typeface="Calibri"/>
                          <a:ea typeface="Calibri"/>
                        </a:rPr>
                        <a:t>Medium</a:t>
                      </a:r>
                      <a:endParaRPr lang="en-US" sz="15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500" b="0" u="none" strike="noStrike">
                          <a:solidFill>
                            <a:srgbClr val="192A30"/>
                          </a:solidFill>
                          <a:effectLst/>
                          <a:uFillTx/>
                          <a:latin typeface="Calibri"/>
                          <a:ea typeface="Calibri"/>
                        </a:rPr>
                        <a:t>After 1 episode</a:t>
                      </a:r>
                      <a:endParaRPr lang="en-US" sz="15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500" b="0" u="none" strike="noStrike">
                          <a:solidFill>
                            <a:srgbClr val="192A30"/>
                          </a:solidFill>
                          <a:effectLst/>
                          <a:uFillTx/>
                          <a:latin typeface="Calibri"/>
                          <a:ea typeface="Calibri"/>
                        </a:rPr>
                        <a:t>DRHQ and DRSQ similar</a:t>
                      </a:r>
                      <a:endParaRPr lang="en-US" sz="15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r>
              <a:tr h="428400">
                <a:tc>
                  <a:txBody>
                    <a:bodyPr anchor="t">
                      <a:noAutofit/>
                    </a:bodyPr>
                    <a:p>
                      <a:pPr>
                        <a:lnSpc>
                          <a:spcPct val="100000"/>
                        </a:lnSpc>
                      </a:pPr>
                      <a:r>
                        <a:rPr lang="en-US" sz="1500" b="0" u="none" strike="noStrike">
                          <a:solidFill>
                            <a:srgbClr val="192A30"/>
                          </a:solidFill>
                          <a:effectLst/>
                          <a:uFillTx/>
                          <a:latin typeface="Calibri"/>
                          <a:ea typeface="Calibri"/>
                        </a:rPr>
                        <a:t>High</a:t>
                      </a:r>
                      <a:endParaRPr lang="en-US" sz="15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500" b="0" u="none" strike="noStrike">
                          <a:solidFill>
                            <a:srgbClr val="192A30"/>
                          </a:solidFill>
                          <a:effectLst/>
                          <a:uFillTx/>
                          <a:latin typeface="Calibri"/>
                          <a:ea typeface="Calibri"/>
                        </a:rPr>
                        <a:t>About 20 episodes</a:t>
                      </a:r>
                      <a:endParaRPr lang="en-US" sz="15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500" b="0" u="none" strike="noStrike">
                          <a:solidFill>
                            <a:srgbClr val="192A30"/>
                          </a:solidFill>
                          <a:effectLst/>
                          <a:uFillTx/>
                          <a:latin typeface="Calibri"/>
                          <a:ea typeface="Calibri"/>
                        </a:rPr>
                        <a:t>Longer horizon and reduced exploration</a:t>
                      </a:r>
                      <a:endParaRPr lang="en-US" sz="150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236" name=""/>
          <p:cNvSpPr/>
          <p:nvPr/>
        </p:nvSpPr>
        <p:spPr>
          <a:xfrm>
            <a:off x="457200" y="5686560"/>
            <a:ext cx="11277360" cy="399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0" u="none" strike="noStrike">
                <a:solidFill>
                  <a:srgbClr val="192A30"/>
                </a:solidFill>
                <a:effectLst/>
                <a:uFillTx/>
                <a:latin typeface="Calibri"/>
                <a:ea typeface="Calibri"/>
              </a:rPr>
              <a:t>DQN has lower delay but uses a neural actuator. CMA-ES reaches up to 30%, with costly tuning.</a:t>
            </a:r>
            <a:endParaRPr lang="en-US" sz="1650" b="0" u="none" strike="noStrike">
              <a:solidFill>
                <a:srgbClr val="000000"/>
              </a:solidFill>
              <a:effectLst/>
              <a:uFillTx/>
              <a:latin typeface="Arial"/>
            </a:endParaRPr>
          </a:p>
        </p:txBody>
      </p:sp>
      <p:sp>
        <p:nvSpPr>
          <p:cNvPr id="237"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Authors’ reported findings, Sections 6–7 and Figure 4. Figure 4 intervals cover 30 seeded trials. Local results follow later.</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238"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Our Local Experiment</a:t>
            </a:r>
            <a:endParaRPr lang="en-US" sz="2200" b="0" u="none" strike="noStrike">
              <a:solidFill>
                <a:srgbClr val="000000"/>
              </a:solidFill>
              <a:effectLst/>
              <a:uFillTx/>
              <a:latin typeface="Arial"/>
            </a:endParaRPr>
          </a:p>
        </p:txBody>
      </p:sp>
      <p:sp>
        <p:nvSpPr>
          <p:cNvPr id="239"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REPRODUCIBLE ALGORITHM DEMONSTRATION</a:t>
            </a:r>
            <a:endParaRPr lang="en-US" sz="1300" b="0" u="none" strike="noStrike">
              <a:solidFill>
                <a:srgbClr val="000000"/>
              </a:solidFill>
              <a:effectLst/>
              <a:uFillTx/>
              <a:latin typeface="Arial"/>
            </a:endParaRPr>
          </a:p>
        </p:txBody>
      </p:sp>
      <p:sp>
        <p:nvSpPr>
          <p:cNvPr id="240"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241"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14</a:t>
            </a:r>
            <a:endParaRPr lang="en-US" sz="950" b="0" u="none" strike="noStrike">
              <a:solidFill>
                <a:srgbClr val="000000"/>
              </a:solidFill>
              <a:effectLst/>
              <a:uFillTx/>
              <a:latin typeface="Arial"/>
            </a:endParaRPr>
          </a:p>
        </p:txBody>
      </p:sp>
      <p:graphicFrame>
        <p:nvGraphicFramePr>
          <p:cNvPr id="242" name=""/>
          <p:cNvGraphicFramePr/>
          <p:nvPr/>
        </p:nvGraphicFramePr>
        <p:xfrm>
          <a:off x="457200" y="1486080"/>
          <a:ext cx="6953040" cy="2481120"/>
        </p:xfrm>
        <a:graphic>
          <a:graphicData uri="http://schemas.openxmlformats.org/drawingml/2006/table">
            <a:tbl>
              <a:tblPr/>
              <a:tblGrid>
                <a:gridCol w="1476360"/>
                <a:gridCol w="2619360"/>
                <a:gridCol w="2857320"/>
              </a:tblGrid>
              <a:tr h="475920">
                <a:tc>
                  <a:txBody>
                    <a:bodyPr anchor="t">
                      <a:noAutofit/>
                    </a:bodyPr>
                    <a:p>
                      <a:pPr>
                        <a:lnSpc>
                          <a:spcPct val="100000"/>
                        </a:lnSpc>
                      </a:pPr>
                      <a:r>
                        <a:rPr lang="en-US" sz="1430" b="1" u="none" strike="noStrike">
                          <a:solidFill>
                            <a:srgbClr val="FFFFFF"/>
                          </a:solidFill>
                          <a:effectLst/>
                          <a:uFillTx/>
                          <a:latin typeface="Calibri"/>
                          <a:ea typeface="Calibri"/>
                        </a:rPr>
                        <a:t>Aspect</a:t>
                      </a:r>
                      <a:endParaRPr lang="en-US" sz="143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430" b="1" u="none" strike="noStrike">
                          <a:solidFill>
                            <a:srgbClr val="FFFFFF"/>
                          </a:solidFill>
                          <a:effectLst/>
                          <a:uFillTx/>
                          <a:latin typeface="Calibri"/>
                          <a:ea typeface="Calibri"/>
                        </a:rPr>
                        <a:t>Paper study</a:t>
                      </a:r>
                      <a:endParaRPr lang="en-US" sz="143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430" b="1" u="none" strike="noStrike">
                          <a:solidFill>
                            <a:srgbClr val="FFFFFF"/>
                          </a:solidFill>
                          <a:effectLst/>
                          <a:uFillTx/>
                          <a:latin typeface="Calibri"/>
                          <a:ea typeface="Calibri"/>
                        </a:rPr>
                        <a:t>Local demonstration</a:t>
                      </a:r>
                      <a:endParaRPr lang="en-US" sz="143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r>
              <a:tr h="475920">
                <a:tc>
                  <a:txBody>
                    <a:bodyPr anchor="t">
                      <a:noAutofit/>
                    </a:bodyPr>
                    <a:p>
                      <a:pPr>
                        <a:lnSpc>
                          <a:spcPct val="100000"/>
                        </a:lnSpc>
                      </a:pPr>
                      <a:r>
                        <a:rPr lang="en-US" sz="1430" b="0" u="none" strike="noStrike">
                          <a:solidFill>
                            <a:srgbClr val="192A30"/>
                          </a:solidFill>
                          <a:effectLst/>
                          <a:uFillTx/>
                          <a:latin typeface="Calibri"/>
                          <a:ea typeface="Calibri"/>
                        </a:rPr>
                        <a:t>Traffic</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430" b="0" u="none" strike="noStrike">
                          <a:solidFill>
                            <a:srgbClr val="192A30"/>
                          </a:solidFill>
                          <a:effectLst/>
                          <a:uFillTx/>
                          <a:latin typeface="Calibri"/>
                          <a:ea typeface="Calibri"/>
                        </a:rPr>
                        <a:t>Observed UDOT demand in SUMO</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430" b="0" u="none" strike="noStrike">
                          <a:solidFill>
                            <a:srgbClr val="192A30"/>
                          </a:solidFill>
                          <a:effectLst/>
                          <a:uFillTx/>
                          <a:latin typeface="Calibri"/>
                          <a:ea typeface="Calibri"/>
                        </a:rPr>
                        <a:t>Synthetic FIFO queues</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475920">
                <a:tc>
                  <a:txBody>
                    <a:bodyPr anchor="t">
                      <a:noAutofit/>
                    </a:bodyPr>
                    <a:p>
                      <a:pPr>
                        <a:lnSpc>
                          <a:spcPct val="100000"/>
                        </a:lnSpc>
                      </a:pPr>
                      <a:r>
                        <a:rPr lang="en-US" sz="1430" b="0" u="none" strike="noStrike">
                          <a:solidFill>
                            <a:srgbClr val="192A30"/>
                          </a:solidFill>
                          <a:effectLst/>
                          <a:uFillTx/>
                          <a:latin typeface="Calibri"/>
                          <a:ea typeface="Calibri"/>
                        </a:rPr>
                        <a:t>Control</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430" b="0" u="none" strike="noStrike">
                          <a:solidFill>
                            <a:srgbClr val="192A30"/>
                          </a:solidFill>
                          <a:effectLst/>
                          <a:uFillTx/>
                          <a:latin typeface="Calibri"/>
                          <a:ea typeface="Calibri"/>
                        </a:rPr>
                        <a:t>11 valid phase pairs</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430" b="0" u="none" strike="noStrike">
                          <a:solidFill>
                            <a:srgbClr val="192A30"/>
                          </a:solidFill>
                          <a:effectLst/>
                          <a:uFillTx/>
                          <a:latin typeface="Calibri"/>
                          <a:ea typeface="Calibri"/>
                        </a:rPr>
                        <a:t>2 through groups, 32 inputs</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r>
              <a:tr h="475920">
                <a:tc>
                  <a:txBody>
                    <a:bodyPr anchor="t">
                      <a:noAutofit/>
                    </a:bodyPr>
                    <a:p>
                      <a:pPr>
                        <a:lnSpc>
                          <a:spcPct val="100000"/>
                        </a:lnSpc>
                      </a:pPr>
                      <a:r>
                        <a:rPr lang="en-US" sz="1430" b="0" u="none" strike="noStrike">
                          <a:solidFill>
                            <a:srgbClr val="192A30"/>
                          </a:solidFill>
                          <a:effectLst/>
                          <a:uFillTx/>
                          <a:latin typeface="Calibri"/>
                          <a:ea typeface="Calibri"/>
                        </a:rPr>
                        <a:t>Actor</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430" b="0" u="none" strike="noStrike">
                          <a:solidFill>
                            <a:srgbClr val="192A30"/>
                          </a:solidFill>
                          <a:effectLst/>
                          <a:uFillTx/>
                          <a:latin typeface="Calibri"/>
                          <a:ea typeface="Calibri"/>
                        </a:rPr>
                        <a:t>352 tuned parameters</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430" b="0" u="none" strike="noStrike">
                          <a:solidFill>
                            <a:srgbClr val="192A30"/>
                          </a:solidFill>
                          <a:effectLst/>
                          <a:uFillTx/>
                          <a:latin typeface="Calibri"/>
                          <a:ea typeface="Calibri"/>
                        </a:rPr>
                        <a:t>56 tuned parameters</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475920">
                <a:tc>
                  <a:txBody>
                    <a:bodyPr anchor="t">
                      <a:noAutofit/>
                    </a:bodyPr>
                    <a:p>
                      <a:pPr>
                        <a:lnSpc>
                          <a:spcPct val="100000"/>
                        </a:lnSpc>
                      </a:pPr>
                      <a:r>
                        <a:rPr lang="en-US" sz="1430" b="0" u="none" strike="noStrike">
                          <a:solidFill>
                            <a:srgbClr val="192A30"/>
                          </a:solidFill>
                          <a:effectLst/>
                          <a:uFillTx/>
                          <a:latin typeface="Calibri"/>
                          <a:ea typeface="Calibri"/>
                        </a:rPr>
                        <a:t>Executed methods</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430" b="0" u="none" strike="noStrike">
                          <a:solidFill>
                            <a:srgbClr val="192A30"/>
                          </a:solidFill>
                          <a:effectLst/>
                          <a:uFillTx/>
                          <a:latin typeface="Calibri"/>
                          <a:ea typeface="Calibri"/>
                        </a:rPr>
                        <a:t>CMA-ES, PPO, DQN variants</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430" b="0" u="none" strike="noStrike">
                          <a:solidFill>
                            <a:srgbClr val="192A30"/>
                          </a:solidFill>
                          <a:effectLst/>
                          <a:uFillTx/>
                          <a:latin typeface="Calibri"/>
                          <a:ea typeface="Calibri"/>
                        </a:rPr>
                        <a:t>DQN, DRQ, DRSQ, DRHQ</a:t>
                      </a:r>
                      <a:endParaRPr lang="en-US" sz="143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r>
            </a:tbl>
          </a:graphicData>
        </a:graphic>
      </p:graphicFrame>
      <p:sp>
        <p:nvSpPr>
          <p:cNvPr id="243" name=""/>
          <p:cNvSpPr/>
          <p:nvPr/>
        </p:nvSpPr>
        <p:spPr>
          <a:xfrm>
            <a:off x="7819920" y="1486080"/>
            <a:ext cx="391428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1" u="none" strike="noStrike">
                <a:solidFill>
                  <a:srgbClr val="107C41"/>
                </a:solidFill>
                <a:effectLst/>
                <a:uFillTx/>
                <a:latin typeface="Calibri"/>
                <a:ea typeface="Calibri"/>
              </a:rPr>
              <a:t>Two through groups</a:t>
            </a:r>
            <a:endParaRPr lang="en-US" sz="1650" b="0" u="none" strike="noStrike">
              <a:solidFill>
                <a:srgbClr val="000000"/>
              </a:solidFill>
              <a:effectLst/>
              <a:uFillTx/>
              <a:latin typeface="Arial"/>
            </a:endParaRPr>
          </a:p>
        </p:txBody>
      </p:sp>
      <p:sp>
        <p:nvSpPr>
          <p:cNvPr id="244" name=""/>
          <p:cNvSpPr/>
          <p:nvPr/>
        </p:nvSpPr>
        <p:spPr>
          <a:xfrm>
            <a:off x="9229680" y="2133720"/>
            <a:ext cx="533160" cy="1275840"/>
          </a:xfrm>
          <a:prstGeom prst="rect">
            <a:avLst/>
          </a:prstGeom>
          <a:solidFill>
            <a:srgbClr val="E1E7E4"/>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5" name=""/>
          <p:cNvSpPr/>
          <p:nvPr/>
        </p:nvSpPr>
        <p:spPr>
          <a:xfrm>
            <a:off x="8610480" y="2514600"/>
            <a:ext cx="1771200" cy="533160"/>
          </a:xfrm>
          <a:prstGeom prst="rect">
            <a:avLst/>
          </a:prstGeom>
          <a:solidFill>
            <a:srgbClr val="E1E7E4"/>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6" name=""/>
          <p:cNvSpPr/>
          <p:nvPr/>
        </p:nvSpPr>
        <p:spPr>
          <a:xfrm>
            <a:off x="9277200" y="2162160"/>
            <a:ext cx="161640" cy="428400"/>
          </a:xfrm>
          <a:prstGeom prst="downArrow">
            <a:avLst>
              <a:gd name="adj1" fmla="val 50000"/>
              <a:gd name="adj2" fmla="val 50000"/>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47" name=""/>
          <p:cNvSpPr/>
          <p:nvPr/>
        </p:nvSpPr>
        <p:spPr>
          <a:xfrm>
            <a:off x="9534600" y="2952720"/>
            <a:ext cx="161640" cy="428400"/>
          </a:xfrm>
          <a:prstGeom prst="upArrow">
            <a:avLst>
              <a:gd name="adj1" fmla="val 50000"/>
              <a:gd name="adj2" fmla="val 50000"/>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48" name=""/>
          <p:cNvSpPr/>
          <p:nvPr/>
        </p:nvSpPr>
        <p:spPr>
          <a:xfrm>
            <a:off x="8639280" y="2781360"/>
            <a:ext cx="428400" cy="161640"/>
          </a:xfrm>
          <a:prstGeom prst="rightArrow">
            <a:avLst>
              <a:gd name="adj1" fmla="val 50000"/>
              <a:gd name="adj2" fmla="val 50000"/>
            </a:avLst>
          </a:prstGeom>
          <a:solidFill>
            <a:srgbClr val="4072B8"/>
          </a:solidFill>
          <a:ln w="0">
            <a:noFill/>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249" name=""/>
          <p:cNvSpPr/>
          <p:nvPr/>
        </p:nvSpPr>
        <p:spPr>
          <a:xfrm>
            <a:off x="9925200" y="2600280"/>
            <a:ext cx="428400" cy="161640"/>
          </a:xfrm>
          <a:prstGeom prst="leftArrow">
            <a:avLst>
              <a:gd name="adj1" fmla="val 50000"/>
              <a:gd name="adj2" fmla="val 50000"/>
            </a:avLst>
          </a:prstGeom>
          <a:solidFill>
            <a:srgbClr val="4072B8"/>
          </a:solidFill>
          <a:ln w="0">
            <a:noFill/>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250" name=""/>
          <p:cNvSpPr/>
          <p:nvPr/>
        </p:nvSpPr>
        <p:spPr>
          <a:xfrm>
            <a:off x="9372600" y="1876320"/>
            <a:ext cx="4284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192A30"/>
                </a:solidFill>
                <a:effectLst/>
                <a:uFillTx/>
                <a:latin typeface="Calibri"/>
                <a:ea typeface="Calibri"/>
              </a:rPr>
              <a:t>N</a:t>
            </a:r>
            <a:endParaRPr lang="en-US" sz="1500" b="0" u="none" strike="noStrike">
              <a:solidFill>
                <a:srgbClr val="000000"/>
              </a:solidFill>
              <a:effectLst/>
              <a:uFillTx/>
              <a:latin typeface="Arial"/>
            </a:endParaRPr>
          </a:p>
        </p:txBody>
      </p:sp>
      <p:sp>
        <p:nvSpPr>
          <p:cNvPr id="251" name=""/>
          <p:cNvSpPr/>
          <p:nvPr/>
        </p:nvSpPr>
        <p:spPr>
          <a:xfrm>
            <a:off x="9372600" y="3438360"/>
            <a:ext cx="4284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192A30"/>
                </a:solidFill>
                <a:effectLst/>
                <a:uFillTx/>
                <a:latin typeface="Calibri"/>
                <a:ea typeface="Calibri"/>
              </a:rPr>
              <a:t>S</a:t>
            </a:r>
            <a:endParaRPr lang="en-US" sz="1500" b="0" u="none" strike="noStrike">
              <a:solidFill>
                <a:srgbClr val="000000"/>
              </a:solidFill>
              <a:effectLst/>
              <a:uFillTx/>
              <a:latin typeface="Arial"/>
            </a:endParaRPr>
          </a:p>
        </p:txBody>
      </p:sp>
      <p:sp>
        <p:nvSpPr>
          <p:cNvPr id="252" name=""/>
          <p:cNvSpPr/>
          <p:nvPr/>
        </p:nvSpPr>
        <p:spPr>
          <a:xfrm>
            <a:off x="8325000" y="2629080"/>
            <a:ext cx="28548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192A30"/>
                </a:solidFill>
                <a:effectLst/>
                <a:uFillTx/>
                <a:latin typeface="Calibri"/>
                <a:ea typeface="Calibri"/>
              </a:rPr>
              <a:t>W</a:t>
            </a:r>
            <a:endParaRPr lang="en-US" sz="1500" b="0" u="none" strike="noStrike">
              <a:solidFill>
                <a:srgbClr val="000000"/>
              </a:solidFill>
              <a:effectLst/>
              <a:uFillTx/>
              <a:latin typeface="Arial"/>
            </a:endParaRPr>
          </a:p>
        </p:txBody>
      </p:sp>
      <p:sp>
        <p:nvSpPr>
          <p:cNvPr id="253" name=""/>
          <p:cNvSpPr/>
          <p:nvPr/>
        </p:nvSpPr>
        <p:spPr>
          <a:xfrm>
            <a:off x="10439280" y="2629080"/>
            <a:ext cx="28548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192A30"/>
                </a:solidFill>
                <a:effectLst/>
                <a:uFillTx/>
                <a:latin typeface="Calibri"/>
                <a:ea typeface="Calibri"/>
              </a:rPr>
              <a:t>E</a:t>
            </a:r>
            <a:endParaRPr lang="en-US" sz="1500" b="0" u="none" strike="noStrike">
              <a:solidFill>
                <a:srgbClr val="000000"/>
              </a:solidFill>
              <a:effectLst/>
              <a:uFillTx/>
              <a:latin typeface="Arial"/>
            </a:endParaRPr>
          </a:p>
        </p:txBody>
      </p:sp>
      <p:sp>
        <p:nvSpPr>
          <p:cNvPr id="254" name=""/>
          <p:cNvSpPr/>
          <p:nvPr/>
        </p:nvSpPr>
        <p:spPr>
          <a:xfrm>
            <a:off x="7763040" y="3753000"/>
            <a:ext cx="397152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430" b="0" u="none" strike="noStrike">
                <a:solidFill>
                  <a:srgbClr val="192A30"/>
                </a:solidFill>
                <a:effectLst/>
                <a:uFillTx/>
                <a:latin typeface="Calibri"/>
                <a:ea typeface="Calibri"/>
              </a:rPr>
              <a:t>NS or EW. One group green at a time.</a:t>
            </a:r>
            <a:endParaRPr lang="en-US" sz="1430" b="0" u="none" strike="noStrike">
              <a:solidFill>
                <a:srgbClr val="000000"/>
              </a:solidFill>
              <a:effectLst/>
              <a:uFillTx/>
              <a:latin typeface="Arial"/>
            </a:endParaRPr>
          </a:p>
        </p:txBody>
      </p:sp>
      <p:sp>
        <p:nvSpPr>
          <p:cNvPr id="255" name=""/>
          <p:cNvSpPr/>
          <p:nvPr/>
        </p:nvSpPr>
        <p:spPr>
          <a:xfrm>
            <a:off x="457200" y="4191120"/>
            <a:ext cx="3428640" cy="1114200"/>
          </a:xfrm>
          <a:prstGeom prst="roundRect">
            <a:avLst>
              <a:gd name="adj" fmla="val 6838"/>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6" name=""/>
          <p:cNvSpPr/>
          <p:nvPr/>
        </p:nvSpPr>
        <p:spPr>
          <a:xfrm>
            <a:off x="581040" y="4324320"/>
            <a:ext cx="3180960" cy="9234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1" u="none" strike="noStrike">
                <a:solidFill>
                  <a:srgbClr val="192A30"/>
                </a:solidFill>
                <a:effectLst/>
                <a:uFillTx/>
                <a:latin typeface="Calibri"/>
                <a:ea typeface="Calibri"/>
              </a:rPr>
              <a:t>TRAIN</a:t>
            </a:r>
            <a:endParaRPr lang="en-US" sz="1650" b="0" u="none" strike="noStrike">
              <a:solidFill>
                <a:srgbClr val="000000"/>
              </a:solidFill>
              <a:effectLst/>
              <a:uFillTx/>
              <a:latin typeface="Arial"/>
            </a:endParaRPr>
          </a:p>
          <a:p>
            <a:pPr defTabSz="914400">
              <a:lnSpc>
                <a:spcPct val="100000"/>
              </a:lnSpc>
            </a:pPr>
            <a:r>
              <a:rPr lang="en-US" sz="1650" b="1" u="none" strike="noStrike">
                <a:solidFill>
                  <a:srgbClr val="192A30"/>
                </a:solidFill>
                <a:effectLst/>
                <a:uFillTx/>
                <a:latin typeface="Calibri"/>
                <a:ea typeface="Calibri"/>
              </a:rPr>
              <a:t>4 methods × 3 seeds × 50</a:t>
            </a:r>
            <a:endParaRPr lang="en-US" sz="1650" b="0" u="none" strike="noStrike">
              <a:solidFill>
                <a:srgbClr val="000000"/>
              </a:solidFill>
              <a:effectLst/>
              <a:uFillTx/>
              <a:latin typeface="Arial"/>
            </a:endParaRPr>
          </a:p>
          <a:p>
            <a:pPr defTabSz="914400">
              <a:lnSpc>
                <a:spcPct val="100000"/>
              </a:lnSpc>
            </a:pPr>
            <a:r>
              <a:rPr lang="en-US" sz="1650" b="1" u="none" strike="noStrike">
                <a:solidFill>
                  <a:srgbClr val="192A30"/>
                </a:solidFill>
                <a:effectLst/>
                <a:uFillTx/>
                <a:latin typeface="Calibri"/>
                <a:ea typeface="Calibri"/>
              </a:rPr>
              <a:t>600 episodes</a:t>
            </a:r>
            <a:endParaRPr lang="en-US" sz="1650" b="0" u="none" strike="noStrike">
              <a:solidFill>
                <a:srgbClr val="000000"/>
              </a:solidFill>
              <a:effectLst/>
              <a:uFillTx/>
              <a:latin typeface="Arial"/>
            </a:endParaRPr>
          </a:p>
        </p:txBody>
      </p:sp>
      <p:sp>
        <p:nvSpPr>
          <p:cNvPr id="257" name=""/>
          <p:cNvSpPr/>
          <p:nvPr/>
        </p:nvSpPr>
        <p:spPr>
          <a:xfrm>
            <a:off x="4057560" y="4610160"/>
            <a:ext cx="399600" cy="228240"/>
          </a:xfrm>
          <a:prstGeom prst="rightArrow">
            <a:avLst>
              <a:gd name="adj1" fmla="val 50000"/>
              <a:gd name="adj2" fmla="val 50000"/>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58" name=""/>
          <p:cNvSpPr/>
          <p:nvPr/>
        </p:nvSpPr>
        <p:spPr>
          <a:xfrm>
            <a:off x="4600440" y="4191120"/>
            <a:ext cx="2999880" cy="1114200"/>
          </a:xfrm>
          <a:prstGeom prst="roundRect">
            <a:avLst>
              <a:gd name="adj" fmla="val 6838"/>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9" name=""/>
          <p:cNvSpPr/>
          <p:nvPr/>
        </p:nvSpPr>
        <p:spPr>
          <a:xfrm>
            <a:off x="4724280" y="4324320"/>
            <a:ext cx="2752200" cy="9234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1" u="none" strike="noStrike">
                <a:solidFill>
                  <a:srgbClr val="192A30"/>
                </a:solidFill>
                <a:effectLst/>
                <a:uFillTx/>
                <a:latin typeface="Calibri"/>
                <a:ea typeface="Calibri"/>
              </a:rPr>
              <a:t>FREEZE</a:t>
            </a:r>
            <a:endParaRPr lang="en-US" sz="1650" b="0" u="none" strike="noStrike">
              <a:solidFill>
                <a:srgbClr val="000000"/>
              </a:solidFill>
              <a:effectLst/>
              <a:uFillTx/>
              <a:latin typeface="Arial"/>
            </a:endParaRPr>
          </a:p>
          <a:p>
            <a:pPr defTabSz="914400">
              <a:lnSpc>
                <a:spcPct val="100000"/>
              </a:lnSpc>
            </a:pPr>
            <a:r>
              <a:rPr lang="en-US" sz="1650" b="1" u="none" strike="noStrike">
                <a:solidFill>
                  <a:srgbClr val="192A30"/>
                </a:solidFill>
                <a:effectLst/>
                <a:uFillTx/>
                <a:latin typeface="Calibri"/>
                <a:ea typeface="Calibri"/>
              </a:rPr>
              <a:t>No parameter updates</a:t>
            </a:r>
            <a:endParaRPr lang="en-US" sz="1650" b="0" u="none" strike="noStrike">
              <a:solidFill>
                <a:srgbClr val="000000"/>
              </a:solidFill>
              <a:effectLst/>
              <a:uFillTx/>
              <a:latin typeface="Arial"/>
            </a:endParaRPr>
          </a:p>
          <a:p>
            <a:pPr defTabSz="914400">
              <a:lnSpc>
                <a:spcPct val="100000"/>
              </a:lnSpc>
            </a:pPr>
            <a:r>
              <a:rPr lang="en-US" sz="1650" b="1" u="none" strike="noStrike">
                <a:solidFill>
                  <a:srgbClr val="192A30"/>
                </a:solidFill>
                <a:effectLst/>
                <a:uFillTx/>
                <a:latin typeface="Calibri"/>
                <a:ea typeface="Calibri"/>
              </a:rPr>
              <a:t>No best-seed selection</a:t>
            </a:r>
            <a:endParaRPr lang="en-US" sz="1650" b="0" u="none" strike="noStrike">
              <a:solidFill>
                <a:srgbClr val="000000"/>
              </a:solidFill>
              <a:effectLst/>
              <a:uFillTx/>
              <a:latin typeface="Arial"/>
            </a:endParaRPr>
          </a:p>
        </p:txBody>
      </p:sp>
      <p:sp>
        <p:nvSpPr>
          <p:cNvPr id="260" name=""/>
          <p:cNvSpPr/>
          <p:nvPr/>
        </p:nvSpPr>
        <p:spPr>
          <a:xfrm>
            <a:off x="7781760" y="4610160"/>
            <a:ext cx="399600" cy="228240"/>
          </a:xfrm>
          <a:prstGeom prst="rightArrow">
            <a:avLst>
              <a:gd name="adj1" fmla="val 50000"/>
              <a:gd name="adj2" fmla="val 50000"/>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1" name=""/>
          <p:cNvSpPr/>
          <p:nvPr/>
        </p:nvSpPr>
        <p:spPr>
          <a:xfrm>
            <a:off x="8362800" y="4191120"/>
            <a:ext cx="3371400" cy="1114200"/>
          </a:xfrm>
          <a:prstGeom prst="roundRect">
            <a:avLst>
              <a:gd name="adj" fmla="val 6838"/>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2" name=""/>
          <p:cNvSpPr/>
          <p:nvPr/>
        </p:nvSpPr>
        <p:spPr>
          <a:xfrm>
            <a:off x="8486640" y="4324320"/>
            <a:ext cx="3123720" cy="9234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1" u="none" strike="noStrike">
                <a:solidFill>
                  <a:srgbClr val="192A30"/>
                </a:solidFill>
                <a:effectLst/>
                <a:uFillTx/>
                <a:latin typeface="Calibri"/>
                <a:ea typeface="Calibri"/>
              </a:rPr>
              <a:t>EVALUATE</a:t>
            </a:r>
            <a:endParaRPr lang="en-US" sz="1650" b="0" u="none" strike="noStrike">
              <a:solidFill>
                <a:srgbClr val="000000"/>
              </a:solidFill>
              <a:effectLst/>
              <a:uFillTx/>
              <a:latin typeface="Arial"/>
            </a:endParaRPr>
          </a:p>
          <a:p>
            <a:pPr defTabSz="914400">
              <a:lnSpc>
                <a:spcPct val="100000"/>
              </a:lnSpc>
            </a:pPr>
            <a:r>
              <a:rPr lang="en-US" sz="1650" b="1" u="none" strike="noStrike">
                <a:solidFill>
                  <a:srgbClr val="192A30"/>
                </a:solidFill>
                <a:effectLst/>
                <a:uFillTx/>
                <a:latin typeface="Calibri"/>
                <a:ea typeface="Calibri"/>
              </a:rPr>
              <a:t>2 scenarios × 10 streams</a:t>
            </a:r>
            <a:endParaRPr lang="en-US" sz="1650" b="0" u="none" strike="noStrike">
              <a:solidFill>
                <a:srgbClr val="000000"/>
              </a:solidFill>
              <a:effectLst/>
              <a:uFillTx/>
              <a:latin typeface="Arial"/>
            </a:endParaRPr>
          </a:p>
          <a:p>
            <a:pPr defTabSz="914400">
              <a:lnSpc>
                <a:spcPct val="100000"/>
              </a:lnSpc>
            </a:pPr>
            <a:r>
              <a:rPr lang="en-US" sz="1650" b="1" u="none" strike="noStrike">
                <a:solidFill>
                  <a:srgbClr val="192A30"/>
                </a:solidFill>
                <a:effectLst/>
                <a:uFillTx/>
                <a:latin typeface="Calibri"/>
                <a:ea typeface="Calibri"/>
              </a:rPr>
              <a:t>300 rollouts</a:t>
            </a:r>
            <a:endParaRPr lang="en-US" sz="1650" b="0" u="none" strike="noStrike">
              <a:solidFill>
                <a:srgbClr val="000000"/>
              </a:solidFill>
              <a:effectLst/>
              <a:uFillTx/>
              <a:latin typeface="Arial"/>
            </a:endParaRPr>
          </a:p>
        </p:txBody>
      </p:sp>
      <p:sp>
        <p:nvSpPr>
          <p:cNvPr id="263" name=""/>
          <p:cNvSpPr/>
          <p:nvPr/>
        </p:nvSpPr>
        <p:spPr>
          <a:xfrm>
            <a:off x="457200" y="5667480"/>
            <a:ext cx="11277360" cy="342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0" u="none" strike="noStrike">
                <a:solidFill>
                  <a:srgbClr val="192A30"/>
                </a:solidFill>
                <a:effectLst/>
                <a:uFillTx/>
                <a:latin typeface="Calibri"/>
                <a:ea typeface="Calibri"/>
              </a:rPr>
              <a:t>Delay = waiting inside 1,200 s / all arrivals. Identical arrivals per controller and demand seed.</a:t>
            </a:r>
            <a:endParaRPr lang="en-US" sz="1650" b="0" u="none" strike="noStrike">
              <a:solidFill>
                <a:srgbClr val="000000"/>
              </a:solidFill>
              <a:effectLst/>
              <a:uFillTx/>
              <a:latin typeface="Arial"/>
            </a:endParaRPr>
          </a:p>
        </p:txBody>
      </p:sp>
      <p:sp>
        <p:nvSpPr>
          <p:cNvPr id="264"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Local timing: 10 s decisions. Switching uses 2 s yellow + 1 s all-red. Actuated maximum green: 60 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265" name="Text 0"/>
          <p:cNvSpPr/>
          <p:nvPr/>
        </p:nvSpPr>
        <p:spPr>
          <a:xfrm>
            <a:off x="457200" y="292680"/>
            <a:ext cx="11274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192A30"/>
                </a:solidFill>
                <a:effectLst/>
                <a:uFillTx/>
                <a:latin typeface="Calibri"/>
                <a:ea typeface="Calibri"/>
              </a:rPr>
              <a:t>Limitations, Open Questions &amp; Our Critical Reflection</a:t>
            </a:r>
            <a:endParaRPr lang="en-US" sz="2200" b="0" u="none" strike="noStrike">
              <a:solidFill>
                <a:srgbClr val="000000"/>
              </a:solidFill>
              <a:effectLst/>
              <a:uFillTx/>
              <a:latin typeface="Arial"/>
            </a:endParaRPr>
          </a:p>
        </p:txBody>
      </p:sp>
      <p:sp>
        <p:nvSpPr>
          <p:cNvPr id="266" name="Text 1"/>
          <p:cNvSpPr/>
          <p:nvPr/>
        </p:nvSpPr>
        <p:spPr>
          <a:xfrm>
            <a:off x="457200" y="713160"/>
            <a:ext cx="112741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92A30"/>
                </a:solidFill>
                <a:effectLst/>
                <a:uFillTx/>
                <a:latin typeface="Calibri"/>
                <a:ea typeface="Calibri"/>
              </a:rPr>
              <a:t>LIMITATIONS &amp; REFLECTION</a:t>
            </a:r>
            <a:endParaRPr lang="en-US" sz="1300" b="0" u="none" strike="noStrike">
              <a:solidFill>
                <a:srgbClr val="000000"/>
              </a:solidFill>
              <a:effectLst/>
              <a:uFillTx/>
              <a:latin typeface="Arial"/>
            </a:endParaRPr>
          </a:p>
        </p:txBody>
      </p:sp>
      <p:sp>
        <p:nvSpPr>
          <p:cNvPr id="267" name="Shape 2"/>
          <p:cNvSpPr/>
          <p:nvPr/>
        </p:nvSpPr>
        <p:spPr>
          <a:xfrm>
            <a:off x="457200" y="1600200"/>
            <a:ext cx="5211720" cy="4205880"/>
          </a:xfrm>
          <a:prstGeom prst="roundRect">
            <a:avLst>
              <a:gd name="adj" fmla="val 2609"/>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8" name="Shape 3"/>
          <p:cNvSpPr/>
          <p:nvPr/>
        </p:nvSpPr>
        <p:spPr>
          <a:xfrm>
            <a:off x="65844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9" name="Text 4"/>
          <p:cNvSpPr/>
          <p:nvPr/>
        </p:nvSpPr>
        <p:spPr>
          <a:xfrm>
            <a:off x="65844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270" name="Text 5"/>
          <p:cNvSpPr/>
          <p:nvPr/>
        </p:nvSpPr>
        <p:spPr>
          <a:xfrm>
            <a:off x="1115640" y="1783080"/>
            <a:ext cx="43887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92A30"/>
                </a:solidFill>
                <a:effectLst/>
                <a:uFillTx/>
                <a:latin typeface="Calibri"/>
                <a:ea typeface="Calibri"/>
              </a:rPr>
              <a:t>Limitations / Open Questions Identified from the Study</a:t>
            </a:r>
            <a:endParaRPr lang="en-US" sz="1300" b="0" u="none" strike="noStrike">
              <a:solidFill>
                <a:srgbClr val="000000"/>
              </a:solidFill>
              <a:effectLst/>
              <a:uFillTx/>
              <a:latin typeface="Arial"/>
            </a:endParaRPr>
          </a:p>
        </p:txBody>
      </p:sp>
      <p:sp>
        <p:nvSpPr>
          <p:cNvPr id="271" name="Text 6"/>
          <p:cNvSpPr/>
          <p:nvPr/>
        </p:nvSpPr>
        <p:spPr>
          <a:xfrm>
            <a:off x="749880" y="2377440"/>
            <a:ext cx="4617360" cy="3291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192A30"/>
              </a:buClr>
              <a:buFont typeface="Symbol" charset="2"/>
              <a:buChar char=""/>
            </a:pPr>
            <a:r>
              <a:rPr lang="en-US" sz="1150" b="0" u="none" strike="noStrike">
                <a:solidFill>
                  <a:srgbClr val="192A30"/>
                </a:solidFill>
                <a:effectLst/>
                <a:uFillTx/>
                <a:latin typeface="Calibri"/>
                <a:ea typeface="Calibri"/>
              </a:rPr>
              <a:t>Authors stated future work: warm-start learning by observing an existing deployed controller.</a:t>
            </a:r>
            <a:endParaRPr lang="en-US" sz="11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150" b="0" u="none" strike="noStrike">
                <a:solidFill>
                  <a:srgbClr val="192A30"/>
                </a:solidFill>
                <a:effectLst/>
                <a:uFillTx/>
                <a:latin typeface="Calibri"/>
                <a:ea typeface="Calibri"/>
              </a:rPr>
              <a:t>Main evaluation is one intersection, generalization to other geometries and city networks is not established.</a:t>
            </a:r>
            <a:endParaRPr lang="en-US" sz="11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150" b="0" u="none" strike="noStrike">
                <a:solidFill>
                  <a:srgbClr val="192A30"/>
                </a:solidFill>
                <a:effectLst/>
                <a:uFillTx/>
                <a:latin typeface="Calibri"/>
                <a:ea typeface="Calibri"/>
              </a:rPr>
              <a:t>Results remain simulation-based despite using real observed demand.</a:t>
            </a:r>
            <a:endParaRPr lang="en-US" sz="11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150" b="0" u="none" strike="noStrike">
                <a:solidFill>
                  <a:srgbClr val="192A30"/>
                </a:solidFill>
                <a:effectLst/>
                <a:uFillTx/>
                <a:latin typeface="Calibri"/>
                <a:ea typeface="Calibri"/>
              </a:rPr>
              <a:t>Rich, reliable per-lane sensing is assumed.</a:t>
            </a:r>
            <a:endParaRPr lang="en-US" sz="11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150" b="0" u="none" strike="noStrike">
                <a:solidFill>
                  <a:srgbClr val="192A30"/>
                </a:solidFill>
                <a:effectLst/>
                <a:uFillTx/>
                <a:latin typeface="Calibri"/>
                <a:ea typeface="Calibri"/>
              </a:rPr>
              <a:t>High-demand online learning still needs many episodes before beating a simple baseline.</a:t>
            </a:r>
            <a:endParaRPr lang="en-US" sz="11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150" b="0" u="none" strike="noStrike">
                <a:solidFill>
                  <a:srgbClr val="192A30"/>
                </a:solidFill>
                <a:effectLst/>
                <a:uFillTx/>
                <a:latin typeface="Calibri"/>
                <a:ea typeface="Calibri"/>
              </a:rPr>
              <a:t>Interpretability is defined narrowly through monotonicity, not a complete formal-safety or human-factors analysis.</a:t>
            </a:r>
            <a:endParaRPr lang="en-US" sz="1150" b="0" u="none" strike="noStrike">
              <a:solidFill>
                <a:srgbClr val="000000"/>
              </a:solidFill>
              <a:effectLst/>
              <a:uFillTx/>
              <a:latin typeface="Arial"/>
            </a:endParaRPr>
          </a:p>
        </p:txBody>
      </p:sp>
      <p:sp>
        <p:nvSpPr>
          <p:cNvPr id="272" name="Shape 7"/>
          <p:cNvSpPr/>
          <p:nvPr/>
        </p:nvSpPr>
        <p:spPr>
          <a:xfrm>
            <a:off x="6035040" y="1600200"/>
            <a:ext cx="5211720" cy="4205880"/>
          </a:xfrm>
          <a:prstGeom prst="roundRect">
            <a:avLst>
              <a:gd name="adj" fmla="val 2609"/>
            </a:avLst>
          </a:prstGeom>
          <a:solidFill>
            <a:srgbClr val="FFFFFF"/>
          </a:solidFill>
          <a:ln w="0">
            <a:noFill/>
          </a:ln>
          <a:effectLst>
            <a:outerShdw algn="bl" blurRad="76320" dir="5400000" dist="38160" rotWithShape="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3" name="Shape 8"/>
          <p:cNvSpPr/>
          <p:nvPr/>
        </p:nvSpPr>
        <p:spPr>
          <a:xfrm>
            <a:off x="6236280" y="1801440"/>
            <a:ext cx="347040" cy="347040"/>
          </a:xfrm>
          <a:prstGeom prst="ellipse">
            <a:avLst/>
          </a:prstGeom>
          <a:solidFill>
            <a:srgbClr val="107C4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74" name="Text 9"/>
          <p:cNvSpPr/>
          <p:nvPr/>
        </p:nvSpPr>
        <p:spPr>
          <a:xfrm>
            <a:off x="6236280" y="1801440"/>
            <a:ext cx="34704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275" name="Text 10"/>
          <p:cNvSpPr/>
          <p:nvPr/>
        </p:nvSpPr>
        <p:spPr>
          <a:xfrm>
            <a:off x="6693480" y="1783080"/>
            <a:ext cx="43887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92A30"/>
                </a:solidFill>
                <a:effectLst/>
                <a:uFillTx/>
                <a:latin typeface="Calibri"/>
                <a:ea typeface="Calibri"/>
              </a:rPr>
              <a:t>Our Critical Reflection (Beyond the Paper)</a:t>
            </a:r>
            <a:endParaRPr lang="en-US" sz="1300" b="0" u="none" strike="noStrike">
              <a:solidFill>
                <a:srgbClr val="000000"/>
              </a:solidFill>
              <a:effectLst/>
              <a:uFillTx/>
              <a:latin typeface="Arial"/>
            </a:endParaRPr>
          </a:p>
        </p:txBody>
      </p:sp>
      <p:sp>
        <p:nvSpPr>
          <p:cNvPr id="276" name="Text 11"/>
          <p:cNvSpPr/>
          <p:nvPr/>
        </p:nvSpPr>
        <p:spPr>
          <a:xfrm>
            <a:off x="6327720" y="2377440"/>
            <a:ext cx="4617360" cy="3291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8000"/>
              </a:lnSpc>
              <a:spcAft>
                <a:spcPts val="799"/>
              </a:spcAft>
              <a:buClr>
                <a:srgbClr val="192A30"/>
              </a:buClr>
              <a:buFont typeface="Symbol" charset="2"/>
              <a:buChar char=""/>
            </a:pPr>
            <a:r>
              <a:rPr lang="en-US" sz="1150" b="0" u="none" strike="noStrike">
                <a:solidFill>
                  <a:srgbClr val="192A30"/>
                </a:solidFill>
                <a:effectLst/>
                <a:uFillTx/>
                <a:latin typeface="Calibri"/>
                <a:ea typeface="Calibri"/>
              </a:rPr>
              <a:t>The strongest contribution isn’t “DQN for traffic”, it’s separating a high-capacity learner from a constrained, auditable deployed policy.</a:t>
            </a:r>
            <a:endParaRPr lang="en-US" sz="11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150" b="0" u="none" strike="noStrike">
                <a:solidFill>
                  <a:srgbClr val="192A30"/>
                </a:solidFill>
                <a:effectLst/>
                <a:uFillTx/>
                <a:latin typeface="Calibri"/>
                <a:ea typeface="Calibri"/>
              </a:rPr>
              <a:t>DRHQ optimizes exactly what deployment needs (the selected action), not the entire Q-function, a clever reduction in what must be learned.</a:t>
            </a:r>
            <a:endParaRPr lang="en-US" sz="11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150" b="0" u="none" strike="noStrike">
                <a:solidFill>
                  <a:srgbClr val="192A30"/>
                </a:solidFill>
                <a:effectLst/>
                <a:uFillTx/>
                <a:latin typeface="Calibri"/>
                <a:ea typeface="Calibri"/>
              </a:rPr>
              <a:t>A regulatable policy is not automatically a formally safe one. Deployment still needs explicit safety constraints, robustness testing, and multi-intersection validation.</a:t>
            </a:r>
            <a:endParaRPr lang="en-US" sz="1150" b="0" u="none" strike="noStrike">
              <a:solidFill>
                <a:srgbClr val="000000"/>
              </a:solidFill>
              <a:effectLst/>
              <a:uFillTx/>
              <a:latin typeface="Arial"/>
            </a:endParaRPr>
          </a:p>
          <a:p>
            <a:pPr marL="343080" indent="-343080" defTabSz="914400">
              <a:lnSpc>
                <a:spcPct val="108000"/>
              </a:lnSpc>
              <a:spcAft>
                <a:spcPts val="799"/>
              </a:spcAft>
              <a:buClr>
                <a:srgbClr val="192A30"/>
              </a:buClr>
              <a:buFont typeface="Symbol" charset="2"/>
              <a:buChar char=""/>
            </a:pPr>
            <a:r>
              <a:rPr lang="en-US" sz="1150" b="0" u="none" strike="noStrike">
                <a:solidFill>
                  <a:srgbClr val="192A30"/>
                </a:solidFill>
                <a:effectLst/>
                <a:uFillTx/>
                <a:latin typeface="Calibri"/>
                <a:ea typeface="Calibri"/>
              </a:rPr>
              <a:t>The 19.4% vs 30% gap suggests real headroom remains if faster, safer online tuning methods are found.</a:t>
            </a:r>
            <a:endParaRPr lang="en-US" sz="1150" b="0" u="none" strike="noStrike">
              <a:solidFill>
                <a:srgbClr val="000000"/>
              </a:solidFill>
              <a:effectLst/>
              <a:uFillTx/>
              <a:latin typeface="Arial"/>
            </a:endParaRPr>
          </a:p>
        </p:txBody>
      </p:sp>
      <p:sp>
        <p:nvSpPr>
          <p:cNvPr id="277" name="Text 12"/>
          <p:cNvSpPr/>
          <p:nvPr/>
        </p:nvSpPr>
        <p:spPr>
          <a:xfrm>
            <a:off x="457200" y="6400800"/>
            <a:ext cx="7314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7F8C8D"/>
                </a:solidFill>
                <a:effectLst/>
                <a:uFillTx/>
                <a:latin typeface="Arial"/>
                <a:ea typeface="Arial"/>
              </a:rPr>
              <a:t>BITS Pilani | Deep Reinforcement Learning (WILP) | Assignment - I</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278"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Colab Run and Correctness Proof</a:t>
            </a:r>
            <a:endParaRPr lang="en-US" sz="2200" b="0" u="none" strike="noStrike">
              <a:solidFill>
                <a:srgbClr val="000000"/>
              </a:solidFill>
              <a:effectLst/>
              <a:uFillTx/>
              <a:latin typeface="Arial"/>
            </a:endParaRPr>
          </a:p>
        </p:txBody>
      </p:sp>
      <p:sp>
        <p:nvSpPr>
          <p:cNvPr id="279"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EXECUTION AND CORRECTNESS</a:t>
            </a:r>
            <a:endParaRPr lang="en-US" sz="1300" b="0" u="none" strike="noStrike">
              <a:solidFill>
                <a:srgbClr val="000000"/>
              </a:solidFill>
              <a:effectLst/>
              <a:uFillTx/>
              <a:latin typeface="Arial"/>
            </a:endParaRPr>
          </a:p>
        </p:txBody>
      </p:sp>
      <p:sp>
        <p:nvSpPr>
          <p:cNvPr id="280"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281"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16</a:t>
            </a:r>
            <a:endParaRPr lang="en-US" sz="950" b="0" u="none" strike="noStrike">
              <a:solidFill>
                <a:srgbClr val="000000"/>
              </a:solidFill>
              <a:effectLst/>
              <a:uFillTx/>
              <a:latin typeface="Arial"/>
            </a:endParaRPr>
          </a:p>
        </p:txBody>
      </p:sp>
      <p:sp>
        <p:nvSpPr>
          <p:cNvPr id="282" name=""/>
          <p:cNvSpPr/>
          <p:nvPr/>
        </p:nvSpPr>
        <p:spPr>
          <a:xfrm>
            <a:off x="457200" y="1495440"/>
            <a:ext cx="7143480" cy="5900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930" b="1" u="none" strike="noStrike">
                <a:solidFill>
                  <a:srgbClr val="107C41"/>
                </a:solidFill>
                <a:effectLst/>
                <a:uFillTx/>
                <a:latin typeface="Calibri"/>
                <a:ea typeface="Calibri"/>
              </a:rPr>
              <a:t>13 tests passed</a:t>
            </a:r>
            <a:endParaRPr lang="en-US" sz="2930" b="0" u="none" strike="noStrike">
              <a:solidFill>
                <a:srgbClr val="000000"/>
              </a:solidFill>
              <a:effectLst/>
              <a:uFillTx/>
              <a:latin typeface="Arial"/>
            </a:endParaRPr>
          </a:p>
        </p:txBody>
      </p:sp>
      <p:sp>
        <p:nvSpPr>
          <p:cNvPr id="283" name=""/>
          <p:cNvSpPr/>
          <p:nvPr/>
        </p:nvSpPr>
        <p:spPr>
          <a:xfrm>
            <a:off x="457200" y="2286000"/>
            <a:ext cx="7238520" cy="7999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870" b="0" u="none" strike="noStrike">
                <a:solidFill>
                  <a:srgbClr val="192A30"/>
                </a:solidFill>
                <a:effectLst/>
                <a:uFillTx/>
                <a:latin typeface="Calibri"/>
                <a:ea typeface="Calibri"/>
              </a:rPr>
              <a:t>Clearance, accounting, finite-difference gradients,</a:t>
            </a:r>
            <a:endParaRPr lang="en-US" sz="1870" b="0" u="none" strike="noStrike">
              <a:solidFill>
                <a:srgbClr val="000000"/>
              </a:solidFill>
              <a:effectLst/>
              <a:uFillTx/>
              <a:latin typeface="Arial"/>
            </a:endParaRPr>
          </a:p>
          <a:p>
            <a:pPr defTabSz="914400">
              <a:lnSpc>
                <a:spcPct val="100000"/>
              </a:lnSpc>
            </a:pPr>
            <a:r>
              <a:rPr lang="en-US" sz="1870" b="0" u="none" strike="noStrike">
                <a:solidFill>
                  <a:srgbClr val="192A30"/>
                </a:solidFill>
                <a:effectLst/>
                <a:uFillTx/>
                <a:latin typeface="Calibri"/>
                <a:ea typeface="Calibri"/>
              </a:rPr>
              <a:t>terminal targets, replay and checkpoint roundtrips</a:t>
            </a:r>
            <a:endParaRPr lang="en-US" sz="1870" b="0" u="none" strike="noStrike">
              <a:solidFill>
                <a:srgbClr val="000000"/>
              </a:solidFill>
              <a:effectLst/>
              <a:uFillTx/>
              <a:latin typeface="Arial"/>
            </a:endParaRPr>
          </a:p>
        </p:txBody>
      </p:sp>
      <p:sp>
        <p:nvSpPr>
          <p:cNvPr id="284" name=""/>
          <p:cNvSpPr/>
          <p:nvPr/>
        </p:nvSpPr>
        <p:spPr>
          <a:xfrm>
            <a:off x="457200" y="3610080"/>
            <a:ext cx="7238520" cy="12664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320" b="0" u="none" strike="noStrike">
                <a:solidFill>
                  <a:srgbClr val="192A30"/>
                </a:solidFill>
                <a:effectLst/>
                <a:uFillTx/>
                <a:latin typeface="Calibri"/>
                <a:ea typeface="Calibri"/>
              </a:rPr>
              <a:t>600 training episodes</a:t>
            </a:r>
            <a:endParaRPr lang="en-US" sz="2320" b="0" u="none" strike="noStrike">
              <a:solidFill>
                <a:srgbClr val="000000"/>
              </a:solidFill>
              <a:effectLst/>
              <a:uFillTx/>
              <a:latin typeface="Arial"/>
            </a:endParaRPr>
          </a:p>
          <a:p>
            <a:pPr defTabSz="914400">
              <a:lnSpc>
                <a:spcPct val="100000"/>
              </a:lnSpc>
            </a:pPr>
            <a:r>
              <a:rPr lang="en-US" sz="2320" b="0" u="none" strike="noStrike">
                <a:solidFill>
                  <a:srgbClr val="192A30"/>
                </a:solidFill>
                <a:effectLst/>
                <a:uFillTx/>
                <a:latin typeface="Calibri"/>
                <a:ea typeface="Calibri"/>
              </a:rPr>
              <a:t>300 frozen evaluation rollouts</a:t>
            </a:r>
            <a:endParaRPr lang="en-US" sz="2320" b="0" u="none" strike="noStrike">
              <a:solidFill>
                <a:srgbClr val="000000"/>
              </a:solidFill>
              <a:effectLst/>
              <a:uFillTx/>
              <a:latin typeface="Arial"/>
            </a:endParaRPr>
          </a:p>
          <a:p>
            <a:pPr defTabSz="914400">
              <a:lnSpc>
                <a:spcPct val="100000"/>
              </a:lnSpc>
            </a:pPr>
            <a:r>
              <a:rPr lang="en-US" sz="2320" b="0" u="none" strike="noStrike">
                <a:solidFill>
                  <a:srgbClr val="192A30"/>
                </a:solidFill>
                <a:effectLst/>
                <a:uFillTx/>
                <a:latin typeface="Calibri"/>
                <a:ea typeface="Calibri"/>
              </a:rPr>
              <a:t>16 diagnostic rollouts</a:t>
            </a:r>
            <a:endParaRPr lang="en-US" sz="2320" b="0" u="none" strike="noStrike">
              <a:solidFill>
                <a:srgbClr val="000000"/>
              </a:solidFill>
              <a:effectLst/>
              <a:uFillTx/>
              <a:latin typeface="Arial"/>
            </a:endParaRPr>
          </a:p>
        </p:txBody>
      </p:sp>
      <p:sp>
        <p:nvSpPr>
          <p:cNvPr id="285" name=""/>
          <p:cNvSpPr/>
          <p:nvPr/>
        </p:nvSpPr>
        <p:spPr>
          <a:xfrm>
            <a:off x="457200" y="5315040"/>
            <a:ext cx="7238520" cy="6091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0" u="none" strike="noStrike">
                <a:solidFill>
                  <a:srgbClr val="192A30"/>
                </a:solidFill>
                <a:effectLst/>
                <a:uFillTx/>
                <a:latin typeface="Calibri"/>
                <a:ea typeface="Calibri"/>
              </a:rPr>
              <a:t>Empty traffic, one-sided burst, reversal and overload.</a:t>
            </a:r>
            <a:endParaRPr lang="en-US" sz="1650" b="0" u="none" strike="noStrike">
              <a:solidFill>
                <a:srgbClr val="000000"/>
              </a:solidFill>
              <a:effectLst/>
              <a:uFillTx/>
              <a:latin typeface="Arial"/>
            </a:endParaRPr>
          </a:p>
          <a:p>
            <a:pPr defTabSz="914400">
              <a:lnSpc>
                <a:spcPct val="100000"/>
              </a:lnSpc>
            </a:pPr>
            <a:r>
              <a:rPr lang="en-US" sz="1650" b="0" u="none" strike="noStrike">
                <a:solidFill>
                  <a:srgbClr val="192A30"/>
                </a:solidFill>
                <a:effectLst/>
                <a:uFillTx/>
                <a:latin typeface="Calibri"/>
                <a:ea typeface="Calibri"/>
              </a:rPr>
              <a:t>Parameters stay unchanged during diagnostics.</a:t>
            </a:r>
            <a:endParaRPr lang="en-US" sz="1650" b="0" u="none" strike="noStrike">
              <a:solidFill>
                <a:srgbClr val="000000"/>
              </a:solidFill>
              <a:effectLst/>
              <a:uFillTx/>
              <a:latin typeface="Arial"/>
            </a:endParaRPr>
          </a:p>
        </p:txBody>
      </p:sp>
      <p:sp>
        <p:nvSpPr>
          <p:cNvPr id="286" name=""/>
          <p:cNvSpPr/>
          <p:nvPr/>
        </p:nvSpPr>
        <p:spPr>
          <a:xfrm>
            <a:off x="8220240" y="1476360"/>
            <a:ext cx="3514320" cy="4409640"/>
          </a:xfrm>
          <a:prstGeom prst="roundRect">
            <a:avLst>
              <a:gd name="adj" fmla="val 2168"/>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7" name=""/>
          <p:cNvSpPr/>
          <p:nvPr/>
        </p:nvSpPr>
        <p:spPr>
          <a:xfrm>
            <a:off x="8391600" y="1666800"/>
            <a:ext cx="3171600" cy="342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1" u="none" strike="noStrike">
                <a:solidFill>
                  <a:srgbClr val="107C41"/>
                </a:solidFill>
                <a:effectLst/>
                <a:uFillTx/>
                <a:latin typeface="Calibri"/>
                <a:ea typeface="Calibri"/>
              </a:rPr>
              <a:t>YOUR COLAB SCREENSHOT</a:t>
            </a:r>
            <a:endParaRPr lang="en-US" sz="1580" b="0" u="none" strike="noStrike">
              <a:solidFill>
                <a:srgbClr val="000000"/>
              </a:solidFill>
              <a:effectLst/>
              <a:uFillTx/>
              <a:latin typeface="Arial"/>
            </a:endParaRPr>
          </a:p>
        </p:txBody>
      </p:sp>
      <p:sp>
        <p:nvSpPr>
          <p:cNvPr id="288" name=""/>
          <p:cNvSpPr/>
          <p:nvPr/>
        </p:nvSpPr>
        <p:spPr>
          <a:xfrm>
            <a:off x="8391600" y="2190600"/>
            <a:ext cx="3171600" cy="34570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7F8C8D"/>
                </a:solidFill>
                <a:effectLst/>
                <a:uFillTx/>
                <a:latin typeface="Calibri"/>
                <a:ea typeface="Calibri"/>
              </a:rPr>
              <a:t>Attach Section 8 test summary and Section 13 proof summary.</a:t>
            </a:r>
            <a:endParaRPr lang="en-US" sz="1500" b="0" u="none" strike="noStrike">
              <a:solidFill>
                <a:srgbClr val="000000"/>
              </a:solidFill>
              <a:effectLst/>
              <a:uFillTx/>
              <a:latin typeface="Arial"/>
            </a:endParaRPr>
          </a:p>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7F8C8D"/>
                </a:solidFill>
                <a:effectLst/>
                <a:uFillTx/>
                <a:latin typeface="Calibri"/>
                <a:ea typeface="Calibri"/>
              </a:rPr>
              <a:t>Capture the notebook title and completed outputs.</a:t>
            </a:r>
            <a:endParaRPr lang="en-US" sz="1500" b="0" u="none" strike="noStrike">
              <a:solidFill>
                <a:srgbClr val="000000"/>
              </a:solidFill>
              <a:effectLst/>
              <a:uFillTx/>
              <a:latin typeface="Arial"/>
            </a:endParaRPr>
          </a:p>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7F8C8D"/>
                </a:solidFill>
                <a:effectLst/>
                <a:uFillTx/>
                <a:latin typeface="Calibri"/>
                <a:ea typeface="Calibri"/>
              </a:rPr>
              <a:t>Keep FULL_RUN = True.</a:t>
            </a:r>
            <a:endParaRPr lang="en-US" sz="1500" b="0" u="none" strike="noStrike">
              <a:solidFill>
                <a:srgbClr val="000000"/>
              </a:solidFill>
              <a:effectLst/>
              <a:uFillTx/>
              <a:latin typeface="Arial"/>
            </a:endParaRPr>
          </a:p>
        </p:txBody>
      </p:sp>
      <p:sp>
        <p:nvSpPr>
          <p:cNvPr id="289"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Verified local CPU reference run. Replace the proof panel with your own completed Colab output.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290"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Measured Learning Curves</a:t>
            </a:r>
            <a:endParaRPr lang="en-US" sz="2200" b="0" u="none" strike="noStrike">
              <a:solidFill>
                <a:srgbClr val="000000"/>
              </a:solidFill>
              <a:effectLst/>
              <a:uFillTx/>
              <a:latin typeface="Arial"/>
            </a:endParaRPr>
          </a:p>
        </p:txBody>
      </p:sp>
      <p:sp>
        <p:nvSpPr>
          <p:cNvPr id="291"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TRAINING EVIDENCE</a:t>
            </a:r>
            <a:endParaRPr lang="en-US" sz="1300" b="0" u="none" strike="noStrike">
              <a:solidFill>
                <a:srgbClr val="000000"/>
              </a:solidFill>
              <a:effectLst/>
              <a:uFillTx/>
              <a:latin typeface="Arial"/>
            </a:endParaRPr>
          </a:p>
        </p:txBody>
      </p:sp>
      <p:sp>
        <p:nvSpPr>
          <p:cNvPr id="292"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293"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17</a:t>
            </a:r>
            <a:endParaRPr lang="en-US" sz="950" b="0" u="none" strike="noStrike">
              <a:solidFill>
                <a:srgbClr val="000000"/>
              </a:solidFill>
              <a:effectLst/>
              <a:uFillTx/>
              <a:latin typeface="Arial"/>
            </a:endParaRPr>
          </a:p>
        </p:txBody>
      </p:sp>
      <p:graphicFrame>
        <p:nvGraphicFramePr>
          <p:cNvPr id="294" name="Chart"/>
          <p:cNvGraphicFramePr/>
          <p:nvPr/>
        </p:nvGraphicFramePr>
        <p:xfrm>
          <a:off x="457200" y="1581120"/>
          <a:ext cx="7381440" cy="3876480"/>
        </p:xfrm>
        <a:graphic>
          <a:graphicData uri="http://schemas.openxmlformats.org/drawingml/2006/chart">
            <c:chart xmlns:c="http://schemas.openxmlformats.org/drawingml/2006/chart" xmlns:r="http://schemas.openxmlformats.org/officeDocument/2006/relationships" r:id="rId1"/>
          </a:graphicData>
        </a:graphic>
      </p:graphicFrame>
      <p:sp>
        <p:nvSpPr>
          <p:cNvPr id="295" name=""/>
          <p:cNvSpPr/>
          <p:nvPr/>
        </p:nvSpPr>
        <p:spPr>
          <a:xfrm>
            <a:off x="8220240" y="1581120"/>
            <a:ext cx="3514320" cy="3876480"/>
          </a:xfrm>
          <a:prstGeom prst="roundRect">
            <a:avLst>
              <a:gd name="adj" fmla="val 2168"/>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6" name=""/>
          <p:cNvSpPr/>
          <p:nvPr/>
        </p:nvSpPr>
        <p:spPr>
          <a:xfrm>
            <a:off x="8391600" y="1771560"/>
            <a:ext cx="3171600" cy="342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1" u="none" strike="noStrike">
                <a:solidFill>
                  <a:srgbClr val="107C41"/>
                </a:solidFill>
                <a:effectLst/>
                <a:uFillTx/>
                <a:latin typeface="Calibri"/>
                <a:ea typeface="Calibri"/>
              </a:rPr>
              <a:t>YOUR COLAB SCREENSHOT</a:t>
            </a:r>
            <a:endParaRPr lang="en-US" sz="1580" b="0" u="none" strike="noStrike">
              <a:solidFill>
                <a:srgbClr val="000000"/>
              </a:solidFill>
              <a:effectLst/>
              <a:uFillTx/>
              <a:latin typeface="Arial"/>
            </a:endParaRPr>
          </a:p>
        </p:txBody>
      </p:sp>
      <p:sp>
        <p:nvSpPr>
          <p:cNvPr id="297" name=""/>
          <p:cNvSpPr/>
          <p:nvPr/>
        </p:nvSpPr>
        <p:spPr>
          <a:xfrm>
            <a:off x="8391600" y="2295360"/>
            <a:ext cx="3171600" cy="29239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7F8C8D"/>
                </a:solidFill>
                <a:effectLst/>
                <a:uFillTx/>
                <a:latin typeface="Calibri"/>
                <a:ea typeface="Calibri"/>
              </a:rPr>
              <a:t>Attach Section 9 completed progress or Section 10 learning curves.</a:t>
            </a:r>
            <a:endParaRPr lang="en-US" sz="1500" b="0" u="none" strike="noStrike">
              <a:solidFill>
                <a:srgbClr val="000000"/>
              </a:solidFill>
              <a:effectLst/>
              <a:uFillTx/>
              <a:latin typeface="Arial"/>
            </a:endParaRPr>
          </a:p>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7F8C8D"/>
                </a:solidFill>
                <a:effectLst/>
                <a:uFillTx/>
                <a:latin typeface="Calibri"/>
                <a:ea typeface="Calibri"/>
              </a:rPr>
              <a:t>Show algorithms and seeds.</a:t>
            </a:r>
            <a:endParaRPr lang="en-US" sz="1500" b="0" u="none" strike="noStrike">
              <a:solidFill>
                <a:srgbClr val="000000"/>
              </a:solidFill>
              <a:effectLst/>
              <a:uFillTx/>
              <a:latin typeface="Arial"/>
            </a:endParaRPr>
          </a:p>
        </p:txBody>
      </p:sp>
      <p:sp>
        <p:nvSpPr>
          <p:cNvPr id="298" name=""/>
          <p:cNvSpPr/>
          <p:nvPr/>
        </p:nvSpPr>
        <p:spPr>
          <a:xfrm>
            <a:off x="457200" y="5705640"/>
            <a:ext cx="11277360" cy="3330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0" u="none" strike="noStrike">
                <a:solidFill>
                  <a:srgbClr val="192A30"/>
                </a:solidFill>
                <a:effectLst/>
                <a:uFillTx/>
                <a:latin typeface="Calibri"/>
                <a:ea typeface="Calibri"/>
              </a:rPr>
              <a:t>Exploration: 0.30 to 0.03. Curves average three training seeds. Evaluation follows.</a:t>
            </a:r>
            <a:endParaRPr lang="en-US" sz="1650" b="0" u="none" strike="noStrike">
              <a:solidFill>
                <a:srgbClr val="000000"/>
              </a:solidFill>
              <a:effectLst/>
              <a:uFillTx/>
              <a:latin typeface="Arial"/>
            </a:endParaRPr>
          </a:p>
        </p:txBody>
      </p:sp>
      <p:sp>
        <p:nvSpPr>
          <p:cNvPr id="299"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Verified local CPU reference. DRQ is outside this chart scale and remains in the full CSV and notebook plot.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300"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Example 1: Balanced Demand</a:t>
            </a:r>
            <a:endParaRPr lang="en-US" sz="2200" b="0" u="none" strike="noStrike">
              <a:solidFill>
                <a:srgbClr val="000000"/>
              </a:solidFill>
              <a:effectLst/>
              <a:uFillTx/>
              <a:latin typeface="Arial"/>
            </a:endParaRPr>
          </a:p>
        </p:txBody>
      </p:sp>
      <p:sp>
        <p:nvSpPr>
          <p:cNvPr id="301"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BALANCED TRAFFIC</a:t>
            </a:r>
            <a:endParaRPr lang="en-US" sz="1300" b="0" u="none" strike="noStrike">
              <a:solidFill>
                <a:srgbClr val="000000"/>
              </a:solidFill>
              <a:effectLst/>
              <a:uFillTx/>
              <a:latin typeface="Arial"/>
            </a:endParaRPr>
          </a:p>
        </p:txBody>
      </p:sp>
      <p:sp>
        <p:nvSpPr>
          <p:cNvPr id="302"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303"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18</a:t>
            </a:r>
            <a:endParaRPr lang="en-US" sz="950" b="0" u="none" strike="noStrike">
              <a:solidFill>
                <a:srgbClr val="000000"/>
              </a:solidFill>
              <a:effectLst/>
              <a:uFillTx/>
              <a:latin typeface="Arial"/>
            </a:endParaRPr>
          </a:p>
        </p:txBody>
      </p:sp>
      <p:graphicFrame>
        <p:nvGraphicFramePr>
          <p:cNvPr id="304" name="Chart"/>
          <p:cNvGraphicFramePr/>
          <p:nvPr/>
        </p:nvGraphicFramePr>
        <p:xfrm>
          <a:off x="457200" y="1609560"/>
          <a:ext cx="7381440" cy="3333240"/>
        </p:xfrm>
        <a:graphic>
          <a:graphicData uri="http://schemas.openxmlformats.org/drawingml/2006/chart">
            <c:chart xmlns:c="http://schemas.openxmlformats.org/drawingml/2006/chart" xmlns:r="http://schemas.openxmlformats.org/officeDocument/2006/relationships" r:id="rId1"/>
          </a:graphicData>
        </a:graphic>
      </p:graphicFrame>
      <p:sp>
        <p:nvSpPr>
          <p:cNvPr id="305" name=""/>
          <p:cNvSpPr/>
          <p:nvPr/>
        </p:nvSpPr>
        <p:spPr>
          <a:xfrm>
            <a:off x="457200" y="5133960"/>
            <a:ext cx="7381440" cy="4093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1" u="none" strike="noStrike">
                <a:solidFill>
                  <a:srgbClr val="107C41"/>
                </a:solidFill>
                <a:effectLst/>
                <a:uFillTx/>
                <a:latin typeface="Calibri"/>
                <a:ea typeface="Calibri"/>
              </a:rPr>
              <a:t>15.92% lower delay than local Actuated</a:t>
            </a:r>
            <a:endParaRPr lang="en-US" sz="2170" b="0" u="none" strike="noStrike">
              <a:solidFill>
                <a:srgbClr val="000000"/>
              </a:solidFill>
              <a:effectLst/>
              <a:uFillTx/>
              <a:latin typeface="Arial"/>
            </a:endParaRPr>
          </a:p>
        </p:txBody>
      </p:sp>
      <p:sp>
        <p:nvSpPr>
          <p:cNvPr id="306" name=""/>
          <p:cNvSpPr/>
          <p:nvPr/>
        </p:nvSpPr>
        <p:spPr>
          <a:xfrm>
            <a:off x="457200" y="5629320"/>
            <a:ext cx="738144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0" u="none" strike="noStrike">
                <a:solidFill>
                  <a:srgbClr val="192A30"/>
                </a:solidFill>
                <a:effectLst/>
                <a:uFillTx/>
                <a:latin typeface="Calibri"/>
                <a:ea typeface="Calibri"/>
              </a:rPr>
              <a:t>Paired 95% interval: 13.60% to 18.42%</a:t>
            </a:r>
            <a:endParaRPr lang="en-US" sz="1580" b="0" u="none" strike="noStrike">
              <a:solidFill>
                <a:srgbClr val="000000"/>
              </a:solidFill>
              <a:effectLst/>
              <a:uFillTx/>
              <a:latin typeface="Arial"/>
            </a:endParaRPr>
          </a:p>
        </p:txBody>
      </p:sp>
      <p:sp>
        <p:nvSpPr>
          <p:cNvPr id="307" name=""/>
          <p:cNvSpPr/>
          <p:nvPr/>
        </p:nvSpPr>
        <p:spPr>
          <a:xfrm>
            <a:off x="8220240" y="1609560"/>
            <a:ext cx="3514320" cy="4276440"/>
          </a:xfrm>
          <a:prstGeom prst="roundRect">
            <a:avLst>
              <a:gd name="adj" fmla="val 2168"/>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08" name=""/>
          <p:cNvSpPr/>
          <p:nvPr/>
        </p:nvSpPr>
        <p:spPr>
          <a:xfrm>
            <a:off x="8391600" y="1800360"/>
            <a:ext cx="3171600" cy="342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1" u="none" strike="noStrike">
                <a:solidFill>
                  <a:srgbClr val="107C41"/>
                </a:solidFill>
                <a:effectLst/>
                <a:uFillTx/>
                <a:latin typeface="Calibri"/>
                <a:ea typeface="Calibri"/>
              </a:rPr>
              <a:t>YOUR COLAB SCREENSHOT</a:t>
            </a:r>
            <a:endParaRPr lang="en-US" sz="1580" b="0" u="none" strike="noStrike">
              <a:solidFill>
                <a:srgbClr val="000000"/>
              </a:solidFill>
              <a:effectLst/>
              <a:uFillTx/>
              <a:latin typeface="Arial"/>
            </a:endParaRPr>
          </a:p>
        </p:txBody>
      </p:sp>
      <p:sp>
        <p:nvSpPr>
          <p:cNvPr id="309" name=""/>
          <p:cNvSpPr/>
          <p:nvPr/>
        </p:nvSpPr>
        <p:spPr>
          <a:xfrm>
            <a:off x="8391600" y="2324160"/>
            <a:ext cx="3171600" cy="33238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7F8C8D"/>
                </a:solidFill>
                <a:effectLst/>
                <a:uFillTx/>
                <a:latin typeface="Calibri"/>
                <a:ea typeface="Calibri"/>
              </a:rPr>
              <a:t>Attach Section 10 balanced result rows.</a:t>
            </a:r>
            <a:endParaRPr lang="en-US" sz="1500" b="0" u="none" strike="noStrike">
              <a:solidFill>
                <a:srgbClr val="000000"/>
              </a:solidFill>
              <a:effectLst/>
              <a:uFillTx/>
              <a:latin typeface="Arial"/>
            </a:endParaRPr>
          </a:p>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7F8C8D"/>
                </a:solidFill>
                <a:effectLst/>
                <a:uFillTx/>
                <a:latin typeface="Calibri"/>
                <a:ea typeface="Calibri"/>
              </a:rPr>
              <a:t>Confirm 11.688 s Actuated and 9.828 s DRHQ, or update the chart to your measured values.</a:t>
            </a:r>
            <a:endParaRPr lang="en-US" sz="1500" b="0" u="none" strike="noStrike">
              <a:solidFill>
                <a:srgbClr val="000000"/>
              </a:solidFill>
              <a:effectLst/>
              <a:uFillTx/>
              <a:latin typeface="Arial"/>
            </a:endParaRPr>
          </a:p>
        </p:txBody>
      </p:sp>
      <p:sp>
        <p:nvSpPr>
          <p:cNvPr id="310"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Verified local CPU reference. DRQ: 286.671 s, excluded from chart scale and retained in raw results.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311"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Example 2: Demand Reversal</a:t>
            </a:r>
            <a:endParaRPr lang="en-US" sz="2200" b="0" u="none" strike="noStrike">
              <a:solidFill>
                <a:srgbClr val="000000"/>
              </a:solidFill>
              <a:effectLst/>
              <a:uFillTx/>
              <a:latin typeface="Arial"/>
            </a:endParaRPr>
          </a:p>
        </p:txBody>
      </p:sp>
      <p:sp>
        <p:nvSpPr>
          <p:cNvPr id="312"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TRAFFIC CHANGES AT 600 SECONDS</a:t>
            </a:r>
            <a:endParaRPr lang="en-US" sz="1300" b="0" u="none" strike="noStrike">
              <a:solidFill>
                <a:srgbClr val="000000"/>
              </a:solidFill>
              <a:effectLst/>
              <a:uFillTx/>
              <a:latin typeface="Arial"/>
            </a:endParaRPr>
          </a:p>
        </p:txBody>
      </p:sp>
      <p:sp>
        <p:nvSpPr>
          <p:cNvPr id="313"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314"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19</a:t>
            </a:r>
            <a:endParaRPr lang="en-US" sz="950" b="0" u="none" strike="noStrike">
              <a:solidFill>
                <a:srgbClr val="000000"/>
              </a:solidFill>
              <a:effectLst/>
              <a:uFillTx/>
              <a:latin typeface="Arial"/>
            </a:endParaRPr>
          </a:p>
        </p:txBody>
      </p:sp>
      <p:graphicFrame>
        <p:nvGraphicFramePr>
          <p:cNvPr id="315" name="Chart"/>
          <p:cNvGraphicFramePr/>
          <p:nvPr/>
        </p:nvGraphicFramePr>
        <p:xfrm>
          <a:off x="457200" y="1581120"/>
          <a:ext cx="7381440" cy="3076200"/>
        </p:xfrm>
        <a:graphic>
          <a:graphicData uri="http://schemas.openxmlformats.org/drawingml/2006/chart">
            <c:chart xmlns:c="http://schemas.openxmlformats.org/drawingml/2006/chart" xmlns:r="http://schemas.openxmlformats.org/officeDocument/2006/relationships" r:id="rId1"/>
          </a:graphicData>
        </a:graphic>
      </p:graphicFrame>
      <p:sp>
        <p:nvSpPr>
          <p:cNvPr id="316" name=""/>
          <p:cNvSpPr/>
          <p:nvPr/>
        </p:nvSpPr>
        <p:spPr>
          <a:xfrm>
            <a:off x="457200" y="4896000"/>
            <a:ext cx="7381440" cy="4093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70" b="0" u="none" strike="noStrike">
                <a:solidFill>
                  <a:srgbClr val="192A30"/>
                </a:solidFill>
                <a:effectLst/>
                <a:uFillTx/>
                <a:latin typeface="Calibri"/>
                <a:ea typeface="Calibri"/>
              </a:rPr>
              <a:t>Actuated 10.696 s     DRHQ 8.758 s</a:t>
            </a:r>
            <a:endParaRPr lang="en-US" sz="2170" b="0" u="none" strike="noStrike">
              <a:solidFill>
                <a:srgbClr val="000000"/>
              </a:solidFill>
              <a:effectLst/>
              <a:uFillTx/>
              <a:latin typeface="Arial"/>
            </a:endParaRPr>
          </a:p>
        </p:txBody>
      </p:sp>
      <p:sp>
        <p:nvSpPr>
          <p:cNvPr id="317" name=""/>
          <p:cNvSpPr/>
          <p:nvPr/>
        </p:nvSpPr>
        <p:spPr>
          <a:xfrm>
            <a:off x="457200" y="5362560"/>
            <a:ext cx="7381440" cy="361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729" b="1" u="none" strike="noStrike">
                <a:solidFill>
                  <a:srgbClr val="107C41"/>
                </a:solidFill>
                <a:effectLst/>
                <a:uFillTx/>
                <a:latin typeface="Calibri"/>
                <a:ea typeface="Calibri"/>
              </a:rPr>
              <a:t>18.12% lower delay. 95% interval 15.10% to 21.17%.</a:t>
            </a:r>
            <a:endParaRPr lang="en-US" sz="1729" b="0" u="none" strike="noStrike">
              <a:solidFill>
                <a:srgbClr val="000000"/>
              </a:solidFill>
              <a:effectLst/>
              <a:uFillTx/>
              <a:latin typeface="Arial"/>
            </a:endParaRPr>
          </a:p>
        </p:txBody>
      </p:sp>
      <p:sp>
        <p:nvSpPr>
          <p:cNvPr id="318" name=""/>
          <p:cNvSpPr/>
          <p:nvPr/>
        </p:nvSpPr>
        <p:spPr>
          <a:xfrm>
            <a:off x="8220240" y="1581120"/>
            <a:ext cx="3514320" cy="4219200"/>
          </a:xfrm>
          <a:prstGeom prst="roundRect">
            <a:avLst>
              <a:gd name="adj" fmla="val 2168"/>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19" name=""/>
          <p:cNvSpPr/>
          <p:nvPr/>
        </p:nvSpPr>
        <p:spPr>
          <a:xfrm>
            <a:off x="8391600" y="1771560"/>
            <a:ext cx="3171600" cy="342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1" u="none" strike="noStrike">
                <a:solidFill>
                  <a:srgbClr val="107C41"/>
                </a:solidFill>
                <a:effectLst/>
                <a:uFillTx/>
                <a:latin typeface="Calibri"/>
                <a:ea typeface="Calibri"/>
              </a:rPr>
              <a:t>YOUR COLAB SCREENSHOT</a:t>
            </a:r>
            <a:endParaRPr lang="en-US" sz="1580" b="0" u="none" strike="noStrike">
              <a:solidFill>
                <a:srgbClr val="000000"/>
              </a:solidFill>
              <a:effectLst/>
              <a:uFillTx/>
              <a:latin typeface="Arial"/>
            </a:endParaRPr>
          </a:p>
        </p:txBody>
      </p:sp>
      <p:sp>
        <p:nvSpPr>
          <p:cNvPr id="320" name=""/>
          <p:cNvSpPr/>
          <p:nvPr/>
        </p:nvSpPr>
        <p:spPr>
          <a:xfrm>
            <a:off x="8391600" y="2295360"/>
            <a:ext cx="3171600" cy="32666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7F8C8D"/>
                </a:solidFill>
                <a:effectLst/>
                <a:uFillTx/>
                <a:latin typeface="Calibri"/>
                <a:ea typeface="Calibri"/>
              </a:rPr>
              <a:t>Attach Section 12 tidal queue trace and Section 10 tidal result rows.</a:t>
            </a:r>
            <a:endParaRPr lang="en-US" sz="1500" b="0" u="none" strike="noStrike">
              <a:solidFill>
                <a:srgbClr val="000000"/>
              </a:solidFill>
              <a:effectLst/>
              <a:uFillTx/>
              <a:latin typeface="Arial"/>
            </a:endParaRPr>
          </a:p>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7F8C8D"/>
                </a:solidFill>
                <a:effectLst/>
                <a:uFillTx/>
                <a:latin typeface="Calibri"/>
                <a:ea typeface="Calibri"/>
              </a:rPr>
              <a:t>Keep the 600 s reversal visible.</a:t>
            </a:r>
            <a:endParaRPr lang="en-US" sz="1500" b="0" u="none" strike="noStrike">
              <a:solidFill>
                <a:srgbClr val="000000"/>
              </a:solidFill>
              <a:effectLst/>
              <a:uFillTx/>
              <a:latin typeface="Arial"/>
            </a:endParaRPr>
          </a:p>
        </p:txBody>
      </p:sp>
      <p:sp>
        <p:nvSpPr>
          <p:cNvPr id="321"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Reference trace: DRHQ seed 11, traffic seed 90000. DRQ delay 380.372 s. Check pending and throughput too.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322"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Decision and Monotonicity Proof</a:t>
            </a:r>
            <a:endParaRPr lang="en-US" sz="2200" b="0" u="none" strike="noStrike">
              <a:solidFill>
                <a:srgbClr val="000000"/>
              </a:solidFill>
              <a:effectLst/>
              <a:uFillTx/>
              <a:latin typeface="Arial"/>
            </a:endParaRPr>
          </a:p>
        </p:txBody>
      </p:sp>
      <p:sp>
        <p:nvSpPr>
          <p:cNvPr id="323"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TWO EXECUTED DECISIONS</a:t>
            </a:r>
            <a:endParaRPr lang="en-US" sz="1300" b="0" u="none" strike="noStrike">
              <a:solidFill>
                <a:srgbClr val="000000"/>
              </a:solidFill>
              <a:effectLst/>
              <a:uFillTx/>
              <a:latin typeface="Arial"/>
            </a:endParaRPr>
          </a:p>
        </p:txBody>
      </p:sp>
      <p:sp>
        <p:nvSpPr>
          <p:cNvPr id="324"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325"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20</a:t>
            </a:r>
            <a:endParaRPr lang="en-US" sz="950" b="0" u="none" strike="noStrike">
              <a:solidFill>
                <a:srgbClr val="000000"/>
              </a:solidFill>
              <a:effectLst/>
              <a:uFillTx/>
              <a:latin typeface="Arial"/>
            </a:endParaRPr>
          </a:p>
        </p:txBody>
      </p:sp>
      <p:graphicFrame>
        <p:nvGraphicFramePr>
          <p:cNvPr id="326" name=""/>
          <p:cNvGraphicFramePr/>
          <p:nvPr/>
        </p:nvGraphicFramePr>
        <p:xfrm>
          <a:off x="457200" y="1581120"/>
          <a:ext cx="7505280" cy="3104640"/>
        </p:xfrm>
        <a:graphic>
          <a:graphicData uri="http://schemas.openxmlformats.org/drawingml/2006/table">
            <a:tbl>
              <a:tblPr/>
              <a:tblGrid>
                <a:gridCol w="1866600"/>
                <a:gridCol w="1409400"/>
                <a:gridCol w="1409400"/>
                <a:gridCol w="1409400"/>
                <a:gridCol w="1409400"/>
              </a:tblGrid>
              <a:tr h="388080">
                <a:tc>
                  <a:txBody>
                    <a:bodyPr anchor="t">
                      <a:noAutofit/>
                    </a:bodyPr>
                    <a:p>
                      <a:pPr>
                        <a:lnSpc>
                          <a:spcPct val="100000"/>
                        </a:lnSpc>
                      </a:pPr>
                      <a:r>
                        <a:rPr lang="en-US" sz="1350" b="1" u="none" strike="noStrike">
                          <a:solidFill>
                            <a:srgbClr val="FFFFFF"/>
                          </a:solidFill>
                          <a:effectLst/>
                          <a:uFillTx/>
                          <a:latin typeface="Calibri"/>
                          <a:ea typeface="Calibri"/>
                        </a:rPr>
                        <a:t>Contribution</a:t>
                      </a:r>
                      <a:endParaRPr lang="en-US" sz="135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350" b="1" u="none" strike="noStrike">
                          <a:solidFill>
                            <a:srgbClr val="FFFFFF"/>
                          </a:solidFill>
                          <a:effectLst/>
                          <a:uFillTx/>
                          <a:latin typeface="Calibri"/>
                          <a:ea typeface="Calibri"/>
                        </a:rPr>
                        <a:t>Balanced NS</a:t>
                      </a:r>
                      <a:endParaRPr lang="en-US" sz="135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350" b="1" u="none" strike="noStrike">
                          <a:solidFill>
                            <a:srgbClr val="FFFFFF"/>
                          </a:solidFill>
                          <a:effectLst/>
                          <a:uFillTx/>
                          <a:latin typeface="Calibri"/>
                          <a:ea typeface="Calibri"/>
                        </a:rPr>
                        <a:t>Balanced EW</a:t>
                      </a:r>
                      <a:endParaRPr lang="en-US" sz="135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350" b="1" u="none" strike="noStrike">
                          <a:solidFill>
                            <a:srgbClr val="FFFFFF"/>
                          </a:solidFill>
                          <a:effectLst/>
                          <a:uFillTx/>
                          <a:latin typeface="Calibri"/>
                          <a:ea typeface="Calibri"/>
                        </a:rPr>
                        <a:t>Tidal NS</a:t>
                      </a:r>
                      <a:endParaRPr lang="en-US" sz="135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c>
                  <a:txBody>
                    <a:bodyPr anchor="t">
                      <a:noAutofit/>
                    </a:bodyPr>
                    <a:p>
                      <a:pPr>
                        <a:lnSpc>
                          <a:spcPct val="100000"/>
                        </a:lnSpc>
                      </a:pPr>
                      <a:r>
                        <a:rPr lang="en-US" sz="1350" b="1" u="none" strike="noStrike">
                          <a:solidFill>
                            <a:srgbClr val="FFFFFF"/>
                          </a:solidFill>
                          <a:effectLst/>
                          <a:uFillTx/>
                          <a:latin typeface="Calibri"/>
                          <a:ea typeface="Calibri"/>
                        </a:rPr>
                        <a:t>Tidal EW</a:t>
                      </a:r>
                      <a:endParaRPr lang="en-US" sz="1350" b="0" u="none" strike="noStrike">
                        <a:solidFill>
                          <a:srgbClr val="FFFFFF"/>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07C41"/>
                    </a:solidFill>
                  </a:tcPr>
                </a:tc>
              </a:tr>
              <a:tr h="388080">
                <a:tc>
                  <a:txBody>
                    <a:bodyPr anchor="t">
                      <a:noAutofit/>
                    </a:bodyPr>
                    <a:p>
                      <a:pPr>
                        <a:lnSpc>
                          <a:spcPct val="100000"/>
                        </a:lnSpc>
                      </a:pPr>
                      <a:r>
                        <a:rPr lang="en-US" sz="1350" b="0" u="none" strike="noStrike">
                          <a:solidFill>
                            <a:srgbClr val="192A30"/>
                          </a:solidFill>
                          <a:effectLst/>
                          <a:uFillTx/>
                          <a:latin typeface="Calibri"/>
                          <a:ea typeface="Calibri"/>
                        </a:rPr>
                        <a:t>Queued</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3.641</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1.271</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0.595</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5.397</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388080">
                <a:tc>
                  <a:txBody>
                    <a:bodyPr anchor="t">
                      <a:noAutofit/>
                    </a:bodyPr>
                    <a:p>
                      <a:pPr>
                        <a:lnSpc>
                          <a:spcPct val="100000"/>
                        </a:lnSpc>
                      </a:pPr>
                      <a:r>
                        <a:rPr lang="en-US" sz="1350" b="0" u="none" strike="noStrike">
                          <a:solidFill>
                            <a:srgbClr val="192A30"/>
                          </a:solidFill>
                          <a:effectLst/>
                          <a:uFillTx/>
                          <a:latin typeface="Calibri"/>
                          <a:ea typeface="Calibri"/>
                        </a:rPr>
                        <a:t>Approaching</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0.213</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0.645</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0.000</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0.645</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r>
              <a:tr h="388080">
                <a:tc>
                  <a:txBody>
                    <a:bodyPr anchor="t">
                      <a:noAutofit/>
                    </a:bodyPr>
                    <a:p>
                      <a:pPr>
                        <a:lnSpc>
                          <a:spcPct val="100000"/>
                        </a:lnSpc>
                      </a:pPr>
                      <a:r>
                        <a:rPr lang="en-US" sz="1350" b="0" u="none" strike="noStrike">
                          <a:solidFill>
                            <a:srgbClr val="192A30"/>
                          </a:solidFill>
                          <a:effectLst/>
                          <a:uFillTx/>
                          <a:latin typeface="Calibri"/>
                          <a:ea typeface="Calibri"/>
                        </a:rPr>
                        <a:t>Total wait</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0.295</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0.039</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0.040</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0.419</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388080">
                <a:tc>
                  <a:txBody>
                    <a:bodyPr anchor="t">
                      <a:noAutofit/>
                    </a:bodyPr>
                    <a:p>
                      <a:pPr>
                        <a:lnSpc>
                          <a:spcPct val="100000"/>
                        </a:lnSpc>
                      </a:pPr>
                      <a:r>
                        <a:rPr lang="en-US" sz="1350" b="0" u="none" strike="noStrike">
                          <a:solidFill>
                            <a:srgbClr val="192A30"/>
                          </a:solidFill>
                          <a:effectLst/>
                          <a:uFillTx/>
                          <a:latin typeface="Calibri"/>
                          <a:ea typeface="Calibri"/>
                        </a:rPr>
                        <a:t>Mean wait</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0.433</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0.027</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0.119</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0.187</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r>
              <a:tr h="388080">
                <a:tc>
                  <a:txBody>
                    <a:bodyPr anchor="t">
                      <a:noAutofit/>
                    </a:bodyPr>
                    <a:p>
                      <a:pPr>
                        <a:lnSpc>
                          <a:spcPct val="100000"/>
                        </a:lnSpc>
                      </a:pPr>
                      <a:r>
                        <a:rPr lang="en-US" sz="1350" b="0" u="none" strike="noStrike">
                          <a:solidFill>
                            <a:srgbClr val="192A30"/>
                          </a:solidFill>
                          <a:effectLst/>
                          <a:uFillTx/>
                          <a:latin typeface="Calibri"/>
                          <a:ea typeface="Calibri"/>
                        </a:rPr>
                        <a:t>Queue/lane</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3.641</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1.271</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0.595</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5.397</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388080">
                <a:tc>
                  <a:txBody>
                    <a:bodyPr anchor="t">
                      <a:noAutofit/>
                    </a:bodyPr>
                    <a:p>
                      <a:pPr>
                        <a:lnSpc>
                          <a:spcPct val="100000"/>
                        </a:lnSpc>
                      </a:pPr>
                      <a:r>
                        <a:rPr lang="en-US" sz="1350" b="0" u="none" strike="noStrike">
                          <a:solidFill>
                            <a:srgbClr val="192A30"/>
                          </a:solidFill>
                          <a:effectLst/>
                          <a:uFillTx/>
                          <a:latin typeface="Calibri"/>
                          <a:ea typeface="Calibri"/>
                        </a:rPr>
                        <a:t>Speed</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0.813</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0.526</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0.000</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c>
                  <a:txBody>
                    <a:bodyPr anchor="t">
                      <a:noAutofit/>
                    </a:bodyPr>
                    <a:p>
                      <a:pPr>
                        <a:lnSpc>
                          <a:spcPct val="100000"/>
                        </a:lnSpc>
                      </a:pPr>
                      <a:r>
                        <a:rPr lang="en-US" sz="1350" b="0" u="none" strike="noStrike">
                          <a:solidFill>
                            <a:srgbClr val="192A30"/>
                          </a:solidFill>
                          <a:effectLst/>
                          <a:uFillTx/>
                          <a:latin typeface="Calibri"/>
                          <a:ea typeface="Calibri"/>
                        </a:rPr>
                        <a:t>0.526</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9EFEC"/>
                    </a:solidFill>
                  </a:tcPr>
                </a:tc>
              </a:tr>
              <a:tr h="388080">
                <a:tc>
                  <a:txBody>
                    <a:bodyPr anchor="t">
                      <a:noAutofit/>
                    </a:bodyPr>
                    <a:p>
                      <a:pPr>
                        <a:lnSpc>
                          <a:spcPct val="100000"/>
                        </a:lnSpc>
                      </a:pPr>
                      <a:r>
                        <a:rPr lang="en-US" sz="1350" b="0" u="none" strike="noStrike">
                          <a:solidFill>
                            <a:srgbClr val="192A30"/>
                          </a:solidFill>
                          <a:effectLst/>
                          <a:uFillTx/>
                          <a:latin typeface="Calibri"/>
                          <a:ea typeface="Calibri"/>
                        </a:rPr>
                        <a:t>Score</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9.035</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3.780</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1.350</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anchor="t">
                      <a:noAutofit/>
                    </a:bodyPr>
                    <a:p>
                      <a:pPr>
                        <a:lnSpc>
                          <a:spcPct val="100000"/>
                        </a:lnSpc>
                      </a:pPr>
                      <a:r>
                        <a:rPr lang="en-US" sz="1350" b="0" u="none" strike="noStrike">
                          <a:solidFill>
                            <a:srgbClr val="192A30"/>
                          </a:solidFill>
                          <a:effectLst/>
                          <a:uFillTx/>
                          <a:latin typeface="Calibri"/>
                          <a:ea typeface="Calibri"/>
                        </a:rPr>
                        <a:t>12.573</a:t>
                      </a:r>
                      <a:endParaRPr lang="en-US" sz="1350" b="0" u="none" strike="noStrike">
                        <a:solidFill>
                          <a:srgbClr val="000000"/>
                        </a:solidFill>
                        <a:effectLst/>
                        <a:uFillTx/>
                        <a:latin typeface="Arial"/>
                      </a:endParaRPr>
                    </a:p>
                  </a:txBody>
                  <a:tcPr anchor="t"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bl>
          </a:graphicData>
        </a:graphic>
      </p:graphicFrame>
      <p:sp>
        <p:nvSpPr>
          <p:cNvPr id="327" name=""/>
          <p:cNvSpPr/>
          <p:nvPr/>
        </p:nvSpPr>
        <p:spPr>
          <a:xfrm>
            <a:off x="457200" y="4962600"/>
            <a:ext cx="7505280" cy="3711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100" b="1" u="none" strike="noStrike">
                <a:solidFill>
                  <a:srgbClr val="107C41"/>
                </a:solidFill>
                <a:effectLst/>
                <a:uFillTx/>
                <a:latin typeface="Calibri"/>
                <a:ea typeface="Calibri"/>
              </a:rPr>
              <a:t>t = 300 s: NS wins     t = 900 s: EW wins</a:t>
            </a:r>
            <a:endParaRPr lang="en-US" sz="2100" b="0" u="none" strike="noStrike">
              <a:solidFill>
                <a:srgbClr val="000000"/>
              </a:solidFill>
              <a:effectLst/>
              <a:uFillTx/>
              <a:latin typeface="Arial"/>
            </a:endParaRPr>
          </a:p>
        </p:txBody>
      </p:sp>
      <p:sp>
        <p:nvSpPr>
          <p:cNvPr id="328" name=""/>
          <p:cNvSpPr/>
          <p:nvPr/>
        </p:nvSpPr>
        <p:spPr>
          <a:xfrm>
            <a:off x="457200" y="5514840"/>
            <a:ext cx="7505280" cy="5331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650" b="0" u="none" strike="noStrike">
                <a:solidFill>
                  <a:srgbClr val="192A30"/>
                </a:solidFill>
                <a:effectLst/>
                <a:uFillTx/>
                <a:latin typeface="Calibri"/>
                <a:ea typeface="Calibri"/>
              </a:rPr>
              <a:t>7,200 derivative-sign checks, zero violations.</a:t>
            </a:r>
            <a:endParaRPr lang="en-US" sz="1650" b="0" u="none" strike="noStrike">
              <a:solidFill>
                <a:srgbClr val="000000"/>
              </a:solidFill>
              <a:effectLst/>
              <a:uFillTx/>
              <a:latin typeface="Arial"/>
            </a:endParaRPr>
          </a:p>
          <a:p>
            <a:pPr defTabSz="914400">
              <a:lnSpc>
                <a:spcPct val="100000"/>
              </a:lnSpc>
            </a:pPr>
            <a:r>
              <a:rPr lang="en-US" sz="1650" b="0" u="none" strike="noStrike">
                <a:solidFill>
                  <a:srgbClr val="192A30"/>
                </a:solidFill>
                <a:effectLst/>
                <a:uFillTx/>
                <a:latin typeface="Calibri"/>
                <a:ea typeface="Calibri"/>
              </a:rPr>
              <a:t>Fixed checkpoint and clearance category.</a:t>
            </a:r>
            <a:endParaRPr lang="en-US" sz="1650" b="0" u="none" strike="noStrike">
              <a:solidFill>
                <a:srgbClr val="000000"/>
              </a:solidFill>
              <a:effectLst/>
              <a:uFillTx/>
              <a:latin typeface="Arial"/>
            </a:endParaRPr>
          </a:p>
        </p:txBody>
      </p:sp>
      <p:sp>
        <p:nvSpPr>
          <p:cNvPr id="329" name=""/>
          <p:cNvSpPr/>
          <p:nvPr/>
        </p:nvSpPr>
        <p:spPr>
          <a:xfrm>
            <a:off x="8305920" y="1581120"/>
            <a:ext cx="3428640" cy="4304880"/>
          </a:xfrm>
          <a:prstGeom prst="roundRect">
            <a:avLst>
              <a:gd name="adj" fmla="val 2222"/>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0" name=""/>
          <p:cNvSpPr/>
          <p:nvPr/>
        </p:nvSpPr>
        <p:spPr>
          <a:xfrm>
            <a:off x="8477280" y="1771560"/>
            <a:ext cx="3085920" cy="342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1" u="none" strike="noStrike">
                <a:solidFill>
                  <a:srgbClr val="107C41"/>
                </a:solidFill>
                <a:effectLst/>
                <a:uFillTx/>
                <a:latin typeface="Calibri"/>
                <a:ea typeface="Calibri"/>
              </a:rPr>
              <a:t>YOUR COLAB SCREENSHOT</a:t>
            </a:r>
            <a:endParaRPr lang="en-US" sz="1580" b="0" u="none" strike="noStrike">
              <a:solidFill>
                <a:srgbClr val="000000"/>
              </a:solidFill>
              <a:effectLst/>
              <a:uFillTx/>
              <a:latin typeface="Arial"/>
            </a:endParaRPr>
          </a:p>
        </p:txBody>
      </p:sp>
      <p:sp>
        <p:nvSpPr>
          <p:cNvPr id="331" name=""/>
          <p:cNvSpPr/>
          <p:nvPr/>
        </p:nvSpPr>
        <p:spPr>
          <a:xfrm>
            <a:off x="8477280" y="2295360"/>
            <a:ext cx="3085920" cy="33523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7F8C8D"/>
                </a:solidFill>
                <a:effectLst/>
                <a:uFillTx/>
                <a:latin typeface="Calibri"/>
                <a:ea typeface="Calibri"/>
              </a:rPr>
              <a:t>Attach Section 11 or 12 contribution table and Section 13 monotonicity output.</a:t>
            </a:r>
            <a:endParaRPr lang="en-US" sz="1500" b="0" u="none" strike="noStrike">
              <a:solidFill>
                <a:srgbClr val="000000"/>
              </a:solidFill>
              <a:effectLst/>
              <a:uFillTx/>
              <a:latin typeface="Arial"/>
            </a:endParaRPr>
          </a:p>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7F8C8D"/>
                </a:solidFill>
                <a:effectLst/>
                <a:uFillTx/>
                <a:latin typeface="Calibri"/>
                <a:ea typeface="Calibri"/>
              </a:rPr>
              <a:t>Explain why the winning score is larger.</a:t>
            </a:r>
            <a:endParaRPr lang="en-US" sz="1500" b="0" u="none" strike="noStrike">
              <a:solidFill>
                <a:srgbClr val="000000"/>
              </a:solidFill>
              <a:effectLst/>
              <a:uFillTx/>
              <a:latin typeface="Arial"/>
            </a:endParaRPr>
          </a:p>
        </p:txBody>
      </p:sp>
      <p:sp>
        <p:nvSpPr>
          <p:cNvPr id="332"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Verified local CPU reference. Full-precision contributions reconstruct scores. Displayed terms are rounded. Monotonicity supports inspection.</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333"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Individual Proof of Work</a:t>
            </a:r>
            <a:endParaRPr lang="en-US" sz="2200" b="0" u="none" strike="noStrike">
              <a:solidFill>
                <a:srgbClr val="000000"/>
              </a:solidFill>
              <a:effectLst/>
              <a:uFillTx/>
              <a:latin typeface="Arial"/>
            </a:endParaRPr>
          </a:p>
        </p:txBody>
      </p:sp>
      <p:sp>
        <p:nvSpPr>
          <p:cNvPr id="334"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EACH CONTRIBUTOR SHOWS THEIR OWN WORK</a:t>
            </a:r>
            <a:endParaRPr lang="en-US" sz="1300" b="0" u="none" strike="noStrike">
              <a:solidFill>
                <a:srgbClr val="000000"/>
              </a:solidFill>
              <a:effectLst/>
              <a:uFillTx/>
              <a:latin typeface="Arial"/>
            </a:endParaRPr>
          </a:p>
        </p:txBody>
      </p:sp>
      <p:sp>
        <p:nvSpPr>
          <p:cNvPr id="335"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336"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21</a:t>
            </a:r>
            <a:endParaRPr lang="en-US" sz="950" b="0" u="none" strike="noStrike">
              <a:solidFill>
                <a:srgbClr val="000000"/>
              </a:solidFill>
              <a:effectLst/>
              <a:uFillTx/>
              <a:latin typeface="Arial"/>
            </a:endParaRPr>
          </a:p>
        </p:txBody>
      </p:sp>
      <p:sp>
        <p:nvSpPr>
          <p:cNvPr id="337" name=""/>
          <p:cNvSpPr/>
          <p:nvPr/>
        </p:nvSpPr>
        <p:spPr>
          <a:xfrm>
            <a:off x="457200" y="1447920"/>
            <a:ext cx="5238360" cy="3330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950" b="1" u="none" strike="noStrike">
                <a:solidFill>
                  <a:srgbClr val="107C41"/>
                </a:solidFill>
                <a:effectLst/>
                <a:uFillTx/>
                <a:latin typeface="Calibri"/>
                <a:ea typeface="Calibri"/>
              </a:rPr>
              <a:t>Budhdi Prakash Sharma</a:t>
            </a:r>
            <a:endParaRPr lang="en-US" sz="1950" b="0" u="none" strike="noStrike">
              <a:solidFill>
                <a:srgbClr val="000000"/>
              </a:solidFill>
              <a:effectLst/>
              <a:uFillTx/>
              <a:latin typeface="Arial"/>
            </a:endParaRPr>
          </a:p>
        </p:txBody>
      </p:sp>
      <p:sp>
        <p:nvSpPr>
          <p:cNvPr id="338" name=""/>
          <p:cNvSpPr/>
          <p:nvPr/>
        </p:nvSpPr>
        <p:spPr>
          <a:xfrm>
            <a:off x="457200" y="1819440"/>
            <a:ext cx="5238360" cy="2854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7F8C8D"/>
                </a:solidFill>
                <a:effectLst/>
                <a:uFillTx/>
                <a:latin typeface="Calibri"/>
                <a:ea typeface="Calibri"/>
              </a:rPr>
              <a:t>2025AG05273</a:t>
            </a:r>
            <a:endParaRPr lang="en-US" sz="1500" b="0" u="none" strike="noStrike">
              <a:solidFill>
                <a:srgbClr val="000000"/>
              </a:solidFill>
              <a:effectLst/>
              <a:uFillTx/>
              <a:latin typeface="Arial"/>
            </a:endParaRPr>
          </a:p>
        </p:txBody>
      </p:sp>
      <p:sp>
        <p:nvSpPr>
          <p:cNvPr id="339" name=""/>
          <p:cNvSpPr/>
          <p:nvPr/>
        </p:nvSpPr>
        <p:spPr>
          <a:xfrm>
            <a:off x="6372360" y="1447920"/>
            <a:ext cx="5238360" cy="3330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950" b="1" u="none" strike="noStrike">
                <a:solidFill>
                  <a:srgbClr val="107C41"/>
                </a:solidFill>
                <a:effectLst/>
                <a:uFillTx/>
                <a:latin typeface="Calibri"/>
                <a:ea typeface="Calibri"/>
              </a:rPr>
              <a:t>Sumeet Kulkarni</a:t>
            </a:r>
            <a:endParaRPr lang="en-US" sz="1950" b="0" u="none" strike="noStrike">
              <a:solidFill>
                <a:srgbClr val="000000"/>
              </a:solidFill>
              <a:effectLst/>
              <a:uFillTx/>
              <a:latin typeface="Arial"/>
            </a:endParaRPr>
          </a:p>
        </p:txBody>
      </p:sp>
      <p:sp>
        <p:nvSpPr>
          <p:cNvPr id="340" name=""/>
          <p:cNvSpPr/>
          <p:nvPr/>
        </p:nvSpPr>
        <p:spPr>
          <a:xfrm>
            <a:off x="6372360" y="1819440"/>
            <a:ext cx="5238360" cy="2854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7F8C8D"/>
                </a:solidFill>
                <a:effectLst/>
                <a:uFillTx/>
                <a:latin typeface="Calibri"/>
                <a:ea typeface="Calibri"/>
              </a:rPr>
              <a:t>2025AG05175</a:t>
            </a:r>
            <a:endParaRPr lang="en-US" sz="1500" b="0" u="none" strike="noStrike">
              <a:solidFill>
                <a:srgbClr val="000000"/>
              </a:solidFill>
              <a:effectLst/>
              <a:uFillTx/>
              <a:latin typeface="Arial"/>
            </a:endParaRPr>
          </a:p>
        </p:txBody>
      </p:sp>
      <p:sp>
        <p:nvSpPr>
          <p:cNvPr id="341" name=""/>
          <p:cNvSpPr/>
          <p:nvPr/>
        </p:nvSpPr>
        <p:spPr>
          <a:xfrm>
            <a:off x="457200" y="2314440"/>
            <a:ext cx="5362200" cy="2352240"/>
          </a:xfrm>
          <a:prstGeom prst="roundRect">
            <a:avLst>
              <a:gd name="adj" fmla="val 3239"/>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2" name=""/>
          <p:cNvSpPr/>
          <p:nvPr/>
        </p:nvSpPr>
        <p:spPr>
          <a:xfrm>
            <a:off x="628560" y="2505240"/>
            <a:ext cx="5019480" cy="342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1" u="none" strike="noStrike">
                <a:solidFill>
                  <a:srgbClr val="107C41"/>
                </a:solidFill>
                <a:effectLst/>
                <a:uFillTx/>
                <a:latin typeface="Calibri"/>
                <a:ea typeface="Calibri"/>
              </a:rPr>
              <a:t>YOUR COLAB SCREENSHOT</a:t>
            </a:r>
            <a:endParaRPr lang="en-US" sz="1580" b="0" u="none" strike="noStrike">
              <a:solidFill>
                <a:srgbClr val="000000"/>
              </a:solidFill>
              <a:effectLst/>
              <a:uFillTx/>
              <a:latin typeface="Arial"/>
            </a:endParaRPr>
          </a:p>
        </p:txBody>
      </p:sp>
      <p:sp>
        <p:nvSpPr>
          <p:cNvPr id="343" name=""/>
          <p:cNvSpPr/>
          <p:nvPr/>
        </p:nvSpPr>
        <p:spPr>
          <a:xfrm>
            <a:off x="628560" y="3029040"/>
            <a:ext cx="5019480" cy="13996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7F8C8D"/>
                </a:solidFill>
                <a:effectLst/>
                <a:uFillTx/>
                <a:latin typeface="Calibri"/>
                <a:ea typeface="Calibri"/>
              </a:rPr>
              <a:t>Your own completed run or verified check.</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7F8C8D"/>
                </a:solidFill>
                <a:effectLst/>
                <a:uFillTx/>
                <a:latin typeface="Calibri"/>
                <a:ea typeface="Calibri"/>
              </a:rPr>
              <a:t>Show notebook/output and task identity.</a:t>
            </a:r>
            <a:endParaRPr lang="en-US" sz="1500" b="0" u="none" strike="noStrike">
              <a:solidFill>
                <a:srgbClr val="000000"/>
              </a:solidFill>
              <a:effectLst/>
              <a:uFillTx/>
              <a:latin typeface="Arial"/>
            </a:endParaRPr>
          </a:p>
        </p:txBody>
      </p:sp>
      <p:sp>
        <p:nvSpPr>
          <p:cNvPr id="344" name=""/>
          <p:cNvSpPr/>
          <p:nvPr/>
        </p:nvSpPr>
        <p:spPr>
          <a:xfrm>
            <a:off x="6372360" y="2314440"/>
            <a:ext cx="5362200" cy="2352240"/>
          </a:xfrm>
          <a:prstGeom prst="roundRect">
            <a:avLst>
              <a:gd name="adj" fmla="val 3239"/>
            </a:avLst>
          </a:prstGeom>
          <a:solidFill>
            <a:srgbClr val="FFFFFF"/>
          </a:solidFill>
          <a:ln w="9525">
            <a:solidFill>
              <a:srgbClr val="C3D8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45" name=""/>
          <p:cNvSpPr/>
          <p:nvPr/>
        </p:nvSpPr>
        <p:spPr>
          <a:xfrm>
            <a:off x="6543720" y="2505240"/>
            <a:ext cx="5019480" cy="3427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1" u="none" strike="noStrike">
                <a:solidFill>
                  <a:srgbClr val="107C41"/>
                </a:solidFill>
                <a:effectLst/>
                <a:uFillTx/>
                <a:latin typeface="Calibri"/>
                <a:ea typeface="Calibri"/>
              </a:rPr>
              <a:t>YOUR COLAB SCREENSHOT</a:t>
            </a:r>
            <a:endParaRPr lang="en-US" sz="1580" b="0" u="none" strike="noStrike">
              <a:solidFill>
                <a:srgbClr val="000000"/>
              </a:solidFill>
              <a:effectLst/>
              <a:uFillTx/>
              <a:latin typeface="Arial"/>
            </a:endParaRPr>
          </a:p>
        </p:txBody>
      </p:sp>
      <p:sp>
        <p:nvSpPr>
          <p:cNvPr id="346" name=""/>
          <p:cNvSpPr/>
          <p:nvPr/>
        </p:nvSpPr>
        <p:spPr>
          <a:xfrm>
            <a:off x="6543720" y="3029040"/>
            <a:ext cx="5019480" cy="13996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00" b="0" u="none" strike="noStrike">
                <a:solidFill>
                  <a:srgbClr val="7F8C8D"/>
                </a:solidFill>
                <a:effectLst/>
                <a:uFillTx/>
                <a:latin typeface="Calibri"/>
                <a:ea typeface="Calibri"/>
              </a:rPr>
              <a:t>Your own completed run or verified check.</a:t>
            </a:r>
            <a:endParaRPr lang="en-US" sz="1500" b="0" u="none" strike="noStrike">
              <a:solidFill>
                <a:srgbClr val="000000"/>
              </a:solidFill>
              <a:effectLst/>
              <a:uFillTx/>
              <a:latin typeface="Arial"/>
            </a:endParaRPr>
          </a:p>
          <a:p>
            <a:pPr defTabSz="914400">
              <a:lnSpc>
                <a:spcPct val="100000"/>
              </a:lnSpc>
            </a:pPr>
            <a:r>
              <a:rPr lang="en-US" sz="1500" b="0" u="none" strike="noStrike">
                <a:solidFill>
                  <a:srgbClr val="7F8C8D"/>
                </a:solidFill>
                <a:effectLst/>
                <a:uFillTx/>
                <a:latin typeface="Calibri"/>
                <a:ea typeface="Calibri"/>
              </a:rPr>
              <a:t>Show notebook/output and task identity.</a:t>
            </a:r>
            <a:endParaRPr lang="en-US" sz="1500" b="0" u="none" strike="noStrike">
              <a:solidFill>
                <a:srgbClr val="000000"/>
              </a:solidFill>
              <a:effectLst/>
              <a:uFillTx/>
              <a:latin typeface="Arial"/>
            </a:endParaRPr>
          </a:p>
        </p:txBody>
      </p:sp>
      <p:sp>
        <p:nvSpPr>
          <p:cNvPr id="347" name=""/>
          <p:cNvSpPr/>
          <p:nvPr/>
        </p:nvSpPr>
        <p:spPr>
          <a:xfrm>
            <a:off x="457200" y="5010120"/>
            <a:ext cx="5362200" cy="10188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0" u="none" strike="noStrike">
                <a:solidFill>
                  <a:srgbClr val="192A30"/>
                </a:solidFill>
                <a:effectLst/>
                <a:uFillTx/>
                <a:latin typeface="Calibri"/>
                <a:ea typeface="Calibri"/>
              </a:rPr>
              <a:t>Actual task: [FILL AFTER DOING THE WORK]</a:t>
            </a:r>
            <a:endParaRPr lang="en-US" sz="1580" b="0" u="none" strike="noStrike">
              <a:solidFill>
                <a:srgbClr val="000000"/>
              </a:solidFill>
              <a:effectLst/>
              <a:uFillTx/>
              <a:latin typeface="Arial"/>
            </a:endParaRPr>
          </a:p>
          <a:p>
            <a:pPr defTabSz="914400">
              <a:lnSpc>
                <a:spcPct val="100000"/>
              </a:lnSpc>
            </a:pPr>
            <a:r>
              <a:rPr lang="en-US" sz="1580" b="0" u="none" strike="noStrike">
                <a:solidFill>
                  <a:srgbClr val="192A30"/>
                </a:solidFill>
                <a:effectLst/>
                <a:uFillTx/>
                <a:latin typeface="Calibri"/>
                <a:ea typeface="Calibri"/>
              </a:rPr>
              <a:t>File/cell: [ADD YOUR EVIDENCE]</a:t>
            </a:r>
            <a:endParaRPr lang="en-US" sz="1580" b="0" u="none" strike="noStrike">
              <a:solidFill>
                <a:srgbClr val="000000"/>
              </a:solidFill>
              <a:effectLst/>
              <a:uFillTx/>
              <a:latin typeface="Arial"/>
            </a:endParaRPr>
          </a:p>
          <a:p>
            <a:pPr defTabSz="914400">
              <a:lnSpc>
                <a:spcPct val="100000"/>
              </a:lnSpc>
            </a:pPr>
            <a:r>
              <a:rPr lang="en-US" sz="1580" b="0" u="none" strike="noStrike">
                <a:solidFill>
                  <a:srgbClr val="192A30"/>
                </a:solidFill>
                <a:effectLst/>
                <a:uFillTx/>
                <a:latin typeface="Calibri"/>
                <a:ea typeface="Calibri"/>
              </a:rPr>
              <a:t>Finding: [STATE WHAT YOU VERIFIED]</a:t>
            </a:r>
            <a:endParaRPr lang="en-US" sz="1580" b="0" u="none" strike="noStrike">
              <a:solidFill>
                <a:srgbClr val="000000"/>
              </a:solidFill>
              <a:effectLst/>
              <a:uFillTx/>
              <a:latin typeface="Arial"/>
            </a:endParaRPr>
          </a:p>
        </p:txBody>
      </p:sp>
      <p:sp>
        <p:nvSpPr>
          <p:cNvPr id="348" name=""/>
          <p:cNvSpPr/>
          <p:nvPr/>
        </p:nvSpPr>
        <p:spPr>
          <a:xfrm>
            <a:off x="6372360" y="5010120"/>
            <a:ext cx="5362200" cy="10188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0" u="none" strike="noStrike">
                <a:solidFill>
                  <a:srgbClr val="192A30"/>
                </a:solidFill>
                <a:effectLst/>
                <a:uFillTx/>
                <a:latin typeface="Calibri"/>
                <a:ea typeface="Calibri"/>
              </a:rPr>
              <a:t>Actual task: [FILL AFTER DOING THE WORK]</a:t>
            </a:r>
            <a:endParaRPr lang="en-US" sz="1580" b="0" u="none" strike="noStrike">
              <a:solidFill>
                <a:srgbClr val="000000"/>
              </a:solidFill>
              <a:effectLst/>
              <a:uFillTx/>
              <a:latin typeface="Arial"/>
            </a:endParaRPr>
          </a:p>
          <a:p>
            <a:pPr defTabSz="914400">
              <a:lnSpc>
                <a:spcPct val="100000"/>
              </a:lnSpc>
            </a:pPr>
            <a:r>
              <a:rPr lang="en-US" sz="1580" b="0" u="none" strike="noStrike">
                <a:solidFill>
                  <a:srgbClr val="192A30"/>
                </a:solidFill>
                <a:effectLst/>
                <a:uFillTx/>
                <a:latin typeface="Calibri"/>
                <a:ea typeface="Calibri"/>
              </a:rPr>
              <a:t>File/cell: [ADD YOUR EVIDENCE]</a:t>
            </a:r>
            <a:endParaRPr lang="en-US" sz="1580" b="0" u="none" strike="noStrike">
              <a:solidFill>
                <a:srgbClr val="000000"/>
              </a:solidFill>
              <a:effectLst/>
              <a:uFillTx/>
              <a:latin typeface="Arial"/>
            </a:endParaRPr>
          </a:p>
          <a:p>
            <a:pPr defTabSz="914400">
              <a:lnSpc>
                <a:spcPct val="100000"/>
              </a:lnSpc>
            </a:pPr>
            <a:r>
              <a:rPr lang="en-US" sz="1580" b="0" u="none" strike="noStrike">
                <a:solidFill>
                  <a:srgbClr val="192A30"/>
                </a:solidFill>
                <a:effectLst/>
                <a:uFillTx/>
                <a:latin typeface="Calibri"/>
                <a:ea typeface="Calibri"/>
              </a:rPr>
              <a:t>Finding: [STATE WHAT YOU VERIFIED]</a:t>
            </a:r>
            <a:endParaRPr lang="en-US" sz="1580" b="0" u="none" strike="noStrike">
              <a:solidFill>
                <a:srgbClr val="000000"/>
              </a:solidFill>
              <a:effectLst/>
              <a:uFillTx/>
              <a:latin typeface="Arial"/>
            </a:endParaRPr>
          </a:p>
        </p:txBody>
      </p:sp>
      <p:sp>
        <p:nvSpPr>
          <p:cNvPr id="349" name=""/>
          <p:cNvSpPr/>
          <p:nvPr/>
        </p:nvSpPr>
        <p:spPr>
          <a:xfrm>
            <a:off x="457200" y="6134040"/>
            <a:ext cx="11277360" cy="2757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200" b="0" u="none" strike="noStrike">
                <a:solidFill>
                  <a:srgbClr val="7F8C8D"/>
                </a:solidFill>
                <a:effectLst/>
                <a:uFillTx/>
                <a:latin typeface="Calibri"/>
                <a:ea typeface="Calibri"/>
              </a:rPr>
              <a:t>Each contributor speaks and explains their actual part. Complete the contribution log and the notebook run record.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6"/>
        </a:solidFill>
      </p:bgPr>
    </p:bg>
    <p:spTree>
      <p:nvGrpSpPr>
        <p:cNvPr id="1" name=""/>
        <p:cNvGrpSpPr/>
        <p:nvPr/>
      </p:nvGrpSpPr>
      <p:grpSpPr>
        <a:xfrm>
          <a:off x="0" y="0"/>
          <a:ext cx="0" cy="0"/>
          <a:chOff x="0" y="0"/>
          <a:chExt cx="0" cy="0"/>
        </a:xfrm>
      </p:grpSpPr>
      <p:sp>
        <p:nvSpPr>
          <p:cNvPr id="350" name=""/>
          <p:cNvSpPr/>
          <p:nvPr/>
        </p:nvSpPr>
        <p:spPr>
          <a:xfrm>
            <a:off x="457200" y="295200"/>
            <a:ext cx="11277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200" b="0" u="none" strike="noStrike">
                <a:solidFill>
                  <a:srgbClr val="192A30"/>
                </a:solidFill>
                <a:effectLst/>
                <a:uFillTx/>
                <a:latin typeface="Calibri"/>
                <a:ea typeface="Calibri"/>
              </a:rPr>
              <a:t>Conclusion and References</a:t>
            </a:r>
            <a:endParaRPr lang="en-US" sz="2200" b="0" u="none" strike="noStrike">
              <a:solidFill>
                <a:srgbClr val="000000"/>
              </a:solidFill>
              <a:effectLst/>
              <a:uFillTx/>
              <a:latin typeface="Arial"/>
            </a:endParaRPr>
          </a:p>
        </p:txBody>
      </p:sp>
      <p:sp>
        <p:nvSpPr>
          <p:cNvPr id="351" name=""/>
          <p:cNvSpPr/>
          <p:nvPr/>
        </p:nvSpPr>
        <p:spPr>
          <a:xfrm>
            <a:off x="457200" y="790560"/>
            <a:ext cx="11277360" cy="30456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300" b="0" u="none" strike="noStrike">
                <a:solidFill>
                  <a:srgbClr val="192A30"/>
                </a:solidFill>
                <a:effectLst/>
                <a:uFillTx/>
                <a:latin typeface="Calibri"/>
                <a:ea typeface="Calibri"/>
              </a:rPr>
              <a:t>PAPER REVIEW AND EXECUTED EVIDENCE</a:t>
            </a:r>
            <a:endParaRPr lang="en-US" sz="1300" b="0" u="none" strike="noStrike">
              <a:solidFill>
                <a:srgbClr val="000000"/>
              </a:solidFill>
              <a:effectLst/>
              <a:uFillTx/>
              <a:latin typeface="Arial"/>
            </a:endParaRPr>
          </a:p>
        </p:txBody>
      </p:sp>
      <p:sp>
        <p:nvSpPr>
          <p:cNvPr id="352" name=""/>
          <p:cNvSpPr/>
          <p:nvPr/>
        </p:nvSpPr>
        <p:spPr>
          <a:xfrm>
            <a:off x="457200" y="6467400"/>
            <a:ext cx="100008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BITS Pilani | Deep Reinforcement Learning (WILP) | Assignment - I</a:t>
            </a:r>
            <a:endParaRPr lang="en-US" sz="950" b="0" u="none" strike="noStrike">
              <a:solidFill>
                <a:srgbClr val="000000"/>
              </a:solidFill>
              <a:effectLst/>
              <a:uFillTx/>
              <a:latin typeface="Arial"/>
            </a:endParaRPr>
          </a:p>
        </p:txBody>
      </p:sp>
      <p:sp>
        <p:nvSpPr>
          <p:cNvPr id="353" name=""/>
          <p:cNvSpPr/>
          <p:nvPr/>
        </p:nvSpPr>
        <p:spPr>
          <a:xfrm>
            <a:off x="11239560" y="6467400"/>
            <a:ext cx="495000" cy="237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950" b="0" u="none" strike="noStrike">
                <a:solidFill>
                  <a:srgbClr val="7F8C8D"/>
                </a:solidFill>
                <a:effectLst/>
                <a:uFillTx/>
                <a:latin typeface="Calibri"/>
                <a:ea typeface="Calibri"/>
              </a:rPr>
              <a:t>22</a:t>
            </a:r>
            <a:endParaRPr lang="en-US" sz="950" b="0" u="none" strike="noStrike">
              <a:solidFill>
                <a:srgbClr val="000000"/>
              </a:solidFill>
              <a:effectLst/>
              <a:uFillTx/>
              <a:latin typeface="Arial"/>
            </a:endParaRPr>
          </a:p>
        </p:txBody>
      </p:sp>
      <p:sp>
        <p:nvSpPr>
          <p:cNvPr id="354" name=""/>
          <p:cNvSpPr/>
          <p:nvPr/>
        </p:nvSpPr>
        <p:spPr>
          <a:xfrm>
            <a:off x="457200" y="1467000"/>
            <a:ext cx="11277360" cy="8856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850" b="1" u="none" strike="noStrike">
                <a:solidFill>
                  <a:srgbClr val="107C41"/>
                </a:solidFill>
                <a:effectLst/>
                <a:uFillTx/>
                <a:latin typeface="Calibri"/>
                <a:ea typeface="Calibri"/>
              </a:rPr>
              <a:t>A DQN teacher can guide an inspectable traffic actuator</a:t>
            </a:r>
            <a:endParaRPr lang="en-US" sz="2850" b="0" u="none" strike="noStrike">
              <a:solidFill>
                <a:srgbClr val="000000"/>
              </a:solidFill>
              <a:effectLst/>
              <a:uFillTx/>
              <a:latin typeface="Arial"/>
            </a:endParaRPr>
          </a:p>
        </p:txBody>
      </p:sp>
      <p:sp>
        <p:nvSpPr>
          <p:cNvPr id="355" name=""/>
          <p:cNvSpPr/>
          <p:nvPr/>
        </p:nvSpPr>
        <p:spPr>
          <a:xfrm>
            <a:off x="457200" y="2676600"/>
            <a:ext cx="11277360" cy="74268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2020" b="0" u="none" strike="noStrike">
                <a:solidFill>
                  <a:srgbClr val="192A30"/>
                </a:solidFill>
                <a:effectLst/>
                <a:uFillTx/>
                <a:latin typeface="Calibri"/>
                <a:ea typeface="Calibri"/>
              </a:rPr>
              <a:t>The worked scores explain action selection. The saved CSVs,</a:t>
            </a:r>
            <a:endParaRPr lang="en-US" sz="2020" b="0" u="none" strike="noStrike">
              <a:solidFill>
                <a:srgbClr val="000000"/>
              </a:solidFill>
              <a:effectLst/>
              <a:uFillTx/>
              <a:latin typeface="Arial"/>
            </a:endParaRPr>
          </a:p>
          <a:p>
            <a:pPr defTabSz="914400">
              <a:lnSpc>
                <a:spcPct val="100000"/>
              </a:lnSpc>
            </a:pPr>
            <a:r>
              <a:rPr lang="en-US" sz="2020" b="0" u="none" strike="noStrike">
                <a:solidFill>
                  <a:srgbClr val="192A30"/>
                </a:solidFill>
                <a:effectLst/>
                <a:uFillTx/>
                <a:latin typeface="Calibri"/>
                <a:ea typeface="Calibri"/>
              </a:rPr>
              <a:t>checkpoints and tests make the local result traceable.</a:t>
            </a:r>
            <a:endParaRPr lang="en-US" sz="2020" b="0" u="none" strike="noStrike">
              <a:solidFill>
                <a:srgbClr val="000000"/>
              </a:solidFill>
              <a:effectLst/>
              <a:uFillTx/>
              <a:latin typeface="Arial"/>
            </a:endParaRPr>
          </a:p>
        </p:txBody>
      </p:sp>
      <p:sp>
        <p:nvSpPr>
          <p:cNvPr id="356" name=""/>
          <p:cNvSpPr/>
          <p:nvPr/>
        </p:nvSpPr>
        <p:spPr>
          <a:xfrm>
            <a:off x="457200" y="3790800"/>
            <a:ext cx="11277360" cy="6282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0" u="none" strike="noStrike">
                <a:solidFill>
                  <a:srgbClr val="192A30"/>
                </a:solidFill>
                <a:effectLst/>
                <a:uFillTx/>
                <a:latin typeface="Calibri"/>
                <a:ea typeface="Calibri"/>
              </a:rPr>
              <a:t>Paper: Ault, Hanna &amp; Sharon, AAMAS 2020</a:t>
            </a:r>
            <a:endParaRPr lang="en-US" sz="1580" b="0" u="none" strike="noStrike">
              <a:solidFill>
                <a:srgbClr val="000000"/>
              </a:solidFill>
              <a:effectLst/>
              <a:uFillTx/>
              <a:latin typeface="Arial"/>
            </a:endParaRPr>
          </a:p>
          <a:p>
            <a:pPr defTabSz="914400">
              <a:lnSpc>
                <a:spcPct val="100000"/>
              </a:lnSpc>
            </a:pPr>
            <a:r>
              <a:rPr lang="en-US" sz="1580" b="0" u="none" strike="noStrike">
                <a:solidFill>
                  <a:srgbClr val="192A30"/>
                </a:solidFill>
                <a:effectLst/>
                <a:uFillTx/>
                <a:latin typeface="Calibri"/>
                <a:ea typeface="Calibri"/>
              </a:rPr>
              <a:t>https://arxiv.org/abs/1912.11023</a:t>
            </a:r>
            <a:endParaRPr lang="en-US" sz="1580" b="0" u="none" strike="noStrike">
              <a:solidFill>
                <a:srgbClr val="000000"/>
              </a:solidFill>
              <a:effectLst/>
              <a:uFillTx/>
              <a:latin typeface="Arial"/>
            </a:endParaRPr>
          </a:p>
        </p:txBody>
      </p:sp>
      <p:sp>
        <p:nvSpPr>
          <p:cNvPr id="357" name=""/>
          <p:cNvSpPr/>
          <p:nvPr/>
        </p:nvSpPr>
        <p:spPr>
          <a:xfrm>
            <a:off x="457200" y="4619520"/>
            <a:ext cx="11277360" cy="31392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580" b="0" u="none" strike="noStrike">
                <a:solidFill>
                  <a:srgbClr val="192A30"/>
                </a:solidFill>
                <a:effectLst/>
                <a:uFillTx/>
                <a:latin typeface="Calibri"/>
                <a:ea typeface="Calibri"/>
              </a:rPr>
              <a:t>Authors’ experiment code: https://github.com/jault/StateStreetSumo</a:t>
            </a:r>
            <a:endParaRPr lang="en-US" sz="1580" b="0" u="none" strike="noStrike">
              <a:solidFill>
                <a:srgbClr val="000000"/>
              </a:solidFill>
              <a:effectLst/>
              <a:uFillTx/>
              <a:latin typeface="Arial"/>
            </a:endParaRPr>
          </a:p>
        </p:txBody>
      </p:sp>
      <p:sp>
        <p:nvSpPr>
          <p:cNvPr id="358" name=""/>
          <p:cNvSpPr/>
          <p:nvPr/>
        </p:nvSpPr>
        <p:spPr>
          <a:xfrm>
            <a:off x="457200" y="5114880"/>
            <a:ext cx="11277360" cy="3330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729" b="0" u="none" strike="noStrike">
                <a:solidFill>
                  <a:srgbClr val="192A30"/>
                </a:solidFill>
                <a:effectLst/>
                <a:uFillTx/>
                <a:latin typeface="Calibri"/>
                <a:ea typeface="Calibri"/>
              </a:rPr>
              <a:t>Our code / executed notebook: [PASTE YOUR ACTUAL SHARED LINK]</a:t>
            </a:r>
            <a:endParaRPr lang="en-US" sz="1729" b="0" u="none" strike="noStrike">
              <a:solidFill>
                <a:srgbClr val="000000"/>
              </a:solidFill>
              <a:effectLst/>
              <a:uFillTx/>
              <a:latin typeface="Arial"/>
            </a:endParaRPr>
          </a:p>
        </p:txBody>
      </p:sp>
      <p:sp>
        <p:nvSpPr>
          <p:cNvPr id="359" name=""/>
          <p:cNvSpPr/>
          <p:nvPr/>
        </p:nvSpPr>
        <p:spPr>
          <a:xfrm>
            <a:off x="457200" y="5648400"/>
            <a:ext cx="11277360" cy="36144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US" sz="1729" b="1" u="none" strike="noStrike">
                <a:solidFill>
                  <a:srgbClr val="107C41"/>
                </a:solidFill>
                <a:effectLst/>
                <a:uFillTx/>
                <a:latin typeface="Calibri"/>
                <a:ea typeface="Calibri"/>
              </a:rPr>
              <a:t>Video (Google Drive): [PASTE YOUR ACTUAL SHARED VIDEO LINK]</a:t>
            </a:r>
            <a:endParaRPr lang="en-US" sz="172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56</TotalTime>
  <Application>LibreOfficeDev/26.8.0.0.alpha0$Linux_X86_64 LibreOffice_project/2c87e51eeaa2b413ff4ae097b2705eea1995d8e5</Application>
  <AppVersion>15.0000</AppVersion>
  <Words>2503</Words>
  <Paragraphs>290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2026-09-03T21:46:46Z</dcterms:created>
  <dc:creator>PptxGenJS</dc:creator>
  <dc:description/>
  <dc:language>en-US</dc:language>
  <cp:lastModifiedBy>Budhdi Sharma</cp:lastModifiedBy>
  <dcterms:modified xsi:type="dcterms:W3CDTF">2026-09-03T22:54:22Z</dcterms:modified>
  <cp:revision>19</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22</vt:r8>
  </property>
  <property fmtid="{D5CDD505-2E9C-101B-9397-08002B2CF9AE}" pid="3" name="Notes">
    <vt:r8>15</vt:r8>
  </property>
  <property fmtid="{D5CDD505-2E9C-101B-9397-08002B2CF9AE}" pid="4" name="PresentationFormat">
    <vt:lpwstr>Widescreen</vt:lpwstr>
  </property>
  <property fmtid="{D5CDD505-2E9C-101B-9397-08002B2CF9AE}" pid="5" name="Slides">
    <vt:r8>22</vt:r8>
  </property>
</Properties>
</file>